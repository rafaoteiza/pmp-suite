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ptos Bold" charset="1" panose="020B0004020202020204"/>
      <p:regular r:id="rId29"/>
    </p:embeddedFont>
    <p:embeddedFont>
      <p:font typeface="Aptos" charset="1" panose="020B0004020202020204"/>
      <p:regular r:id="rId30"/>
    </p:embeddedFont>
    <p:embeddedFont>
      <p:font typeface="Open Sans Bold" charset="1" panose="00000000000000000000"/>
      <p:regular r:id="rId36"/>
    </p:embeddedFont>
    <p:embeddedFont>
      <p:font typeface="Open Sans" charset="1" panose="00000000000000000000"/>
      <p:regular r:id="rId38"/>
    </p:embeddedFont>
    <p:embeddedFont>
      <p:font typeface="Calibri (MS)" charset="1" panose="020F0502020204030204"/>
      <p:regular r:id="rId47"/>
    </p:embeddedFont>
    <p:embeddedFont>
      <p:font typeface="Calibri (MS) Bold" charset="1" panose="020F070203040403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fonts/font36.fntdata" Type="http://schemas.openxmlformats.org/officeDocument/2006/relationships/font"/><Relationship Id="rId37" Target="notesSlides/notesSlide7.xml" Type="http://schemas.openxmlformats.org/officeDocument/2006/relationships/notesSlide"/><Relationship Id="rId38" Target="fonts/font38.fntdata" Type="http://schemas.openxmlformats.org/officeDocument/2006/relationships/font"/><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PMP Suite nace de la necesidad de conectar identidad del equipo, recorrido físico e intervención técnica en un mismo sistema. Presentamos el problema, la solución y la evidencia disponible, con sus límites.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Los roles académicos son distintos de los siete perfiles del sistema.</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contexto proviene de la experiencia operacional de mantenimiento. No atribuimos aprobación del mandante ni compromisos contractuales.</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 área conserva su propia planilla y ejecuta su proceso. El intercambio y la consolidación son manuales. No se representa un flujo integrado en el AS-IS. El diagnóstico es cualitativo, sin tasas de error medidas.</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lectura identifica el activo. La confirmación autorizada y su evidencia registran el movimiento. QA aprobado y recepción física son distintos. Un rechazo vuelve por Bodega antes de una nueva recepción en Laboratorio.</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propósito es mantener información coherente durante el recorrido operacional. No se promete un porcentaje de ahorro o reducción de tiempos sin medición.</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Inventario, QA y reportes son funcionalidades. Los objetivos específicos son analizar, diseñar, desarrollar y verificar la solución.</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Bridge correlaciona referencias externas. No crea órdenes ni modifica stock. La analítica apoya la lectura de antecedentes.</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Matriz de requerimientos funcionales y no funcionales. Se presentan como criterios a demostrar, sin marcas de cumplimiento. Requieren pruebas de permisos en servidor, integridad y concurrencia, custodia física, reparación, repuestos y QA, estados e historial y una versión reproducible con evidencia.</a:t>
            </a:r>
          </a:p>
          <a:p>
            <a:r>
              <a:rPr lang="en-US"/>
              <a:t/>
            </a:r>
          </a:p>
          <a:p>
            <a:r>
              <a:rPr lang="en-US"/>
              <a:t>Fuentes: definición del proyecto PMP Suite, corrección metodológica del responsable y auditoría técnica del 7 de octubre, registros del 8 de octubre y capturas compartidas hasta el 9 de octubre de 2026. La presentación expone avance académico Fase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Seis fases académicas oficiales, en orden: Fase 1 Definición; Fase 2A Requerimientos y diseño; Fase 2B Construcción e integración; Fase 2C Pruebas y evidencias; Fase 2D Cierre documental; Fase 3 Presentación. La construcción incremental ocurre dentro de la secuencia académica. Los entregables resumen el contenido ya presentado, sin declarar aprobación ni cierre formal. Antes de avanzar se comprueban criterios y se registran observaciones. Documentación transversal y control de cambios del requisito afectado, impacto y evidencia actualizada. El documento oficial no fija duración, semanas ni fechas. El cronograma de 18 semanas de la diapositiva siguiente sigue siendo una propuesta pendiente de validación del equipo.</a:t>
            </a:r>
          </a:p>
          <a:p>
            <a:r>
              <a:rPr lang="en-US"/>
              <a:t>Fuente: plan oficial 01_Plan_Trabajo_Cascada_V2.0.md, revisión a4029eb7e304515727a3afbd6f566b4114c0a779, 9 de octubre de 2026: https://github.com/RafaOteiza/pmp-suite-capstone/blob/a4029eb7e304515727a3afbd6f566b4114c0a779/Documentacion%20Capstone/Artefactos%20Metodologia%20Cascada/Diagramas_PlantUML/01_Plan_Trabajo_Cascada_V2.0.md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Propuesta de 18 semanas académicas, pendiente de validación del equipo. Requisitos y planificación semanas 1 a 4; diseño de arquitectura y datos semanas 5 a 6; implementación backend y web/móvil semanas 7 a 13; pruebas y validación semanas 14 a 15; despliegue académico y cierre semanas 16 a 18. Documentación y control de cambios semanas 1 a 18. Las dos filas de implementación pertenecen a la misma fase. El ancho de cada barra corresponde exactamente a su rango de semanas. No se muestran porcentajes de avance, fechas de calendario ni aprobación de fases.</a:t>
            </a:r>
          </a:p>
          <a:p>
            <a:r>
              <a:rPr lang="en-US"/>
              <a:t/>
            </a:r>
          </a:p>
          <a:p>
            <a:r>
              <a:rPr lang="en-US"/>
              <a:t>Fuentes: definición del proyecto PMP Suite, corrección metodológica del responsable, auditoría técnica del 7 de octubre y registros del 8 de octubre de 2026. Avance académico Fase 2. No representa implantación productiva ni validación integral.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Logotipos oficiales, fuentes incorporadas en las notas del archivo. Python se invoca bajo demanda desde la API. No hay FastAPI permanente ni Docker Compose en el alcance actual.</a:t>
            </a:r>
          </a:p>
          <a:p>
            <a:r>
              <a:rPr lang="en-US"/>
              <a:t>Fuente: documentación vigente de PMP Suite, Acta, SRS, Diseño, Plan de Pruebas, Manual y Cierre. Repositorio: https://github.com/RafaOteiza/PMP-Suite</a:t>
            </a:r>
          </a:p>
          <a:p>
            <a:r>
              <a:rPr lang="en-US"/>
              <a:t>Fuentes oficiales: https://raw.githubusercontent.com/expo/logos/main/svg/logo-type-a.svg</a:t>
            </a:r>
          </a:p>
          <a:p>
            <a:r>
              <a:rPr lang="en-US"/>
              <a:t>https://raw.githubusercontent.com/expressjs/expressjs.com/main/public/images/logos/logo-express-black.svg</a:t>
            </a:r>
          </a:p>
          <a:p>
            <a:r>
              <a:rPr lang="en-US"/>
              <a:t>https://firebase.google.com/static/downloads/brand-guidelines/firebase-brand-assets.zip (archive: Firebase Logo/Primary Logomark/SVG/Logomark_Full Color.svg)</a:t>
            </a:r>
          </a:p>
          <a:p>
            <a:r>
              <a:rPr lang="en-US"/>
              <a:t>https://nodejs.org/static/logos/nodejsHex.svg</a:t>
            </a:r>
          </a:p>
          <a:p>
            <a:r>
              <a:rPr lang="en-US"/>
              <a:t>https://wiki.postgresql.org/images/a/a4/PostgreSQL_logo.3colors.svg</a:t>
            </a:r>
          </a:p>
          <a:p>
            <a:r>
              <a:rPr lang="en-US"/>
              <a:t>https://s3.dualstack.us-east-2.amazonaws.com/pythondotorg-assets/media/files/python-logo-only.svg</a:t>
            </a:r>
          </a:p>
          <a:p>
            <a:r>
              <a:rPr lang="en-US"/>
              <a:t>https://raw.githubusercontent.com/reactjs/react.dev/main/public/images/brand/logo_light.svg</a:t>
            </a:r>
          </a:p>
          <a:p>
            <a:r>
              <a:rPr lang="en-US"/>
              <a:t>https://vite.dev/logo.svg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Web y Mobile autentican con Firebase y envían el token a la API. La API valida identidad y consulta el rol efectivo en PostgreSQL. Los clientes no acceden directamente a la BD. Python es un proceso local de consulta histórica.</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modelo documental y el DDL contienen 26 tablas. Este esquema muestra asociaciones de negocio, no cardinalidades físicas verificadas. La correspondencia completa del ER con el DDL debe comprobarse.</a:t>
            </a:r>
          </a:p>
          <a:p>
            <a:r>
              <a:rPr lang="en-US"/>
              <a:t>Fuente: documentación vigente de PMP Suite, Acta, SRS, Diseño, Plan de Pruebas, Manual y Cierre. Repositorio: https://github.com/RafaOteiza/PMP-Suite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Consultar inventario, elegir recepción, verificar origen y activo, obtener evidencia vigente y confirmar solo en el entorno autorizado. Las capturas no prueban una recepción física. Hallazgo conocido: breadcrumb desde Terreno en formulario desde Laboratorio, pendiente de verificar corrección.</a:t>
            </a:r>
          </a:p>
          <a:p>
            <a:r>
              <a:rPr lang="en-US"/>
              <a:t>Fuente: documentación vigente de PMP Suite, Acta, SRS, Diseño, Plan de Pruebas, Manual y Cierre. Repositorio: https://github.com/RafaOteiza/PMP-Suite</a:t>
            </a:r>
          </a:p>
          <a:p>
            <a:r>
              <a:rPr lang="en-US"/>
              <a:t>Navegación: en modo Presentación, seleccionar Explorar Web, Explorar Móvil o Explorar el flujo. Se abrirá una diapositiva de detalle oculta con botón Volver al MVP. Los enlaces navegan dentro del archivo. Las capturas son imágenes, no una aplicación en vivo. El pase lineal contiene la vista principal y omite los tres anexos ocultos.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PMP Suite propone centralizar el ciclo de mantenimiento con trazabilidad por equipo. El proyecto tiene objetivos y alcance definidos, metodología en cascada y una base técnica observada con evidencia parcial. La siguiente evidencia decisiva es un ciclo completo, reproducible y documentado por rol. No se presenta como implantación productiva o validación integral.</a:t>
            </a:r>
          </a:p>
          <a:p>
            <a:r>
              <a:rPr lang="en-US"/>
              <a:t/>
            </a:r>
          </a:p>
          <a:p>
            <a:r>
              <a:rPr lang="en-US"/>
              <a:t>Fuentes: definición del proyecto PMP Suite, corrección metodológica del responsable y auditoría técnica del 7 de octubre, registros del 8 de octubre y capturas compartidas hasta el 9 de octubre de 2026. La presentación expone avance académico Fase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Diapositiva de detalle oculta en el pase lineal. Acceso mediante el botón de la diapositiva 16. Para regresar, seleccionar Volver al MVP. Los enlaces navegan dentro de esta presentación; las capturas son imágenes, no una aplicación en vivo.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Diapositiva de detalle oculta en el pase lineal. Acceso mediante el botón de la diapositiva 16. Para regresar, seleccionar Volver al MVP. Los enlaces navegan dentro de esta presentación; las capturas son imágenes, no una aplicación en vivo.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Diapositiva de detalle oculta en el pase lineal. Acceso mediante el botón de la diapositiva 16. Para regresar, seleccionar Volver al MVP. Los enlaces navegan dentro de esta presentación; las capturas son imágenes, no una aplicación en vivo.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6.png" Type="http://schemas.openxmlformats.org/officeDocument/2006/relationships/image"/><Relationship Id="rId2" Target="../notesSlides/notesSlide6.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2.png" Type="http://schemas.openxmlformats.org/officeDocument/2006/relationships/image"/><Relationship Id="rId6"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6.png" Type="http://schemas.openxmlformats.org/officeDocument/2006/relationships/image"/><Relationship Id="rId2" Target="../notesSlides/notesSlide1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notesSlides/notesSlide13.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25.png" Type="http://schemas.openxmlformats.org/officeDocument/2006/relationships/image"/><Relationship Id="rId6" Target="../media/image15.png" Type="http://schemas.openxmlformats.org/officeDocument/2006/relationships/image"/><Relationship Id="rId7" Target="../media/image18.png" Type="http://schemas.openxmlformats.org/officeDocument/2006/relationships/image"/><Relationship Id="rId8" Target="../media/image22.png" Type="http://schemas.openxmlformats.org/officeDocument/2006/relationships/image"/><Relationship Id="rId9"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 Id="rId5" Target="../media/image26.png" Type="http://schemas.openxmlformats.org/officeDocument/2006/relationships/image"/><Relationship Id="rId6"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jpeg" Type="http://schemas.openxmlformats.org/officeDocument/2006/relationships/image"/><Relationship Id="rId4"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jpeg" Type="http://schemas.openxmlformats.org/officeDocument/2006/relationships/image"/><Relationship Id="rId8" Target="../media/image31.png" Type="http://schemas.openxmlformats.org/officeDocument/2006/relationships/image"/><Relationship Id="rId9"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png" Type="http://schemas.openxmlformats.org/officeDocument/2006/relationships/image"/><Relationship Id="rId4"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png" Type="http://schemas.openxmlformats.org/officeDocument/2006/relationships/image"/><Relationship Id="rId4"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png" Type="http://schemas.openxmlformats.org/officeDocument/2006/relationships/image"/><Relationship Id="rId4" Target="../media/image2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png" Type="http://schemas.openxmlformats.org/officeDocument/2006/relationships/image"/><Relationship Id="rId4"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0" y="0"/>
            <a:ext cx="11715750" cy="10287000"/>
            <a:chOff x="0" y="0"/>
            <a:chExt cx="15621000" cy="13716000"/>
          </a:xfrm>
        </p:grpSpPr>
        <p:sp>
          <p:nvSpPr>
            <p:cNvPr name="Freeform 4" id="4"/>
            <p:cNvSpPr/>
            <p:nvPr/>
          </p:nvSpPr>
          <p:spPr>
            <a:xfrm flipH="false" flipV="false" rot="0">
              <a:off x="0" y="0"/>
              <a:ext cx="15621000" cy="13716000"/>
            </a:xfrm>
            <a:custGeom>
              <a:avLst/>
              <a:gdLst/>
              <a:ahLst/>
              <a:cxnLst/>
              <a:rect r="r" b="b" t="t" l="l"/>
              <a:pathLst>
                <a:path h="13716000" w="15621000">
                  <a:moveTo>
                    <a:pt x="0" y="0"/>
                  </a:moveTo>
                  <a:lnTo>
                    <a:pt x="15621000" y="0"/>
                  </a:lnTo>
                  <a:lnTo>
                    <a:pt x="15621000" y="13716000"/>
                  </a:lnTo>
                  <a:lnTo>
                    <a:pt x="0" y="13716000"/>
                  </a:lnTo>
                  <a:close/>
                </a:path>
              </a:pathLst>
            </a:custGeom>
            <a:blipFill>
              <a:blip r:embed="rId4"/>
              <a:stretch>
                <a:fillRect l="-28490" t="0" r="-28490" b="0"/>
              </a:stretch>
            </a:blipFill>
          </p:spPr>
        </p:sp>
      </p:grpSp>
      <p:grpSp>
        <p:nvGrpSpPr>
          <p:cNvPr name="Group 5" id="5"/>
          <p:cNvGrpSpPr/>
          <p:nvPr/>
        </p:nvGrpSpPr>
        <p:grpSpPr>
          <a:xfrm rot="0">
            <a:off x="914400" y="885825"/>
            <a:ext cx="10001250" cy="571500"/>
            <a:chOff x="0" y="0"/>
            <a:chExt cx="13335000" cy="762000"/>
          </a:xfrm>
        </p:grpSpPr>
        <p:sp>
          <p:nvSpPr>
            <p:cNvPr name="Freeform 6" id="6"/>
            <p:cNvSpPr/>
            <p:nvPr/>
          </p:nvSpPr>
          <p:spPr>
            <a:xfrm flipH="false" flipV="false" rot="0">
              <a:off x="0" y="0"/>
              <a:ext cx="13335000" cy="762000"/>
            </a:xfrm>
            <a:custGeom>
              <a:avLst/>
              <a:gdLst/>
              <a:ahLst/>
              <a:cxnLst/>
              <a:rect r="r" b="b" t="t" l="l"/>
              <a:pathLst>
                <a:path h="762000" w="13335000">
                  <a:moveTo>
                    <a:pt x="0" y="0"/>
                  </a:moveTo>
                  <a:lnTo>
                    <a:pt x="13335000" y="0"/>
                  </a:lnTo>
                  <a:lnTo>
                    <a:pt x="13335000" y="762000"/>
                  </a:lnTo>
                  <a:lnTo>
                    <a:pt x="0" y="762000"/>
                  </a:lnTo>
                  <a:close/>
                </a:path>
              </a:pathLst>
            </a:custGeom>
            <a:blipFill>
              <a:blip r:embed="rId5">
                <a:alphaModFix amt="0"/>
              </a:blip>
              <a:stretch>
                <a:fillRect l="0" t="-290988" r="0" b="-290988"/>
              </a:stretch>
            </a:blipFill>
          </p:spPr>
        </p:sp>
        <p:sp>
          <p:nvSpPr>
            <p:cNvPr name="TextBox 7" id="7"/>
            <p:cNvSpPr txBox="true"/>
            <p:nvPr/>
          </p:nvSpPr>
          <p:spPr>
            <a:xfrm>
              <a:off x="0" y="0"/>
              <a:ext cx="13335000" cy="762000"/>
            </a:xfrm>
            <a:prstGeom prst="rect">
              <a:avLst/>
            </a:prstGeom>
          </p:spPr>
          <p:txBody>
            <a:bodyPr anchor="ctr" rtlCol="false" tIns="0" lIns="0" bIns="0" rIns="0"/>
            <a:lstStyle/>
            <a:p>
              <a:pPr algn="l">
                <a:lnSpc>
                  <a:spcPts val="3240"/>
                </a:lnSpc>
              </a:pPr>
              <a:r>
                <a:rPr lang="en-US" sz="2700" b="true">
                  <a:solidFill>
                    <a:srgbClr val="00B8BD"/>
                  </a:solidFill>
                  <a:latin typeface="Aptos Bold"/>
                  <a:ea typeface="Aptos Bold"/>
                  <a:cs typeface="Aptos Bold"/>
                  <a:sym typeface="Aptos Bold"/>
                </a:rPr>
                <a:t>CAPSTONE · PROYECTO APT</a:t>
              </a:r>
            </a:p>
          </p:txBody>
        </p:sp>
      </p:grpSp>
      <p:grpSp>
        <p:nvGrpSpPr>
          <p:cNvPr name="Group 8" id="8"/>
          <p:cNvGrpSpPr/>
          <p:nvPr/>
        </p:nvGrpSpPr>
        <p:grpSpPr>
          <a:xfrm rot="0">
            <a:off x="914400" y="2500312"/>
            <a:ext cx="10144125" cy="3714750"/>
            <a:chOff x="0" y="0"/>
            <a:chExt cx="13525500" cy="4953000"/>
          </a:xfrm>
        </p:grpSpPr>
        <p:sp>
          <p:nvSpPr>
            <p:cNvPr name="Freeform 9" id="9"/>
            <p:cNvSpPr/>
            <p:nvPr/>
          </p:nvSpPr>
          <p:spPr>
            <a:xfrm flipH="false" flipV="false" rot="0">
              <a:off x="0" y="0"/>
              <a:ext cx="13525500" cy="4953000"/>
            </a:xfrm>
            <a:custGeom>
              <a:avLst/>
              <a:gdLst/>
              <a:ahLst/>
              <a:cxnLst/>
              <a:rect r="r" b="b" t="t" l="l"/>
              <a:pathLst>
                <a:path h="4953000" w="13525500">
                  <a:moveTo>
                    <a:pt x="0" y="0"/>
                  </a:moveTo>
                  <a:lnTo>
                    <a:pt x="13525500" y="0"/>
                  </a:lnTo>
                  <a:lnTo>
                    <a:pt x="13525500" y="4953000"/>
                  </a:lnTo>
                  <a:lnTo>
                    <a:pt x="0" y="4953000"/>
                  </a:lnTo>
                  <a:close/>
                </a:path>
              </a:pathLst>
            </a:custGeom>
            <a:blipFill>
              <a:blip r:embed="rId5">
                <a:alphaModFix amt="0"/>
              </a:blip>
              <a:stretch>
                <a:fillRect l="0" t="-3209" r="0" b="-3209"/>
              </a:stretch>
            </a:blipFill>
          </p:spPr>
        </p:sp>
        <p:sp>
          <p:nvSpPr>
            <p:cNvPr name="TextBox 10" id="10"/>
            <p:cNvSpPr txBox="true"/>
            <p:nvPr/>
          </p:nvSpPr>
          <p:spPr>
            <a:xfrm>
              <a:off x="0" y="0"/>
              <a:ext cx="13525500" cy="4953000"/>
            </a:xfrm>
            <a:prstGeom prst="rect">
              <a:avLst/>
            </a:prstGeom>
          </p:spPr>
          <p:txBody>
            <a:bodyPr anchor="ctr" rtlCol="false" tIns="0" lIns="0" bIns="0" rIns="0"/>
            <a:lstStyle/>
            <a:p>
              <a:pPr algn="l">
                <a:lnSpc>
                  <a:spcPts val="7830"/>
                </a:lnSpc>
              </a:pPr>
              <a:r>
                <a:rPr lang="en-US" sz="6525" b="true">
                  <a:solidFill>
                    <a:srgbClr val="FFFFFF"/>
                  </a:solidFill>
                  <a:latin typeface="Aptos Bold"/>
                  <a:ea typeface="Aptos Bold"/>
                  <a:cs typeface="Aptos Bold"/>
                  <a:sym typeface="Aptos Bold"/>
                </a:rPr>
                <a:t>Gestión y</a:t>
              </a:r>
            </a:p>
            <a:p>
              <a:pPr algn="l">
                <a:lnSpc>
                  <a:spcPts val="7830"/>
                </a:lnSpc>
              </a:pPr>
              <a:r>
                <a:rPr lang="en-US" sz="6525" b="true">
                  <a:solidFill>
                    <a:srgbClr val="FFFFFF"/>
                  </a:solidFill>
                  <a:latin typeface="Aptos Bold"/>
                  <a:ea typeface="Aptos Bold"/>
                  <a:cs typeface="Aptos Bold"/>
                  <a:sym typeface="Aptos Bold"/>
                </a:rPr>
                <a:t>trazabilidad del</a:t>
              </a:r>
            </a:p>
            <a:p>
              <a:pPr algn="l">
                <a:lnSpc>
                  <a:spcPts val="7830"/>
                </a:lnSpc>
              </a:pPr>
              <a:r>
                <a:rPr lang="en-US" sz="6525" b="true">
                  <a:solidFill>
                    <a:srgbClr val="FFFFFF"/>
                  </a:solidFill>
                  <a:latin typeface="Aptos Bold"/>
                  <a:ea typeface="Aptos Bold"/>
                  <a:cs typeface="Aptos Bold"/>
                  <a:sym typeface="Aptos Bold"/>
                </a:rPr>
                <a:t>mantenimiento</a:t>
              </a:r>
            </a:p>
          </p:txBody>
        </p:sp>
      </p:grpSp>
      <p:grpSp>
        <p:nvGrpSpPr>
          <p:cNvPr name="Group 11" id="11"/>
          <p:cNvGrpSpPr/>
          <p:nvPr/>
        </p:nvGrpSpPr>
        <p:grpSpPr>
          <a:xfrm rot="0">
            <a:off x="914400" y="6715125"/>
            <a:ext cx="9858375" cy="1428750"/>
            <a:chOff x="0" y="0"/>
            <a:chExt cx="13144500" cy="1905000"/>
          </a:xfrm>
        </p:grpSpPr>
        <p:sp>
          <p:nvSpPr>
            <p:cNvPr name="Freeform 12" id="12"/>
            <p:cNvSpPr/>
            <p:nvPr/>
          </p:nvSpPr>
          <p:spPr>
            <a:xfrm flipH="false" flipV="false" rot="0">
              <a:off x="0" y="0"/>
              <a:ext cx="13144500" cy="1905000"/>
            </a:xfrm>
            <a:custGeom>
              <a:avLst/>
              <a:gdLst/>
              <a:ahLst/>
              <a:cxnLst/>
              <a:rect r="r" b="b" t="t" l="l"/>
              <a:pathLst>
                <a:path h="1905000" w="13144500">
                  <a:moveTo>
                    <a:pt x="0" y="0"/>
                  </a:moveTo>
                  <a:lnTo>
                    <a:pt x="13144500" y="0"/>
                  </a:lnTo>
                  <a:lnTo>
                    <a:pt x="13144500" y="1905000"/>
                  </a:lnTo>
                  <a:lnTo>
                    <a:pt x="0" y="1905000"/>
                  </a:lnTo>
                  <a:close/>
                </a:path>
              </a:pathLst>
            </a:custGeom>
            <a:blipFill>
              <a:blip r:embed="rId5">
                <a:alphaModFix amt="0"/>
              </a:blip>
              <a:stretch>
                <a:fillRect l="0" t="-84446" r="0" b="-84446"/>
              </a:stretch>
            </a:blipFill>
          </p:spPr>
        </p:sp>
        <p:sp>
          <p:nvSpPr>
            <p:cNvPr name="TextBox 13" id="13"/>
            <p:cNvSpPr txBox="true"/>
            <p:nvPr/>
          </p:nvSpPr>
          <p:spPr>
            <a:xfrm>
              <a:off x="0" y="0"/>
              <a:ext cx="13144500" cy="1905000"/>
            </a:xfrm>
            <a:prstGeom prst="rect">
              <a:avLst/>
            </a:prstGeom>
          </p:spPr>
          <p:txBody>
            <a:bodyPr anchor="ctr" rtlCol="false" tIns="0" lIns="0" bIns="0" rIns="0"/>
            <a:lstStyle/>
            <a:p>
              <a:pPr algn="l">
                <a:lnSpc>
                  <a:spcPts val="4320"/>
                </a:lnSpc>
              </a:pPr>
              <a:r>
                <a:rPr lang="en-US" sz="3600">
                  <a:solidFill>
                    <a:srgbClr val="B9CEDB"/>
                  </a:solidFill>
                  <a:latin typeface="Aptos"/>
                  <a:ea typeface="Aptos"/>
                  <a:cs typeface="Aptos"/>
                  <a:sym typeface="Aptos"/>
                </a:rPr>
                <a:t>Validadores y consolas</a:t>
              </a:r>
            </a:p>
            <a:p>
              <a:pPr algn="l">
                <a:lnSpc>
                  <a:spcPts val="4320"/>
                </a:lnSpc>
              </a:pPr>
              <a:r>
                <a:rPr lang="en-US" sz="3600">
                  <a:solidFill>
                    <a:srgbClr val="B9CEDB"/>
                  </a:solidFill>
                  <a:latin typeface="Aptos"/>
                  <a:ea typeface="Aptos"/>
                  <a:cs typeface="Aptos"/>
                  <a:sym typeface="Aptos"/>
                </a:rPr>
                <a:t>del transporte público</a:t>
              </a:r>
            </a:p>
          </p:txBody>
        </p:sp>
      </p:grpSp>
      <p:grpSp>
        <p:nvGrpSpPr>
          <p:cNvPr name="Group 14" id="14"/>
          <p:cNvGrpSpPr/>
          <p:nvPr/>
        </p:nvGrpSpPr>
        <p:grpSpPr>
          <a:xfrm rot="0">
            <a:off x="914400" y="8972550"/>
            <a:ext cx="9286875" cy="857250"/>
            <a:chOff x="0" y="0"/>
            <a:chExt cx="12382500" cy="1143000"/>
          </a:xfrm>
        </p:grpSpPr>
        <p:sp>
          <p:nvSpPr>
            <p:cNvPr name="Freeform 15" id="15"/>
            <p:cNvSpPr/>
            <p:nvPr/>
          </p:nvSpPr>
          <p:spPr>
            <a:xfrm flipH="false" flipV="false" rot="0">
              <a:off x="0" y="0"/>
              <a:ext cx="12382500" cy="1143000"/>
            </a:xfrm>
            <a:custGeom>
              <a:avLst/>
              <a:gdLst/>
              <a:ahLst/>
              <a:cxnLst/>
              <a:rect r="r" b="b" t="t" l="l"/>
              <a:pathLst>
                <a:path h="1143000" w="12382500">
                  <a:moveTo>
                    <a:pt x="0" y="0"/>
                  </a:moveTo>
                  <a:lnTo>
                    <a:pt x="12382500" y="0"/>
                  </a:lnTo>
                  <a:lnTo>
                    <a:pt x="12382500" y="1143000"/>
                  </a:lnTo>
                  <a:lnTo>
                    <a:pt x="0" y="1143000"/>
                  </a:lnTo>
                  <a:close/>
                </a:path>
              </a:pathLst>
            </a:custGeom>
            <a:blipFill>
              <a:blip r:embed="rId5">
                <a:alphaModFix amt="0"/>
              </a:blip>
              <a:stretch>
                <a:fillRect l="0" t="-161087" r="0" b="-161087"/>
              </a:stretch>
            </a:blipFill>
          </p:spPr>
        </p:sp>
        <p:sp>
          <p:nvSpPr>
            <p:cNvPr name="TextBox 16" id="16"/>
            <p:cNvSpPr txBox="true"/>
            <p:nvPr/>
          </p:nvSpPr>
          <p:spPr>
            <a:xfrm>
              <a:off x="0" y="0"/>
              <a:ext cx="12382500" cy="1143000"/>
            </a:xfrm>
            <a:prstGeom prst="rect">
              <a:avLst/>
            </a:prstGeom>
          </p:spPr>
          <p:txBody>
            <a:bodyPr anchor="ctr" rtlCol="false" tIns="0" lIns="0" bIns="0" rIns="0"/>
            <a:lstStyle/>
            <a:p>
              <a:pPr algn="l">
                <a:lnSpc>
                  <a:spcPts val="3104"/>
                </a:lnSpc>
              </a:pPr>
              <a:r>
                <a:rPr lang="en-US" sz="2587">
                  <a:solidFill>
                    <a:srgbClr val="FFFFFF"/>
                  </a:solidFill>
                  <a:latin typeface="Aptos"/>
                  <a:ea typeface="Aptos"/>
                  <a:cs typeface="Aptos"/>
                  <a:sym typeface="Aptos"/>
                </a:rPr>
                <a:t>Ingeniería en Informática</a:t>
              </a:r>
            </a:p>
            <a:p>
              <a:pPr algn="l">
                <a:lnSpc>
                  <a:spcPts val="3104"/>
                </a:lnSpc>
              </a:pPr>
              <a:r>
                <a:rPr lang="en-US" sz="2587">
                  <a:solidFill>
                    <a:srgbClr val="FFFFFF"/>
                  </a:solidFill>
                  <a:latin typeface="Aptos"/>
                  <a:ea typeface="Aptos"/>
                  <a:cs typeface="Aptos"/>
                  <a:sym typeface="Aptos"/>
                </a:rPr>
                <a:t>Duoc UC</a:t>
              </a:r>
            </a:p>
          </p:txBody>
        </p:sp>
      </p:grpSp>
      <p:grpSp>
        <p:nvGrpSpPr>
          <p:cNvPr name="Group 17" id="17"/>
          <p:cNvGrpSpPr/>
          <p:nvPr/>
        </p:nvGrpSpPr>
        <p:grpSpPr>
          <a:xfrm rot="0">
            <a:off x="13073062" y="1857375"/>
            <a:ext cx="3714750" cy="3714750"/>
            <a:chOff x="0" y="0"/>
            <a:chExt cx="4953000" cy="4953000"/>
          </a:xfrm>
        </p:grpSpPr>
        <p:sp>
          <p:nvSpPr>
            <p:cNvPr name="Freeform 18" id="18"/>
            <p:cNvSpPr/>
            <p:nvPr/>
          </p:nvSpPr>
          <p:spPr>
            <a:xfrm flipH="false" flipV="false" rot="0">
              <a:off x="0" y="0"/>
              <a:ext cx="4953000" cy="4953000"/>
            </a:xfrm>
            <a:custGeom>
              <a:avLst/>
              <a:gdLst/>
              <a:ahLst/>
              <a:cxnLst/>
              <a:rect r="r" b="b" t="t" l="l"/>
              <a:pathLst>
                <a:path h="4953000" w="4953000">
                  <a:moveTo>
                    <a:pt x="0" y="0"/>
                  </a:moveTo>
                  <a:lnTo>
                    <a:pt x="4953000" y="0"/>
                  </a:lnTo>
                  <a:lnTo>
                    <a:pt x="4953000" y="4953000"/>
                  </a:lnTo>
                  <a:lnTo>
                    <a:pt x="0" y="4953000"/>
                  </a:lnTo>
                  <a:lnTo>
                    <a:pt x="0" y="0"/>
                  </a:lnTo>
                  <a:close/>
                </a:path>
              </a:pathLst>
            </a:custGeom>
            <a:blipFill>
              <a:blip r:embed="rId6"/>
              <a:stretch>
                <a:fillRect l="0" t="0" r="0" b="0"/>
              </a:stretch>
            </a:blipFill>
          </p:spPr>
        </p:sp>
      </p:grpSp>
      <p:grpSp>
        <p:nvGrpSpPr>
          <p:cNvPr name="Group 19" id="19"/>
          <p:cNvGrpSpPr/>
          <p:nvPr/>
        </p:nvGrpSpPr>
        <p:grpSpPr>
          <a:xfrm rot="0">
            <a:off x="12715875" y="7072312"/>
            <a:ext cx="4572000" cy="1643062"/>
            <a:chOff x="0" y="0"/>
            <a:chExt cx="6096000" cy="2190750"/>
          </a:xfrm>
        </p:grpSpPr>
        <p:sp>
          <p:nvSpPr>
            <p:cNvPr name="Freeform 20" id="20"/>
            <p:cNvSpPr/>
            <p:nvPr/>
          </p:nvSpPr>
          <p:spPr>
            <a:xfrm flipH="false" flipV="false" rot="0">
              <a:off x="0" y="0"/>
              <a:ext cx="6096000" cy="2190750"/>
            </a:xfrm>
            <a:custGeom>
              <a:avLst/>
              <a:gdLst/>
              <a:ahLst/>
              <a:cxnLst/>
              <a:rect r="r" b="b" t="t" l="l"/>
              <a:pathLst>
                <a:path h="2190750" w="6096000">
                  <a:moveTo>
                    <a:pt x="0" y="0"/>
                  </a:moveTo>
                  <a:lnTo>
                    <a:pt x="6096000" y="0"/>
                  </a:lnTo>
                  <a:lnTo>
                    <a:pt x="6096000" y="2190750"/>
                  </a:lnTo>
                  <a:lnTo>
                    <a:pt x="0" y="2190750"/>
                  </a:lnTo>
                  <a:close/>
                </a:path>
              </a:pathLst>
            </a:custGeom>
            <a:blipFill>
              <a:blip r:embed="rId5">
                <a:alphaModFix amt="0"/>
              </a:blip>
              <a:stretch>
                <a:fillRect l="0" t="-4219" r="0" b="-4219"/>
              </a:stretch>
            </a:blipFill>
          </p:spPr>
        </p:sp>
        <p:sp>
          <p:nvSpPr>
            <p:cNvPr name="TextBox 21" id="21"/>
            <p:cNvSpPr txBox="true"/>
            <p:nvPr/>
          </p:nvSpPr>
          <p:spPr>
            <a:xfrm>
              <a:off x="0" y="0"/>
              <a:ext cx="6096000" cy="2190750"/>
            </a:xfrm>
            <a:prstGeom prst="rect">
              <a:avLst/>
            </a:prstGeom>
          </p:spPr>
          <p:txBody>
            <a:bodyPr anchor="ctr" rtlCol="false" tIns="0" lIns="0" bIns="0" rIns="0"/>
            <a:lstStyle/>
            <a:p>
              <a:pPr algn="l">
                <a:lnSpc>
                  <a:spcPts val="3644"/>
                </a:lnSpc>
              </a:pPr>
              <a:r>
                <a:rPr lang="en-US" sz="3037">
                  <a:solidFill>
                    <a:srgbClr val="153044"/>
                  </a:solidFill>
                  <a:latin typeface="Aptos"/>
                  <a:ea typeface="Aptos"/>
                  <a:cs typeface="Aptos"/>
                  <a:sym typeface="Aptos"/>
                </a:rPr>
                <a:t>Rafael Oteiza</a:t>
              </a:r>
            </a:p>
            <a:p>
              <a:pPr algn="l">
                <a:lnSpc>
                  <a:spcPts val="3644"/>
                </a:lnSpc>
              </a:pPr>
              <a:r>
                <a:rPr lang="en-US" sz="3037">
                  <a:solidFill>
                    <a:srgbClr val="153044"/>
                  </a:solidFill>
                  <a:latin typeface="Aptos"/>
                  <a:ea typeface="Aptos"/>
                  <a:cs typeface="Aptos"/>
                  <a:sym typeface="Aptos"/>
                </a:rPr>
                <a:t>Matías Garrido</a:t>
              </a:r>
            </a:p>
            <a:p>
              <a:pPr algn="l">
                <a:lnSpc>
                  <a:spcPts val="3644"/>
                </a:lnSpc>
              </a:pPr>
              <a:r>
                <a:rPr lang="en-US" sz="3037">
                  <a:solidFill>
                    <a:srgbClr val="153044"/>
                  </a:solidFill>
                  <a:latin typeface="Aptos"/>
                  <a:ea typeface="Aptos"/>
                  <a:cs typeface="Aptos"/>
                  <a:sym typeface="Aptos"/>
                </a:rPr>
                <a:t>Luis Arenas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86" t="0" r="-386" b="0"/>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Equipo y responsabilidades</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Tres ámbitos complementarios para integrar el proyecto</a:t>
              </a:r>
            </a:p>
          </p:txBody>
        </p:sp>
      </p:grpSp>
      <p:grpSp>
        <p:nvGrpSpPr>
          <p:cNvPr name="Group 9" id="9"/>
          <p:cNvGrpSpPr/>
          <p:nvPr/>
        </p:nvGrpSpPr>
        <p:grpSpPr>
          <a:xfrm rot="0">
            <a:off x="914400" y="2886075"/>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02</a:t>
              </a:r>
            </a:p>
          </p:txBody>
        </p:sp>
      </p:grpSp>
      <p:grpSp>
        <p:nvGrpSpPr>
          <p:cNvPr name="Group 14" id="14"/>
          <p:cNvGrpSpPr/>
          <p:nvPr/>
        </p:nvGrpSpPr>
        <p:grpSpPr>
          <a:xfrm rot="0">
            <a:off x="914400" y="3857625"/>
            <a:ext cx="5000625" cy="4429125"/>
            <a:chOff x="0" y="0"/>
            <a:chExt cx="6667500" cy="5905500"/>
          </a:xfrm>
        </p:grpSpPr>
        <p:sp>
          <p:nvSpPr>
            <p:cNvPr name="Freeform 15" id="15"/>
            <p:cNvSpPr/>
            <p:nvPr/>
          </p:nvSpPr>
          <p:spPr>
            <a:xfrm flipH="false" flipV="false" rot="0">
              <a:off x="0" y="0"/>
              <a:ext cx="6667500" cy="5905500"/>
            </a:xfrm>
            <a:custGeom>
              <a:avLst/>
              <a:gdLst/>
              <a:ahLst/>
              <a:cxnLst/>
              <a:rect r="r" b="b" t="t" l="l"/>
              <a:pathLst>
                <a:path h="5905500" w="6667500">
                  <a:moveTo>
                    <a:pt x="0" y="0"/>
                  </a:moveTo>
                  <a:lnTo>
                    <a:pt x="6667500" y="0"/>
                  </a:lnTo>
                  <a:lnTo>
                    <a:pt x="6667500" y="5905500"/>
                  </a:lnTo>
                  <a:lnTo>
                    <a:pt x="0" y="5905500"/>
                  </a:lnTo>
                  <a:close/>
                </a:path>
              </a:pathLst>
            </a:custGeom>
            <a:solidFill>
              <a:srgbClr val="FFFFFF"/>
            </a:solidFill>
          </p:spPr>
        </p:sp>
      </p:grpSp>
      <p:grpSp>
        <p:nvGrpSpPr>
          <p:cNvPr name="Group 16" id="16"/>
          <p:cNvGrpSpPr/>
          <p:nvPr/>
        </p:nvGrpSpPr>
        <p:grpSpPr>
          <a:xfrm rot="0">
            <a:off x="914400" y="3857625"/>
            <a:ext cx="5000625" cy="1143000"/>
            <a:chOff x="0" y="0"/>
            <a:chExt cx="6667500" cy="1524000"/>
          </a:xfrm>
        </p:grpSpPr>
        <p:sp>
          <p:nvSpPr>
            <p:cNvPr name="Freeform 17" id="17"/>
            <p:cNvSpPr/>
            <p:nvPr/>
          </p:nvSpPr>
          <p:spPr>
            <a:xfrm flipH="false" flipV="false" rot="0">
              <a:off x="0" y="0"/>
              <a:ext cx="6667500" cy="1524000"/>
            </a:xfrm>
            <a:custGeom>
              <a:avLst/>
              <a:gdLst/>
              <a:ahLst/>
              <a:cxnLst/>
              <a:rect r="r" b="b" t="t" l="l"/>
              <a:pathLst>
                <a:path h="1524000" w="6667500">
                  <a:moveTo>
                    <a:pt x="0" y="0"/>
                  </a:moveTo>
                  <a:lnTo>
                    <a:pt x="6667500" y="0"/>
                  </a:lnTo>
                  <a:lnTo>
                    <a:pt x="6667500" y="1524000"/>
                  </a:lnTo>
                  <a:lnTo>
                    <a:pt x="0" y="1524000"/>
                  </a:lnTo>
                  <a:close/>
                </a:path>
              </a:pathLst>
            </a:custGeom>
            <a:solidFill>
              <a:srgbClr val="0D1C29"/>
            </a:solidFill>
          </p:spPr>
        </p:sp>
      </p:grpSp>
      <p:grpSp>
        <p:nvGrpSpPr>
          <p:cNvPr name="Group 18" id="18"/>
          <p:cNvGrpSpPr/>
          <p:nvPr/>
        </p:nvGrpSpPr>
        <p:grpSpPr>
          <a:xfrm rot="0">
            <a:off x="1228725" y="4000500"/>
            <a:ext cx="4357688" cy="857250"/>
            <a:chOff x="0" y="0"/>
            <a:chExt cx="5810250" cy="1143000"/>
          </a:xfrm>
        </p:grpSpPr>
        <p:sp>
          <p:nvSpPr>
            <p:cNvPr name="Freeform 19" id="19"/>
            <p:cNvSpPr/>
            <p:nvPr/>
          </p:nvSpPr>
          <p:spPr>
            <a:xfrm flipH="false" flipV="false" rot="0">
              <a:off x="0" y="0"/>
              <a:ext cx="5810250" cy="1143000"/>
            </a:xfrm>
            <a:custGeom>
              <a:avLst/>
              <a:gdLst/>
              <a:ahLst/>
              <a:cxnLst/>
              <a:rect r="r" b="b" t="t" l="l"/>
              <a:pathLst>
                <a:path h="1143000" w="5810250">
                  <a:moveTo>
                    <a:pt x="0" y="0"/>
                  </a:moveTo>
                  <a:lnTo>
                    <a:pt x="5810250" y="0"/>
                  </a:lnTo>
                  <a:lnTo>
                    <a:pt x="5810250" y="1143000"/>
                  </a:lnTo>
                  <a:lnTo>
                    <a:pt x="0" y="1143000"/>
                  </a:lnTo>
                  <a:close/>
                </a:path>
              </a:pathLst>
            </a:custGeom>
            <a:blipFill>
              <a:blip r:embed="rId4">
                <a:alphaModFix amt="0"/>
              </a:blip>
              <a:stretch>
                <a:fillRect l="0" t="-49048" r="0" b="-49048"/>
              </a:stretch>
            </a:blipFill>
          </p:spPr>
        </p:sp>
        <p:sp>
          <p:nvSpPr>
            <p:cNvPr name="TextBox 20" id="20"/>
            <p:cNvSpPr txBox="true"/>
            <p:nvPr/>
          </p:nvSpPr>
          <p:spPr>
            <a:xfrm>
              <a:off x="0" y="0"/>
              <a:ext cx="5810250" cy="1143000"/>
            </a:xfrm>
            <a:prstGeom prst="rect">
              <a:avLst/>
            </a:prstGeom>
          </p:spPr>
          <p:txBody>
            <a:bodyPr anchor="ctr" rtlCol="false" tIns="0" lIns="0" bIns="0" rIns="0"/>
            <a:lstStyle/>
            <a:p>
              <a:pPr algn="l">
                <a:lnSpc>
                  <a:spcPts val="4050"/>
                </a:lnSpc>
              </a:pPr>
              <a:r>
                <a:rPr lang="en-US" sz="3375" b="true">
                  <a:solidFill>
                    <a:srgbClr val="FFFFFF"/>
                  </a:solidFill>
                  <a:latin typeface="Aptos Bold"/>
                  <a:ea typeface="Aptos Bold"/>
                  <a:cs typeface="Aptos Bold"/>
                  <a:sym typeface="Aptos Bold"/>
                </a:rPr>
                <a:t>Rafael Oteiza</a:t>
              </a:r>
            </a:p>
          </p:txBody>
        </p:sp>
      </p:grpSp>
      <p:grpSp>
        <p:nvGrpSpPr>
          <p:cNvPr name="Group 21" id="21"/>
          <p:cNvGrpSpPr/>
          <p:nvPr/>
        </p:nvGrpSpPr>
        <p:grpSpPr>
          <a:xfrm rot="0">
            <a:off x="1228725" y="5429250"/>
            <a:ext cx="4357688" cy="2214562"/>
            <a:chOff x="0" y="0"/>
            <a:chExt cx="5810250" cy="2952750"/>
          </a:xfrm>
        </p:grpSpPr>
        <p:sp>
          <p:nvSpPr>
            <p:cNvPr name="Freeform 22" id="22"/>
            <p:cNvSpPr/>
            <p:nvPr/>
          </p:nvSpPr>
          <p:spPr>
            <a:xfrm flipH="false" flipV="false" rot="0">
              <a:off x="0" y="0"/>
              <a:ext cx="5810250" cy="2952750"/>
            </a:xfrm>
            <a:custGeom>
              <a:avLst/>
              <a:gdLst/>
              <a:ahLst/>
              <a:cxnLst/>
              <a:rect r="r" b="b" t="t" l="l"/>
              <a:pathLst>
                <a:path h="2952750" w="5810250">
                  <a:moveTo>
                    <a:pt x="0" y="0"/>
                  </a:moveTo>
                  <a:lnTo>
                    <a:pt x="5810250" y="0"/>
                  </a:lnTo>
                  <a:lnTo>
                    <a:pt x="5810250" y="2952750"/>
                  </a:lnTo>
                  <a:lnTo>
                    <a:pt x="0" y="2952750"/>
                  </a:lnTo>
                  <a:close/>
                </a:path>
              </a:pathLst>
            </a:custGeom>
            <a:blipFill>
              <a:blip r:embed="rId4">
                <a:alphaModFix amt="0"/>
              </a:blip>
              <a:stretch>
                <a:fillRect l="-15203" t="0" r="-15203" b="0"/>
              </a:stretch>
            </a:blipFill>
          </p:spPr>
        </p:sp>
        <p:sp>
          <p:nvSpPr>
            <p:cNvPr name="TextBox 23" id="23"/>
            <p:cNvSpPr txBox="true"/>
            <p:nvPr/>
          </p:nvSpPr>
          <p:spPr>
            <a:xfrm>
              <a:off x="0" y="0"/>
              <a:ext cx="5810250" cy="2952750"/>
            </a:xfrm>
            <a:prstGeom prst="rect">
              <a:avLst/>
            </a:prstGeom>
          </p:spPr>
          <p:txBody>
            <a:bodyPr anchor="ctr" rtlCol="false" tIns="0" lIns="0" bIns="0" rIns="0"/>
            <a:lstStyle/>
            <a:p>
              <a:pPr algn="l">
                <a:lnSpc>
                  <a:spcPts val="3915"/>
                </a:lnSpc>
              </a:pPr>
              <a:r>
                <a:rPr lang="en-US" sz="3262" b="true">
                  <a:solidFill>
                    <a:srgbClr val="153044"/>
                  </a:solidFill>
                  <a:latin typeface="Aptos Bold"/>
                  <a:ea typeface="Aptos Bold"/>
                  <a:cs typeface="Aptos Bold"/>
                  <a:sym typeface="Aptos Bold"/>
                </a:rPr>
                <a:t>Coordinación técnica,</a:t>
              </a:r>
            </a:p>
            <a:p>
              <a:pPr algn="l">
                <a:lnSpc>
                  <a:spcPts val="3915"/>
                </a:lnSpc>
              </a:pPr>
              <a:r>
                <a:rPr lang="en-US" sz="3262" b="true">
                  <a:solidFill>
                    <a:srgbClr val="153044"/>
                  </a:solidFill>
                  <a:latin typeface="Aptos Bold"/>
                  <a:ea typeface="Aptos Bold"/>
                  <a:cs typeface="Aptos Bold"/>
                  <a:sym typeface="Aptos Bold"/>
                </a:rPr>
                <a:t>Backend, datos</a:t>
              </a:r>
            </a:p>
            <a:p>
              <a:pPr algn="l">
                <a:lnSpc>
                  <a:spcPts val="3915"/>
                </a:lnSpc>
              </a:pPr>
              <a:r>
                <a:rPr lang="en-US" sz="3262" b="true">
                  <a:solidFill>
                    <a:srgbClr val="153044"/>
                  </a:solidFill>
                  <a:latin typeface="Aptos Bold"/>
                  <a:ea typeface="Aptos Bold"/>
                  <a:cs typeface="Aptos Bold"/>
                  <a:sym typeface="Aptos Bold"/>
                </a:rPr>
                <a:t>e integración.</a:t>
              </a:r>
            </a:p>
          </p:txBody>
        </p:sp>
      </p:grpSp>
      <p:grpSp>
        <p:nvGrpSpPr>
          <p:cNvPr name="Group 24" id="24"/>
          <p:cNvGrpSpPr/>
          <p:nvPr/>
        </p:nvGrpSpPr>
        <p:grpSpPr>
          <a:xfrm rot="0">
            <a:off x="6486525" y="3857625"/>
            <a:ext cx="5000625" cy="4429125"/>
            <a:chOff x="0" y="0"/>
            <a:chExt cx="6667500" cy="5905500"/>
          </a:xfrm>
        </p:grpSpPr>
        <p:sp>
          <p:nvSpPr>
            <p:cNvPr name="Freeform 25" id="25"/>
            <p:cNvSpPr/>
            <p:nvPr/>
          </p:nvSpPr>
          <p:spPr>
            <a:xfrm flipH="false" flipV="false" rot="0">
              <a:off x="0" y="0"/>
              <a:ext cx="6667500" cy="5905500"/>
            </a:xfrm>
            <a:custGeom>
              <a:avLst/>
              <a:gdLst/>
              <a:ahLst/>
              <a:cxnLst/>
              <a:rect r="r" b="b" t="t" l="l"/>
              <a:pathLst>
                <a:path h="5905500" w="6667500">
                  <a:moveTo>
                    <a:pt x="0" y="0"/>
                  </a:moveTo>
                  <a:lnTo>
                    <a:pt x="6667500" y="0"/>
                  </a:lnTo>
                  <a:lnTo>
                    <a:pt x="6667500" y="5905500"/>
                  </a:lnTo>
                  <a:lnTo>
                    <a:pt x="0" y="5905500"/>
                  </a:lnTo>
                  <a:close/>
                </a:path>
              </a:pathLst>
            </a:custGeom>
            <a:solidFill>
              <a:srgbClr val="FFFFFF"/>
            </a:solidFill>
          </p:spPr>
        </p:sp>
      </p:grpSp>
      <p:grpSp>
        <p:nvGrpSpPr>
          <p:cNvPr name="Group 26" id="26"/>
          <p:cNvGrpSpPr/>
          <p:nvPr/>
        </p:nvGrpSpPr>
        <p:grpSpPr>
          <a:xfrm rot="0">
            <a:off x="6486525" y="3857625"/>
            <a:ext cx="5000625" cy="1143000"/>
            <a:chOff x="0" y="0"/>
            <a:chExt cx="6667500" cy="1524000"/>
          </a:xfrm>
        </p:grpSpPr>
        <p:sp>
          <p:nvSpPr>
            <p:cNvPr name="Freeform 27" id="27"/>
            <p:cNvSpPr/>
            <p:nvPr/>
          </p:nvSpPr>
          <p:spPr>
            <a:xfrm flipH="false" flipV="false" rot="0">
              <a:off x="0" y="0"/>
              <a:ext cx="6667500" cy="1524000"/>
            </a:xfrm>
            <a:custGeom>
              <a:avLst/>
              <a:gdLst/>
              <a:ahLst/>
              <a:cxnLst/>
              <a:rect r="r" b="b" t="t" l="l"/>
              <a:pathLst>
                <a:path h="1524000" w="6667500">
                  <a:moveTo>
                    <a:pt x="0" y="0"/>
                  </a:moveTo>
                  <a:lnTo>
                    <a:pt x="6667500" y="0"/>
                  </a:lnTo>
                  <a:lnTo>
                    <a:pt x="6667500" y="1524000"/>
                  </a:lnTo>
                  <a:lnTo>
                    <a:pt x="0" y="1524000"/>
                  </a:lnTo>
                  <a:close/>
                </a:path>
              </a:pathLst>
            </a:custGeom>
            <a:solidFill>
              <a:srgbClr val="1766C8"/>
            </a:solidFill>
          </p:spPr>
        </p:sp>
      </p:grpSp>
      <p:grpSp>
        <p:nvGrpSpPr>
          <p:cNvPr name="Group 28" id="28"/>
          <p:cNvGrpSpPr/>
          <p:nvPr/>
        </p:nvGrpSpPr>
        <p:grpSpPr>
          <a:xfrm rot="0">
            <a:off x="6800850" y="4000500"/>
            <a:ext cx="4357688" cy="857250"/>
            <a:chOff x="0" y="0"/>
            <a:chExt cx="5810250" cy="1143000"/>
          </a:xfrm>
        </p:grpSpPr>
        <p:sp>
          <p:nvSpPr>
            <p:cNvPr name="Freeform 29" id="29"/>
            <p:cNvSpPr/>
            <p:nvPr/>
          </p:nvSpPr>
          <p:spPr>
            <a:xfrm flipH="false" flipV="false" rot="0">
              <a:off x="0" y="0"/>
              <a:ext cx="5810250" cy="1143000"/>
            </a:xfrm>
            <a:custGeom>
              <a:avLst/>
              <a:gdLst/>
              <a:ahLst/>
              <a:cxnLst/>
              <a:rect r="r" b="b" t="t" l="l"/>
              <a:pathLst>
                <a:path h="1143000" w="5810250">
                  <a:moveTo>
                    <a:pt x="0" y="0"/>
                  </a:moveTo>
                  <a:lnTo>
                    <a:pt x="5810250" y="0"/>
                  </a:lnTo>
                  <a:lnTo>
                    <a:pt x="5810250" y="1143000"/>
                  </a:lnTo>
                  <a:lnTo>
                    <a:pt x="0" y="1143000"/>
                  </a:lnTo>
                  <a:close/>
                </a:path>
              </a:pathLst>
            </a:custGeom>
            <a:blipFill>
              <a:blip r:embed="rId4">
                <a:alphaModFix amt="0"/>
              </a:blip>
              <a:stretch>
                <a:fillRect l="0" t="-49048" r="0" b="-49048"/>
              </a:stretch>
            </a:blipFill>
          </p:spPr>
        </p:sp>
        <p:sp>
          <p:nvSpPr>
            <p:cNvPr name="TextBox 30" id="30"/>
            <p:cNvSpPr txBox="true"/>
            <p:nvPr/>
          </p:nvSpPr>
          <p:spPr>
            <a:xfrm>
              <a:off x="0" y="0"/>
              <a:ext cx="5810250" cy="1143000"/>
            </a:xfrm>
            <a:prstGeom prst="rect">
              <a:avLst/>
            </a:prstGeom>
          </p:spPr>
          <p:txBody>
            <a:bodyPr anchor="ctr" rtlCol="false" tIns="0" lIns="0" bIns="0" rIns="0"/>
            <a:lstStyle/>
            <a:p>
              <a:pPr algn="l">
                <a:lnSpc>
                  <a:spcPts val="4050"/>
                </a:lnSpc>
              </a:pPr>
              <a:r>
                <a:rPr lang="en-US" sz="3375" b="true">
                  <a:solidFill>
                    <a:srgbClr val="FFFFFF"/>
                  </a:solidFill>
                  <a:latin typeface="Aptos Bold"/>
                  <a:ea typeface="Aptos Bold"/>
                  <a:cs typeface="Aptos Bold"/>
                  <a:sym typeface="Aptos Bold"/>
                </a:rPr>
                <a:t>Matías Garrido</a:t>
              </a:r>
            </a:p>
          </p:txBody>
        </p:sp>
      </p:grpSp>
      <p:grpSp>
        <p:nvGrpSpPr>
          <p:cNvPr name="Group 31" id="31"/>
          <p:cNvGrpSpPr/>
          <p:nvPr/>
        </p:nvGrpSpPr>
        <p:grpSpPr>
          <a:xfrm rot="0">
            <a:off x="6800850" y="5429250"/>
            <a:ext cx="4357688" cy="2214562"/>
            <a:chOff x="0" y="0"/>
            <a:chExt cx="5810250" cy="2952750"/>
          </a:xfrm>
        </p:grpSpPr>
        <p:sp>
          <p:nvSpPr>
            <p:cNvPr name="Freeform 32" id="32"/>
            <p:cNvSpPr/>
            <p:nvPr/>
          </p:nvSpPr>
          <p:spPr>
            <a:xfrm flipH="false" flipV="false" rot="0">
              <a:off x="0" y="0"/>
              <a:ext cx="5810250" cy="2952750"/>
            </a:xfrm>
            <a:custGeom>
              <a:avLst/>
              <a:gdLst/>
              <a:ahLst/>
              <a:cxnLst/>
              <a:rect r="r" b="b" t="t" l="l"/>
              <a:pathLst>
                <a:path h="2952750" w="5810250">
                  <a:moveTo>
                    <a:pt x="0" y="0"/>
                  </a:moveTo>
                  <a:lnTo>
                    <a:pt x="5810250" y="0"/>
                  </a:lnTo>
                  <a:lnTo>
                    <a:pt x="5810250" y="2952750"/>
                  </a:lnTo>
                  <a:lnTo>
                    <a:pt x="0" y="2952750"/>
                  </a:lnTo>
                  <a:close/>
                </a:path>
              </a:pathLst>
            </a:custGeom>
            <a:blipFill>
              <a:blip r:embed="rId4">
                <a:alphaModFix amt="0"/>
              </a:blip>
              <a:stretch>
                <a:fillRect l="-15203" t="0" r="-15203" b="0"/>
              </a:stretch>
            </a:blipFill>
          </p:spPr>
        </p:sp>
        <p:sp>
          <p:nvSpPr>
            <p:cNvPr name="TextBox 33" id="33"/>
            <p:cNvSpPr txBox="true"/>
            <p:nvPr/>
          </p:nvSpPr>
          <p:spPr>
            <a:xfrm>
              <a:off x="0" y="0"/>
              <a:ext cx="5810250" cy="2952750"/>
            </a:xfrm>
            <a:prstGeom prst="rect">
              <a:avLst/>
            </a:prstGeom>
          </p:spPr>
          <p:txBody>
            <a:bodyPr anchor="ctr" rtlCol="false" tIns="0" lIns="0" bIns="0" rIns="0"/>
            <a:lstStyle/>
            <a:p>
              <a:pPr algn="l">
                <a:lnSpc>
                  <a:spcPts val="3915"/>
                </a:lnSpc>
              </a:pPr>
              <a:r>
                <a:rPr lang="en-US" sz="3262" b="true">
                  <a:solidFill>
                    <a:srgbClr val="153044"/>
                  </a:solidFill>
                  <a:latin typeface="Aptos Bold"/>
                  <a:ea typeface="Aptos Bold"/>
                  <a:cs typeface="Aptos Bold"/>
                  <a:sym typeface="Aptos Bold"/>
                </a:rPr>
                <a:t>Requisitos,</a:t>
              </a:r>
            </a:p>
            <a:p>
              <a:pPr algn="l">
                <a:lnSpc>
                  <a:spcPts val="3915"/>
                </a:lnSpc>
              </a:pPr>
              <a:r>
                <a:rPr lang="en-US" sz="3262" b="true">
                  <a:solidFill>
                    <a:srgbClr val="153044"/>
                  </a:solidFill>
                  <a:latin typeface="Aptos Bold"/>
                  <a:ea typeface="Aptos Bold"/>
                  <a:cs typeface="Aptos Bold"/>
                  <a:sym typeface="Aptos Bold"/>
                </a:rPr>
                <a:t>documentación</a:t>
              </a:r>
            </a:p>
            <a:p>
              <a:pPr algn="l">
                <a:lnSpc>
                  <a:spcPts val="3915"/>
                </a:lnSpc>
              </a:pPr>
              <a:r>
                <a:rPr lang="en-US" sz="3262" b="true">
                  <a:solidFill>
                    <a:srgbClr val="153044"/>
                  </a:solidFill>
                  <a:latin typeface="Aptos Bold"/>
                  <a:ea typeface="Aptos Bold"/>
                  <a:cs typeface="Aptos Bold"/>
                  <a:sym typeface="Aptos Bold"/>
                </a:rPr>
                <a:t>y trazabilidad.</a:t>
              </a:r>
            </a:p>
          </p:txBody>
        </p:sp>
      </p:grpSp>
      <p:grpSp>
        <p:nvGrpSpPr>
          <p:cNvPr name="Group 34" id="34"/>
          <p:cNvGrpSpPr/>
          <p:nvPr/>
        </p:nvGrpSpPr>
        <p:grpSpPr>
          <a:xfrm rot="0">
            <a:off x="12058650" y="3857625"/>
            <a:ext cx="5000625" cy="4429125"/>
            <a:chOff x="0" y="0"/>
            <a:chExt cx="6667500" cy="5905500"/>
          </a:xfrm>
        </p:grpSpPr>
        <p:sp>
          <p:nvSpPr>
            <p:cNvPr name="Freeform 35" id="35"/>
            <p:cNvSpPr/>
            <p:nvPr/>
          </p:nvSpPr>
          <p:spPr>
            <a:xfrm flipH="false" flipV="false" rot="0">
              <a:off x="0" y="0"/>
              <a:ext cx="6667500" cy="5905500"/>
            </a:xfrm>
            <a:custGeom>
              <a:avLst/>
              <a:gdLst/>
              <a:ahLst/>
              <a:cxnLst/>
              <a:rect r="r" b="b" t="t" l="l"/>
              <a:pathLst>
                <a:path h="5905500" w="6667500">
                  <a:moveTo>
                    <a:pt x="0" y="0"/>
                  </a:moveTo>
                  <a:lnTo>
                    <a:pt x="6667500" y="0"/>
                  </a:lnTo>
                  <a:lnTo>
                    <a:pt x="6667500" y="5905500"/>
                  </a:lnTo>
                  <a:lnTo>
                    <a:pt x="0" y="5905500"/>
                  </a:lnTo>
                  <a:close/>
                </a:path>
              </a:pathLst>
            </a:custGeom>
            <a:solidFill>
              <a:srgbClr val="FFFFFF"/>
            </a:solidFill>
          </p:spPr>
        </p:sp>
      </p:grpSp>
      <p:grpSp>
        <p:nvGrpSpPr>
          <p:cNvPr name="Group 36" id="36"/>
          <p:cNvGrpSpPr/>
          <p:nvPr/>
        </p:nvGrpSpPr>
        <p:grpSpPr>
          <a:xfrm rot="0">
            <a:off x="12058650" y="3857625"/>
            <a:ext cx="5000625" cy="1143000"/>
            <a:chOff x="0" y="0"/>
            <a:chExt cx="6667500" cy="1524000"/>
          </a:xfrm>
        </p:grpSpPr>
        <p:sp>
          <p:nvSpPr>
            <p:cNvPr name="Freeform 37" id="37"/>
            <p:cNvSpPr/>
            <p:nvPr/>
          </p:nvSpPr>
          <p:spPr>
            <a:xfrm flipH="false" flipV="false" rot="0">
              <a:off x="0" y="0"/>
              <a:ext cx="6667500" cy="1524000"/>
            </a:xfrm>
            <a:custGeom>
              <a:avLst/>
              <a:gdLst/>
              <a:ahLst/>
              <a:cxnLst/>
              <a:rect r="r" b="b" t="t" l="l"/>
              <a:pathLst>
                <a:path h="1524000" w="6667500">
                  <a:moveTo>
                    <a:pt x="0" y="0"/>
                  </a:moveTo>
                  <a:lnTo>
                    <a:pt x="6667500" y="0"/>
                  </a:lnTo>
                  <a:lnTo>
                    <a:pt x="6667500" y="1524000"/>
                  </a:lnTo>
                  <a:lnTo>
                    <a:pt x="0" y="1524000"/>
                  </a:lnTo>
                  <a:close/>
                </a:path>
              </a:pathLst>
            </a:custGeom>
            <a:solidFill>
              <a:srgbClr val="007F89"/>
            </a:solidFill>
          </p:spPr>
        </p:sp>
      </p:grpSp>
      <p:grpSp>
        <p:nvGrpSpPr>
          <p:cNvPr name="Group 38" id="38"/>
          <p:cNvGrpSpPr/>
          <p:nvPr/>
        </p:nvGrpSpPr>
        <p:grpSpPr>
          <a:xfrm rot="0">
            <a:off x="12372975" y="4000500"/>
            <a:ext cx="4357688" cy="857250"/>
            <a:chOff x="0" y="0"/>
            <a:chExt cx="5810250" cy="1143000"/>
          </a:xfrm>
        </p:grpSpPr>
        <p:sp>
          <p:nvSpPr>
            <p:cNvPr name="Freeform 39" id="39"/>
            <p:cNvSpPr/>
            <p:nvPr/>
          </p:nvSpPr>
          <p:spPr>
            <a:xfrm flipH="false" flipV="false" rot="0">
              <a:off x="0" y="0"/>
              <a:ext cx="5810250" cy="1143000"/>
            </a:xfrm>
            <a:custGeom>
              <a:avLst/>
              <a:gdLst/>
              <a:ahLst/>
              <a:cxnLst/>
              <a:rect r="r" b="b" t="t" l="l"/>
              <a:pathLst>
                <a:path h="1143000" w="5810250">
                  <a:moveTo>
                    <a:pt x="0" y="0"/>
                  </a:moveTo>
                  <a:lnTo>
                    <a:pt x="5810250" y="0"/>
                  </a:lnTo>
                  <a:lnTo>
                    <a:pt x="5810250" y="1143000"/>
                  </a:lnTo>
                  <a:lnTo>
                    <a:pt x="0" y="1143000"/>
                  </a:lnTo>
                  <a:close/>
                </a:path>
              </a:pathLst>
            </a:custGeom>
            <a:blipFill>
              <a:blip r:embed="rId4">
                <a:alphaModFix amt="0"/>
              </a:blip>
              <a:stretch>
                <a:fillRect l="0" t="-49048" r="0" b="-49048"/>
              </a:stretch>
            </a:blipFill>
          </p:spPr>
        </p:sp>
        <p:sp>
          <p:nvSpPr>
            <p:cNvPr name="TextBox 40" id="40"/>
            <p:cNvSpPr txBox="true"/>
            <p:nvPr/>
          </p:nvSpPr>
          <p:spPr>
            <a:xfrm>
              <a:off x="0" y="0"/>
              <a:ext cx="5810250" cy="1143000"/>
            </a:xfrm>
            <a:prstGeom prst="rect">
              <a:avLst/>
            </a:prstGeom>
          </p:spPr>
          <p:txBody>
            <a:bodyPr anchor="ctr" rtlCol="false" tIns="0" lIns="0" bIns="0" rIns="0"/>
            <a:lstStyle/>
            <a:p>
              <a:pPr algn="l">
                <a:lnSpc>
                  <a:spcPts val="4050"/>
                </a:lnSpc>
              </a:pPr>
              <a:r>
                <a:rPr lang="en-US" sz="3375" b="true">
                  <a:solidFill>
                    <a:srgbClr val="FFFFFF"/>
                  </a:solidFill>
                  <a:latin typeface="Aptos Bold"/>
                  <a:ea typeface="Aptos Bold"/>
                  <a:cs typeface="Aptos Bold"/>
                  <a:sym typeface="Aptos Bold"/>
                </a:rPr>
                <a:t>Luis Arenas</a:t>
              </a:r>
            </a:p>
          </p:txBody>
        </p:sp>
      </p:grpSp>
      <p:grpSp>
        <p:nvGrpSpPr>
          <p:cNvPr name="Group 41" id="41"/>
          <p:cNvGrpSpPr/>
          <p:nvPr/>
        </p:nvGrpSpPr>
        <p:grpSpPr>
          <a:xfrm rot="0">
            <a:off x="12372975" y="5429250"/>
            <a:ext cx="4357688" cy="2214562"/>
            <a:chOff x="0" y="0"/>
            <a:chExt cx="5810250" cy="2952750"/>
          </a:xfrm>
        </p:grpSpPr>
        <p:sp>
          <p:nvSpPr>
            <p:cNvPr name="Freeform 42" id="42"/>
            <p:cNvSpPr/>
            <p:nvPr/>
          </p:nvSpPr>
          <p:spPr>
            <a:xfrm flipH="false" flipV="false" rot="0">
              <a:off x="0" y="0"/>
              <a:ext cx="5810250" cy="2952750"/>
            </a:xfrm>
            <a:custGeom>
              <a:avLst/>
              <a:gdLst/>
              <a:ahLst/>
              <a:cxnLst/>
              <a:rect r="r" b="b" t="t" l="l"/>
              <a:pathLst>
                <a:path h="2952750" w="5810250">
                  <a:moveTo>
                    <a:pt x="0" y="0"/>
                  </a:moveTo>
                  <a:lnTo>
                    <a:pt x="5810250" y="0"/>
                  </a:lnTo>
                  <a:lnTo>
                    <a:pt x="5810250" y="2952750"/>
                  </a:lnTo>
                  <a:lnTo>
                    <a:pt x="0" y="2952750"/>
                  </a:lnTo>
                  <a:close/>
                </a:path>
              </a:pathLst>
            </a:custGeom>
            <a:blipFill>
              <a:blip r:embed="rId4">
                <a:alphaModFix amt="0"/>
              </a:blip>
              <a:stretch>
                <a:fillRect l="-15203" t="0" r="-15203" b="0"/>
              </a:stretch>
            </a:blipFill>
          </p:spPr>
        </p:sp>
        <p:sp>
          <p:nvSpPr>
            <p:cNvPr name="TextBox 43" id="43"/>
            <p:cNvSpPr txBox="true"/>
            <p:nvPr/>
          </p:nvSpPr>
          <p:spPr>
            <a:xfrm>
              <a:off x="0" y="0"/>
              <a:ext cx="5810250" cy="2952750"/>
            </a:xfrm>
            <a:prstGeom prst="rect">
              <a:avLst/>
            </a:prstGeom>
          </p:spPr>
          <p:txBody>
            <a:bodyPr anchor="ctr" rtlCol="false" tIns="0" lIns="0" bIns="0" rIns="0"/>
            <a:lstStyle/>
            <a:p>
              <a:pPr algn="l">
                <a:lnSpc>
                  <a:spcPts val="3915"/>
                </a:lnSpc>
              </a:pPr>
              <a:r>
                <a:rPr lang="en-US" sz="3262" b="true">
                  <a:solidFill>
                    <a:srgbClr val="153044"/>
                  </a:solidFill>
                  <a:latin typeface="Aptos Bold"/>
                  <a:ea typeface="Aptos Bold"/>
                  <a:cs typeface="Aptos Bold"/>
                  <a:sym typeface="Aptos Bold"/>
                </a:rPr>
                <a:t>Web, Mobile</a:t>
              </a:r>
            </a:p>
            <a:p>
              <a:pPr algn="l">
                <a:lnSpc>
                  <a:spcPts val="3915"/>
                </a:lnSpc>
              </a:pPr>
              <a:r>
                <a:rPr lang="en-US" sz="3262" b="true">
                  <a:solidFill>
                    <a:srgbClr val="153044"/>
                  </a:solidFill>
                  <a:latin typeface="Aptos Bold"/>
                  <a:ea typeface="Aptos Bold"/>
                  <a:cs typeface="Aptos Bold"/>
                  <a:sym typeface="Aptos Bold"/>
                </a:rPr>
                <a:t>y experiencia</a:t>
              </a:r>
            </a:p>
            <a:p>
              <a:pPr algn="l">
                <a:lnSpc>
                  <a:spcPts val="3915"/>
                </a:lnSpc>
              </a:pPr>
              <a:r>
                <a:rPr lang="en-US" sz="3262" b="true">
                  <a:solidFill>
                    <a:srgbClr val="153044"/>
                  </a:solidFill>
                  <a:latin typeface="Aptos Bold"/>
                  <a:ea typeface="Aptos Bold"/>
                  <a:cs typeface="Aptos Bold"/>
                  <a:sym typeface="Aptos Bold"/>
                </a:rPr>
                <a:t>de usuario.</a:t>
              </a:r>
            </a:p>
          </p:txBody>
        </p:sp>
      </p:grpSp>
      <p:grpSp>
        <p:nvGrpSpPr>
          <p:cNvPr name="Group 44" id="44"/>
          <p:cNvGrpSpPr/>
          <p:nvPr/>
        </p:nvGrpSpPr>
        <p:grpSpPr>
          <a:xfrm rot="0">
            <a:off x="14360804" y="430782"/>
            <a:ext cx="3069946" cy="852936"/>
            <a:chOff x="0" y="0"/>
            <a:chExt cx="2799232" cy="777723"/>
          </a:xfrm>
        </p:grpSpPr>
        <p:sp>
          <p:nvSpPr>
            <p:cNvPr name="Freeform 45" id="45"/>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423281" r="0" b="-423281"/>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Contexto operacional</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5">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Mantenimiento de activos del transporte público</a:t>
              </a:r>
            </a:p>
          </p:txBody>
        </p:sp>
      </p:grpSp>
      <p:grpSp>
        <p:nvGrpSpPr>
          <p:cNvPr name="Group 9" id="9"/>
          <p:cNvGrpSpPr/>
          <p:nvPr/>
        </p:nvGrpSpPr>
        <p:grpSpPr>
          <a:xfrm rot="0">
            <a:off x="914400" y="2886075"/>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5">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03</a:t>
              </a:r>
            </a:p>
          </p:txBody>
        </p:sp>
      </p:grpSp>
      <p:grpSp>
        <p:nvGrpSpPr>
          <p:cNvPr name="Group 14" id="14"/>
          <p:cNvGrpSpPr/>
          <p:nvPr/>
        </p:nvGrpSpPr>
        <p:grpSpPr>
          <a:xfrm rot="0">
            <a:off x="914400" y="3571875"/>
            <a:ext cx="8858250" cy="928688"/>
            <a:chOff x="0" y="0"/>
            <a:chExt cx="11811000" cy="1238250"/>
          </a:xfrm>
        </p:grpSpPr>
        <p:sp>
          <p:nvSpPr>
            <p:cNvPr name="Freeform 15" id="15"/>
            <p:cNvSpPr/>
            <p:nvPr/>
          </p:nvSpPr>
          <p:spPr>
            <a:xfrm flipH="false" flipV="false" rot="0">
              <a:off x="0" y="0"/>
              <a:ext cx="11811000" cy="1238250"/>
            </a:xfrm>
            <a:custGeom>
              <a:avLst/>
              <a:gdLst/>
              <a:ahLst/>
              <a:cxnLst/>
              <a:rect r="r" b="b" t="t" l="l"/>
              <a:pathLst>
                <a:path h="1238250" w="11811000">
                  <a:moveTo>
                    <a:pt x="0" y="0"/>
                  </a:moveTo>
                  <a:lnTo>
                    <a:pt x="11811000" y="0"/>
                  </a:lnTo>
                  <a:lnTo>
                    <a:pt x="11811000" y="1238250"/>
                  </a:lnTo>
                  <a:lnTo>
                    <a:pt x="0" y="1238250"/>
                  </a:lnTo>
                  <a:close/>
                </a:path>
              </a:pathLst>
            </a:custGeom>
            <a:blipFill>
              <a:blip r:embed="rId5">
                <a:alphaModFix amt="0"/>
              </a:blip>
              <a:stretch>
                <a:fillRect l="0" t="-135857" r="0" b="-135857"/>
              </a:stretch>
            </a:blipFill>
          </p:spPr>
        </p:sp>
        <p:sp>
          <p:nvSpPr>
            <p:cNvPr name="TextBox 16" id="16"/>
            <p:cNvSpPr txBox="true"/>
            <p:nvPr/>
          </p:nvSpPr>
          <p:spPr>
            <a:xfrm>
              <a:off x="0" y="9525"/>
              <a:ext cx="11811000" cy="1228725"/>
            </a:xfrm>
            <a:prstGeom prst="rect">
              <a:avLst/>
            </a:prstGeom>
          </p:spPr>
          <p:txBody>
            <a:bodyPr anchor="ctr" rtlCol="false" tIns="0" lIns="0" bIns="0" rIns="0"/>
            <a:lstStyle/>
            <a:p>
              <a:pPr algn="l">
                <a:lnSpc>
                  <a:spcPts val="4860"/>
                </a:lnSpc>
              </a:pPr>
              <a:r>
                <a:rPr lang="en-US" sz="4050" b="true">
                  <a:solidFill>
                    <a:srgbClr val="1766C8"/>
                  </a:solidFill>
                  <a:latin typeface="Aptos Bold"/>
                  <a:ea typeface="Aptos Bold"/>
                  <a:cs typeface="Aptos Bold"/>
                  <a:sym typeface="Aptos Bold"/>
                </a:rPr>
                <a:t>Validadores y consolas</a:t>
              </a:r>
            </a:p>
          </p:txBody>
        </p:sp>
      </p:grpSp>
      <p:grpSp>
        <p:nvGrpSpPr>
          <p:cNvPr name="Group 17" id="17"/>
          <p:cNvGrpSpPr/>
          <p:nvPr/>
        </p:nvGrpSpPr>
        <p:grpSpPr>
          <a:xfrm rot="0">
            <a:off x="914400" y="4714875"/>
            <a:ext cx="8429625" cy="1571625"/>
            <a:chOff x="0" y="0"/>
            <a:chExt cx="11239500" cy="2095500"/>
          </a:xfrm>
        </p:grpSpPr>
        <p:sp>
          <p:nvSpPr>
            <p:cNvPr name="Freeform 18" id="18"/>
            <p:cNvSpPr/>
            <p:nvPr/>
          </p:nvSpPr>
          <p:spPr>
            <a:xfrm flipH="false" flipV="false" rot="0">
              <a:off x="0" y="0"/>
              <a:ext cx="11239500" cy="2095500"/>
            </a:xfrm>
            <a:custGeom>
              <a:avLst/>
              <a:gdLst/>
              <a:ahLst/>
              <a:cxnLst/>
              <a:rect r="r" b="b" t="t" l="l"/>
              <a:pathLst>
                <a:path h="2095500" w="11239500">
                  <a:moveTo>
                    <a:pt x="0" y="0"/>
                  </a:moveTo>
                  <a:lnTo>
                    <a:pt x="11239500" y="0"/>
                  </a:lnTo>
                  <a:lnTo>
                    <a:pt x="11239500" y="2095500"/>
                  </a:lnTo>
                  <a:lnTo>
                    <a:pt x="0" y="2095500"/>
                  </a:lnTo>
                  <a:close/>
                </a:path>
              </a:pathLst>
            </a:custGeom>
            <a:blipFill>
              <a:blip r:embed="rId5">
                <a:alphaModFix amt="0"/>
              </a:blip>
              <a:stretch>
                <a:fillRect l="0" t="-54510" r="0" b="-54510"/>
              </a:stretch>
            </a:blipFill>
          </p:spPr>
        </p:sp>
        <p:sp>
          <p:nvSpPr>
            <p:cNvPr name="TextBox 19" id="19"/>
            <p:cNvSpPr txBox="true"/>
            <p:nvPr/>
          </p:nvSpPr>
          <p:spPr>
            <a:xfrm>
              <a:off x="0" y="0"/>
              <a:ext cx="11239500" cy="2095500"/>
            </a:xfrm>
            <a:prstGeom prst="rect">
              <a:avLst/>
            </a:prstGeom>
          </p:spPr>
          <p:txBody>
            <a:bodyPr anchor="ctr" rtlCol="false" tIns="0" lIns="0" bIns="0" rIns="0"/>
            <a:lstStyle/>
            <a:p>
              <a:pPr algn="l">
                <a:lnSpc>
                  <a:spcPts val="4050"/>
                </a:lnSpc>
              </a:pPr>
              <a:r>
                <a:rPr lang="en-US" sz="3375">
                  <a:solidFill>
                    <a:srgbClr val="153044"/>
                  </a:solidFill>
                  <a:latin typeface="Aptos"/>
                  <a:ea typeface="Aptos"/>
                  <a:cs typeface="Aptos"/>
                  <a:sym typeface="Aptos"/>
                </a:rPr>
                <a:t>Equipos que recorren varias áreas</a:t>
              </a:r>
            </a:p>
            <a:p>
              <a:pPr algn="l">
                <a:lnSpc>
                  <a:spcPts val="4050"/>
                </a:lnSpc>
              </a:pPr>
              <a:r>
                <a:rPr lang="en-US" sz="3375">
                  <a:solidFill>
                    <a:srgbClr val="153044"/>
                  </a:solidFill>
                  <a:latin typeface="Aptos"/>
                  <a:ea typeface="Aptos"/>
                  <a:cs typeface="Aptos"/>
                  <a:sym typeface="Aptos"/>
                </a:rPr>
                <a:t>durante su mantenimiento.</a:t>
              </a:r>
            </a:p>
          </p:txBody>
        </p:sp>
      </p:grpSp>
      <p:grpSp>
        <p:nvGrpSpPr>
          <p:cNvPr name="Group 20" id="20"/>
          <p:cNvGrpSpPr/>
          <p:nvPr/>
        </p:nvGrpSpPr>
        <p:grpSpPr>
          <a:xfrm rot="0">
            <a:off x="914400" y="7143750"/>
            <a:ext cx="8715375" cy="1428750"/>
            <a:chOff x="0" y="0"/>
            <a:chExt cx="11620500" cy="1905000"/>
          </a:xfrm>
        </p:grpSpPr>
        <p:sp>
          <p:nvSpPr>
            <p:cNvPr name="Freeform 21" id="21"/>
            <p:cNvSpPr/>
            <p:nvPr/>
          </p:nvSpPr>
          <p:spPr>
            <a:xfrm flipH="false" flipV="false" rot="0">
              <a:off x="0" y="0"/>
              <a:ext cx="11620500" cy="1905000"/>
            </a:xfrm>
            <a:custGeom>
              <a:avLst/>
              <a:gdLst/>
              <a:ahLst/>
              <a:cxnLst/>
              <a:rect r="r" b="b" t="t" l="l"/>
              <a:pathLst>
                <a:path h="1905000" w="11620500">
                  <a:moveTo>
                    <a:pt x="0" y="0"/>
                  </a:moveTo>
                  <a:lnTo>
                    <a:pt x="11620500" y="0"/>
                  </a:lnTo>
                  <a:lnTo>
                    <a:pt x="11620500" y="1905000"/>
                  </a:lnTo>
                  <a:lnTo>
                    <a:pt x="0" y="1905000"/>
                  </a:lnTo>
                  <a:close/>
                </a:path>
              </a:pathLst>
            </a:custGeom>
            <a:blipFill>
              <a:blip r:embed="rId5">
                <a:alphaModFix amt="0"/>
              </a:blip>
              <a:stretch>
                <a:fillRect l="0" t="-68858" r="0" b="-68858"/>
              </a:stretch>
            </a:blipFill>
          </p:spPr>
        </p:sp>
        <p:sp>
          <p:nvSpPr>
            <p:cNvPr name="TextBox 22" id="22"/>
            <p:cNvSpPr txBox="true"/>
            <p:nvPr/>
          </p:nvSpPr>
          <p:spPr>
            <a:xfrm>
              <a:off x="0" y="0"/>
              <a:ext cx="11620500" cy="1905000"/>
            </a:xfrm>
            <a:prstGeom prst="rect">
              <a:avLst/>
            </a:prstGeom>
          </p:spPr>
          <p:txBody>
            <a:bodyPr anchor="ctr" rtlCol="false" tIns="0" lIns="0" bIns="0" rIns="0"/>
            <a:lstStyle/>
            <a:p>
              <a:pPr algn="l">
                <a:lnSpc>
                  <a:spcPts val="3779"/>
                </a:lnSpc>
              </a:pPr>
              <a:r>
                <a:rPr lang="en-US" sz="3150">
                  <a:solidFill>
                    <a:srgbClr val="153044"/>
                  </a:solidFill>
                  <a:latin typeface="Aptos"/>
                  <a:ea typeface="Aptos"/>
                  <a:cs typeface="Aptos"/>
                  <a:sym typeface="Aptos"/>
                </a:rPr>
                <a:t>Cada área necesita conocer identidad,</a:t>
              </a:r>
            </a:p>
            <a:p>
              <a:pPr algn="l">
                <a:lnSpc>
                  <a:spcPts val="3779"/>
                </a:lnSpc>
              </a:pPr>
              <a:r>
                <a:rPr lang="en-US" sz="3150">
                  <a:solidFill>
                    <a:srgbClr val="153044"/>
                  </a:solidFill>
                  <a:latin typeface="Aptos"/>
                  <a:ea typeface="Aptos"/>
                  <a:cs typeface="Aptos"/>
                  <a:sym typeface="Aptos"/>
                </a:rPr>
                <a:t>antecedentes y custodia del activo.</a:t>
              </a:r>
            </a:p>
          </p:txBody>
        </p:sp>
      </p:grpSp>
      <p:grpSp>
        <p:nvGrpSpPr>
          <p:cNvPr name="Group 23" id="23"/>
          <p:cNvGrpSpPr/>
          <p:nvPr/>
        </p:nvGrpSpPr>
        <p:grpSpPr>
          <a:xfrm rot="0">
            <a:off x="10572750" y="3357562"/>
            <a:ext cx="6715125" cy="5357812"/>
            <a:chOff x="0" y="0"/>
            <a:chExt cx="8953500" cy="7143750"/>
          </a:xfrm>
        </p:grpSpPr>
        <p:sp>
          <p:nvSpPr>
            <p:cNvPr name="Freeform 24" id="24"/>
            <p:cNvSpPr/>
            <p:nvPr/>
          </p:nvSpPr>
          <p:spPr>
            <a:xfrm flipH="false" flipV="false" rot="0">
              <a:off x="0" y="0"/>
              <a:ext cx="8953500" cy="7143750"/>
            </a:xfrm>
            <a:custGeom>
              <a:avLst/>
              <a:gdLst/>
              <a:ahLst/>
              <a:cxnLst/>
              <a:rect r="r" b="b" t="t" l="l"/>
              <a:pathLst>
                <a:path h="7143750" w="8953500">
                  <a:moveTo>
                    <a:pt x="0" y="0"/>
                  </a:moveTo>
                  <a:lnTo>
                    <a:pt x="8953500" y="0"/>
                  </a:lnTo>
                  <a:lnTo>
                    <a:pt x="8953500" y="7143750"/>
                  </a:lnTo>
                  <a:lnTo>
                    <a:pt x="0" y="7143750"/>
                  </a:lnTo>
                  <a:close/>
                </a:path>
              </a:pathLst>
            </a:custGeom>
            <a:blipFill>
              <a:blip r:embed="rId4"/>
              <a:stretch>
                <a:fillRect l="-21323" t="0" r="-21323" b="0"/>
              </a:stretch>
            </a:blipFill>
          </p:spPr>
        </p:sp>
      </p:grpSp>
      <p:grpSp>
        <p:nvGrpSpPr>
          <p:cNvPr name="Group 25" id="25"/>
          <p:cNvGrpSpPr/>
          <p:nvPr/>
        </p:nvGrpSpPr>
        <p:grpSpPr>
          <a:xfrm rot="0">
            <a:off x="11144250" y="3464719"/>
            <a:ext cx="5572125" cy="5143500"/>
            <a:chOff x="0" y="0"/>
            <a:chExt cx="7429500" cy="6858000"/>
          </a:xfrm>
        </p:grpSpPr>
        <p:sp>
          <p:nvSpPr>
            <p:cNvPr name="Freeform 26" id="26"/>
            <p:cNvSpPr/>
            <p:nvPr/>
          </p:nvSpPr>
          <p:spPr>
            <a:xfrm flipH="false" flipV="false" rot="0">
              <a:off x="0" y="0"/>
              <a:ext cx="7429500" cy="6858000"/>
            </a:xfrm>
            <a:custGeom>
              <a:avLst/>
              <a:gdLst/>
              <a:ahLst/>
              <a:cxnLst/>
              <a:rect r="r" b="b" t="t" l="l"/>
              <a:pathLst>
                <a:path h="6858000" w="7429500">
                  <a:moveTo>
                    <a:pt x="0" y="0"/>
                  </a:moveTo>
                  <a:lnTo>
                    <a:pt x="7429500" y="0"/>
                  </a:lnTo>
                  <a:lnTo>
                    <a:pt x="7429500" y="6858000"/>
                  </a:lnTo>
                  <a:lnTo>
                    <a:pt x="0" y="6858000"/>
                  </a:lnTo>
                  <a:close/>
                </a:path>
              </a:pathLst>
            </a:custGeom>
            <a:blipFill>
              <a:blip r:embed="rId5">
                <a:alphaModFix amt="0"/>
              </a:blip>
              <a:stretch>
                <a:fillRect l="-68434" t="0" r="-68434" b="0"/>
              </a:stretch>
            </a:blipFill>
          </p:spPr>
        </p:sp>
        <p:sp>
          <p:nvSpPr>
            <p:cNvPr name="TextBox 27" id="27"/>
            <p:cNvSpPr txBox="true"/>
            <p:nvPr/>
          </p:nvSpPr>
          <p:spPr>
            <a:xfrm>
              <a:off x="0" y="0"/>
              <a:ext cx="7429500" cy="6858000"/>
            </a:xfrm>
            <a:prstGeom prst="rect">
              <a:avLst/>
            </a:prstGeom>
          </p:spPr>
          <p:txBody>
            <a:bodyPr anchor="ctr" rtlCol="false" tIns="0" lIns="0" bIns="0" rIns="0"/>
            <a:lstStyle/>
            <a:p>
              <a:pPr algn="l">
                <a:lnSpc>
                  <a:spcPts val="4050"/>
                </a:lnSpc>
              </a:pPr>
              <a:r>
                <a:rPr lang="en-US" sz="3375" b="true">
                  <a:solidFill>
                    <a:srgbClr val="FFFFFF"/>
                  </a:solidFill>
                  <a:latin typeface="Aptos Bold"/>
                  <a:ea typeface="Aptos Bold"/>
                  <a:cs typeface="Aptos Bold"/>
                  <a:sym typeface="Aptos Bold"/>
                </a:rPr>
                <a:t>TERRENO</a:t>
              </a:r>
            </a:p>
            <a:p>
              <a:pPr algn="l">
                <a:lnSpc>
                  <a:spcPts val="3240"/>
                </a:lnSpc>
              </a:pPr>
            </a:p>
            <a:p>
              <a:pPr algn="l">
                <a:lnSpc>
                  <a:spcPts val="4050"/>
                </a:lnSpc>
              </a:pPr>
              <a:r>
                <a:rPr lang="en-US" sz="3375" b="true">
                  <a:solidFill>
                    <a:srgbClr val="FFFFFF"/>
                  </a:solidFill>
                  <a:latin typeface="Aptos Bold"/>
                  <a:ea typeface="Aptos Bold"/>
                  <a:cs typeface="Aptos Bold"/>
                  <a:sym typeface="Aptos Bold"/>
                </a:rPr>
                <a:t>LOGÍSTICA / BODEGA</a:t>
              </a:r>
            </a:p>
            <a:p>
              <a:pPr algn="l">
                <a:lnSpc>
                  <a:spcPts val="3240"/>
                </a:lnSpc>
              </a:pPr>
            </a:p>
            <a:p>
              <a:pPr algn="l">
                <a:lnSpc>
                  <a:spcPts val="4050"/>
                </a:lnSpc>
              </a:pPr>
              <a:r>
                <a:rPr lang="en-US" sz="3375" b="true">
                  <a:solidFill>
                    <a:srgbClr val="FFFFFF"/>
                  </a:solidFill>
                  <a:latin typeface="Aptos Bold"/>
                  <a:ea typeface="Aptos Bold"/>
                  <a:cs typeface="Aptos Bold"/>
                  <a:sym typeface="Aptos Bold"/>
                </a:rPr>
                <a:t>LABORATORIO</a:t>
              </a:r>
            </a:p>
            <a:p>
              <a:pPr algn="l">
                <a:lnSpc>
                  <a:spcPts val="3240"/>
                </a:lnSpc>
              </a:pPr>
            </a:p>
            <a:p>
              <a:pPr algn="l">
                <a:lnSpc>
                  <a:spcPts val="4050"/>
                </a:lnSpc>
              </a:pPr>
              <a:r>
                <a:rPr lang="en-US" sz="3375" b="true">
                  <a:solidFill>
                    <a:srgbClr val="FFFFFF"/>
                  </a:solidFill>
                  <a:latin typeface="Aptos Bold"/>
                  <a:ea typeface="Aptos Bold"/>
                  <a:cs typeface="Aptos Bold"/>
                  <a:sym typeface="Aptos Bold"/>
                </a:rPr>
                <a:t>CALIDAD QA</a:t>
              </a:r>
            </a:p>
          </p:txBody>
        </p:sp>
      </p:grpSp>
      <p:grpSp>
        <p:nvGrpSpPr>
          <p:cNvPr name="Group 28" id="28"/>
          <p:cNvGrpSpPr/>
          <p:nvPr/>
        </p:nvGrpSpPr>
        <p:grpSpPr>
          <a:xfrm rot="0">
            <a:off x="14360804" y="430782"/>
            <a:ext cx="3069946" cy="852936"/>
            <a:chOff x="0" y="0"/>
            <a:chExt cx="2799232" cy="777723"/>
          </a:xfrm>
        </p:grpSpPr>
        <p:sp>
          <p:nvSpPr>
            <p:cNvPr name="Freeform 29" id="29"/>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6"/>
              <a:stretch>
                <a:fillRect l="0" t="0" r="0" b="3"/>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Problemática y proceso actual</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AS-IS: procesos independientes y registros por área</a:t>
              </a:r>
            </a:p>
          </p:txBody>
        </p:sp>
      </p:grpSp>
      <p:grpSp>
        <p:nvGrpSpPr>
          <p:cNvPr name="Group 9" id="9"/>
          <p:cNvGrpSpPr/>
          <p:nvPr/>
        </p:nvGrpSpPr>
        <p:grpSpPr>
          <a:xfrm rot="0">
            <a:off x="914400" y="2886075"/>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04</a:t>
              </a:r>
            </a:p>
          </p:txBody>
        </p:sp>
      </p:grpSp>
      <p:grpSp>
        <p:nvGrpSpPr>
          <p:cNvPr name="Group 14" id="14"/>
          <p:cNvGrpSpPr/>
          <p:nvPr/>
        </p:nvGrpSpPr>
        <p:grpSpPr>
          <a:xfrm rot="0">
            <a:off x="914400" y="3500438"/>
            <a:ext cx="3857625" cy="500062"/>
            <a:chOff x="0" y="0"/>
            <a:chExt cx="5143500" cy="666750"/>
          </a:xfrm>
        </p:grpSpPr>
        <p:sp>
          <p:nvSpPr>
            <p:cNvPr name="Freeform 15" id="15"/>
            <p:cNvSpPr/>
            <p:nvPr/>
          </p:nvSpPr>
          <p:spPr>
            <a:xfrm flipH="false" flipV="false" rot="0">
              <a:off x="0" y="0"/>
              <a:ext cx="5143500" cy="666750"/>
            </a:xfrm>
            <a:custGeom>
              <a:avLst/>
              <a:gdLst/>
              <a:ahLst/>
              <a:cxnLst/>
              <a:rect r="r" b="b" t="t" l="l"/>
              <a:pathLst>
                <a:path h="666750" w="5143500">
                  <a:moveTo>
                    <a:pt x="0" y="0"/>
                  </a:moveTo>
                  <a:lnTo>
                    <a:pt x="5143500" y="0"/>
                  </a:lnTo>
                  <a:lnTo>
                    <a:pt x="5143500" y="666750"/>
                  </a:lnTo>
                  <a:lnTo>
                    <a:pt x="0" y="666750"/>
                  </a:lnTo>
                  <a:close/>
                </a:path>
              </a:pathLst>
            </a:custGeom>
            <a:blipFill>
              <a:blip r:embed="rId4">
                <a:alphaModFix amt="0"/>
              </a:blip>
              <a:stretch>
                <a:fillRect l="0" t="-100313" r="0" b="-100313"/>
              </a:stretch>
            </a:blipFill>
          </p:spPr>
        </p:sp>
        <p:sp>
          <p:nvSpPr>
            <p:cNvPr name="TextBox 16" id="16"/>
            <p:cNvSpPr txBox="true"/>
            <p:nvPr/>
          </p:nvSpPr>
          <p:spPr>
            <a:xfrm>
              <a:off x="0" y="0"/>
              <a:ext cx="5143500" cy="666750"/>
            </a:xfrm>
            <a:prstGeom prst="rect">
              <a:avLst/>
            </a:prstGeom>
          </p:spPr>
          <p:txBody>
            <a:bodyPr anchor="ctr" rtlCol="false" tIns="0" lIns="0" bIns="0" rIns="0"/>
            <a:lstStyle/>
            <a:p>
              <a:pPr algn="l">
                <a:lnSpc>
                  <a:spcPts val="3240"/>
                </a:lnSpc>
              </a:pPr>
              <a:r>
                <a:rPr lang="en-US" sz="2700" b="true">
                  <a:solidFill>
                    <a:srgbClr val="153044"/>
                  </a:solidFill>
                  <a:latin typeface="Aptos Bold"/>
                  <a:ea typeface="Aptos Bold"/>
                  <a:cs typeface="Aptos Bold"/>
                  <a:sym typeface="Aptos Bold"/>
                </a:rPr>
                <a:t>TERRENO</a:t>
              </a:r>
            </a:p>
          </p:txBody>
        </p:sp>
      </p:grpSp>
      <p:grpSp>
        <p:nvGrpSpPr>
          <p:cNvPr name="Group 17" id="17"/>
          <p:cNvGrpSpPr/>
          <p:nvPr/>
        </p:nvGrpSpPr>
        <p:grpSpPr>
          <a:xfrm rot="0">
            <a:off x="907256" y="4279106"/>
            <a:ext cx="3729038" cy="1443038"/>
            <a:chOff x="0" y="0"/>
            <a:chExt cx="4972050" cy="1924050"/>
          </a:xfrm>
        </p:grpSpPr>
        <p:sp>
          <p:nvSpPr>
            <p:cNvPr name="Freeform 18" id="18"/>
            <p:cNvSpPr/>
            <p:nvPr/>
          </p:nvSpPr>
          <p:spPr>
            <a:xfrm flipH="false" flipV="false" rot="0">
              <a:off x="0" y="0"/>
              <a:ext cx="4972050" cy="1924050"/>
            </a:xfrm>
            <a:custGeom>
              <a:avLst/>
              <a:gdLst/>
              <a:ahLst/>
              <a:cxnLst/>
              <a:rect r="r" b="b" t="t" l="l"/>
              <a:pathLst>
                <a:path h="1924050" w="4972050">
                  <a:moveTo>
                    <a:pt x="0" y="0"/>
                  </a:moveTo>
                  <a:lnTo>
                    <a:pt x="4972050" y="0"/>
                  </a:lnTo>
                  <a:lnTo>
                    <a:pt x="4972050" y="1924050"/>
                  </a:lnTo>
                  <a:lnTo>
                    <a:pt x="0" y="1924050"/>
                  </a:lnTo>
                  <a:close/>
                </a:path>
              </a:pathLst>
            </a:custGeom>
            <a:solidFill>
              <a:srgbClr val="EAF2F9"/>
            </a:solidFill>
            <a:ln w="14288" cap="sq">
              <a:solidFill>
                <a:srgbClr val="D5E3EC"/>
              </a:solidFill>
              <a:prstDash val="solid"/>
              <a:miter/>
            </a:ln>
          </p:spPr>
        </p:sp>
      </p:grpSp>
      <p:grpSp>
        <p:nvGrpSpPr>
          <p:cNvPr name="Group 19" id="19"/>
          <p:cNvGrpSpPr/>
          <p:nvPr/>
        </p:nvGrpSpPr>
        <p:grpSpPr>
          <a:xfrm rot="0">
            <a:off x="914400" y="4286250"/>
            <a:ext cx="71438" cy="1428750"/>
            <a:chOff x="0" y="0"/>
            <a:chExt cx="95250" cy="1905000"/>
          </a:xfrm>
        </p:grpSpPr>
        <p:sp>
          <p:nvSpPr>
            <p:cNvPr name="Freeform 20" id="20"/>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21" id="21"/>
          <p:cNvGrpSpPr/>
          <p:nvPr/>
        </p:nvGrpSpPr>
        <p:grpSpPr>
          <a:xfrm rot="0">
            <a:off x="1157288" y="4457700"/>
            <a:ext cx="3228975" cy="1085850"/>
            <a:chOff x="0" y="0"/>
            <a:chExt cx="4305300" cy="1447800"/>
          </a:xfrm>
        </p:grpSpPr>
        <p:sp>
          <p:nvSpPr>
            <p:cNvPr name="Freeform 22" id="22"/>
            <p:cNvSpPr/>
            <p:nvPr/>
          </p:nvSpPr>
          <p:spPr>
            <a:xfrm flipH="false" flipV="false" rot="0">
              <a:off x="0" y="0"/>
              <a:ext cx="4305300" cy="1447800"/>
            </a:xfrm>
            <a:custGeom>
              <a:avLst/>
              <a:gdLst/>
              <a:ahLst/>
              <a:cxnLst/>
              <a:rect r="r" b="b" t="t" l="l"/>
              <a:pathLst>
                <a:path h="1447800" w="4305300">
                  <a:moveTo>
                    <a:pt x="0" y="0"/>
                  </a:moveTo>
                  <a:lnTo>
                    <a:pt x="4305300" y="0"/>
                  </a:lnTo>
                  <a:lnTo>
                    <a:pt x="4305300" y="1447800"/>
                  </a:lnTo>
                  <a:lnTo>
                    <a:pt x="0" y="1447800"/>
                  </a:lnTo>
                  <a:close/>
                </a:path>
              </a:pathLst>
            </a:custGeom>
            <a:blipFill>
              <a:blip r:embed="rId4">
                <a:alphaModFix amt="0"/>
              </a:blip>
              <a:stretch>
                <a:fillRect l="0" t="-7942" r="0" b="-7942"/>
              </a:stretch>
            </a:blipFill>
          </p:spPr>
        </p:sp>
        <p:sp>
          <p:nvSpPr>
            <p:cNvPr name="TextBox 23" id="23"/>
            <p:cNvSpPr txBox="true"/>
            <p:nvPr/>
          </p:nvSpPr>
          <p:spPr>
            <a:xfrm>
              <a:off x="0" y="0"/>
              <a:ext cx="43053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Retiros e</a:t>
              </a:r>
            </a:p>
            <a:p>
              <a:pPr algn="l">
                <a:lnSpc>
                  <a:spcPts val="3104"/>
                </a:lnSpc>
              </a:pPr>
              <a:r>
                <a:rPr lang="en-US" sz="2587" b="true">
                  <a:solidFill>
                    <a:srgbClr val="153044"/>
                  </a:solidFill>
                  <a:latin typeface="Aptos Bold"/>
                  <a:ea typeface="Aptos Bold"/>
                  <a:cs typeface="Aptos Bold"/>
                  <a:sym typeface="Aptos Bold"/>
                </a:rPr>
                <a:t>instalaciones</a:t>
              </a:r>
            </a:p>
          </p:txBody>
        </p:sp>
      </p:grpSp>
      <p:grpSp>
        <p:nvGrpSpPr>
          <p:cNvPr name="Group 24" id="24"/>
          <p:cNvGrpSpPr/>
          <p:nvPr/>
        </p:nvGrpSpPr>
        <p:grpSpPr>
          <a:xfrm rot="0">
            <a:off x="907256" y="6636544"/>
            <a:ext cx="3729038" cy="1228725"/>
            <a:chOff x="0" y="0"/>
            <a:chExt cx="4972050" cy="1638300"/>
          </a:xfrm>
        </p:grpSpPr>
        <p:sp>
          <p:nvSpPr>
            <p:cNvPr name="Freeform 25" id="25"/>
            <p:cNvSpPr/>
            <p:nvPr/>
          </p:nvSpPr>
          <p:spPr>
            <a:xfrm flipH="false" flipV="false" rot="0">
              <a:off x="0" y="0"/>
              <a:ext cx="4972050" cy="1638300"/>
            </a:xfrm>
            <a:custGeom>
              <a:avLst/>
              <a:gdLst/>
              <a:ahLst/>
              <a:cxnLst/>
              <a:rect r="r" b="b" t="t" l="l"/>
              <a:pathLst>
                <a:path h="1638300" w="4972050">
                  <a:moveTo>
                    <a:pt x="0" y="0"/>
                  </a:moveTo>
                  <a:lnTo>
                    <a:pt x="4972050" y="0"/>
                  </a:lnTo>
                  <a:lnTo>
                    <a:pt x="4972050" y="1638300"/>
                  </a:lnTo>
                  <a:lnTo>
                    <a:pt x="0" y="1638300"/>
                  </a:lnTo>
                  <a:close/>
                </a:path>
              </a:pathLst>
            </a:custGeom>
            <a:solidFill>
              <a:srgbClr val="0D1C29"/>
            </a:solidFill>
            <a:ln w="14288" cap="sq">
              <a:solidFill>
                <a:srgbClr val="D5E3EC"/>
              </a:solidFill>
              <a:prstDash val="solid"/>
              <a:miter/>
            </a:ln>
          </p:spPr>
        </p:sp>
      </p:grpSp>
      <p:grpSp>
        <p:nvGrpSpPr>
          <p:cNvPr name="Group 26" id="26"/>
          <p:cNvGrpSpPr/>
          <p:nvPr/>
        </p:nvGrpSpPr>
        <p:grpSpPr>
          <a:xfrm rot="0">
            <a:off x="914400" y="6643688"/>
            <a:ext cx="71438" cy="1214438"/>
            <a:chOff x="0" y="0"/>
            <a:chExt cx="95250" cy="1619250"/>
          </a:xfrm>
        </p:grpSpPr>
        <p:sp>
          <p:nvSpPr>
            <p:cNvPr name="Freeform 27" id="27"/>
            <p:cNvSpPr/>
            <p:nvPr/>
          </p:nvSpPr>
          <p:spPr>
            <a:xfrm flipH="false" flipV="false" rot="0">
              <a:off x="0" y="0"/>
              <a:ext cx="95250" cy="1619250"/>
            </a:xfrm>
            <a:custGeom>
              <a:avLst/>
              <a:gdLst/>
              <a:ahLst/>
              <a:cxnLst/>
              <a:rect r="r" b="b" t="t" l="l"/>
              <a:pathLst>
                <a:path h="1619250" w="95250">
                  <a:moveTo>
                    <a:pt x="0" y="0"/>
                  </a:moveTo>
                  <a:lnTo>
                    <a:pt x="95250" y="0"/>
                  </a:lnTo>
                  <a:lnTo>
                    <a:pt x="95250" y="1619250"/>
                  </a:lnTo>
                  <a:lnTo>
                    <a:pt x="0" y="1619250"/>
                  </a:lnTo>
                  <a:close/>
                </a:path>
              </a:pathLst>
            </a:custGeom>
            <a:solidFill>
              <a:srgbClr val="007F89"/>
            </a:solidFill>
          </p:spPr>
        </p:sp>
      </p:grpSp>
      <p:grpSp>
        <p:nvGrpSpPr>
          <p:cNvPr name="Group 28" id="28"/>
          <p:cNvGrpSpPr/>
          <p:nvPr/>
        </p:nvGrpSpPr>
        <p:grpSpPr>
          <a:xfrm rot="0">
            <a:off x="1157288" y="6815138"/>
            <a:ext cx="3228975" cy="871538"/>
            <a:chOff x="0" y="0"/>
            <a:chExt cx="4305300" cy="1162050"/>
          </a:xfrm>
        </p:grpSpPr>
        <p:sp>
          <p:nvSpPr>
            <p:cNvPr name="Freeform 29" id="29"/>
            <p:cNvSpPr/>
            <p:nvPr/>
          </p:nvSpPr>
          <p:spPr>
            <a:xfrm flipH="false" flipV="false" rot="0">
              <a:off x="0" y="0"/>
              <a:ext cx="4305300" cy="1162050"/>
            </a:xfrm>
            <a:custGeom>
              <a:avLst/>
              <a:gdLst/>
              <a:ahLst/>
              <a:cxnLst/>
              <a:rect r="r" b="b" t="t" l="l"/>
              <a:pathLst>
                <a:path h="1162050" w="4305300">
                  <a:moveTo>
                    <a:pt x="0" y="0"/>
                  </a:moveTo>
                  <a:lnTo>
                    <a:pt x="4305300" y="0"/>
                  </a:lnTo>
                  <a:lnTo>
                    <a:pt x="4305300" y="1162050"/>
                  </a:lnTo>
                  <a:lnTo>
                    <a:pt x="0" y="1162050"/>
                  </a:lnTo>
                  <a:close/>
                </a:path>
              </a:pathLst>
            </a:custGeom>
            <a:blipFill>
              <a:blip r:embed="rId4">
                <a:alphaModFix amt="0"/>
              </a:blip>
              <a:stretch>
                <a:fillRect l="0" t="-22190" r="0" b="-22190"/>
              </a:stretch>
            </a:blipFill>
          </p:spPr>
        </p:sp>
        <p:sp>
          <p:nvSpPr>
            <p:cNvPr name="TextBox 30" id="30"/>
            <p:cNvSpPr txBox="true"/>
            <p:nvPr/>
          </p:nvSpPr>
          <p:spPr>
            <a:xfrm>
              <a:off x="0" y="0"/>
              <a:ext cx="4305300" cy="1162050"/>
            </a:xfrm>
            <a:prstGeom prst="rect">
              <a:avLst/>
            </a:prstGeom>
          </p:spPr>
          <p:txBody>
            <a:bodyPr anchor="ctr" rtlCol="false" tIns="0" lIns="0" bIns="0" rIns="0"/>
            <a:lstStyle/>
            <a:p>
              <a:pPr algn="l">
                <a:lnSpc>
                  <a:spcPts val="3104"/>
                </a:lnSpc>
              </a:pPr>
              <a:r>
                <a:rPr lang="en-US" sz="2587" b="true">
                  <a:solidFill>
                    <a:srgbClr val="FFFFFF"/>
                  </a:solidFill>
                  <a:latin typeface="Aptos Bold"/>
                  <a:ea typeface="Aptos Bold"/>
                  <a:cs typeface="Aptos Bold"/>
                  <a:sym typeface="Aptos Bold"/>
                </a:rPr>
                <a:t>Planilla de</a:t>
              </a:r>
            </a:p>
            <a:p>
              <a:pPr algn="l">
                <a:lnSpc>
                  <a:spcPts val="3104"/>
                </a:lnSpc>
              </a:pPr>
              <a:r>
                <a:rPr lang="en-US" sz="2587" b="true">
                  <a:solidFill>
                    <a:srgbClr val="FFFFFF"/>
                  </a:solidFill>
                  <a:latin typeface="Aptos Bold"/>
                  <a:ea typeface="Aptos Bold"/>
                  <a:cs typeface="Aptos Bold"/>
                  <a:sym typeface="Aptos Bold"/>
                </a:rPr>
                <a:t>Terreno</a:t>
              </a:r>
            </a:p>
          </p:txBody>
        </p:sp>
      </p:grpSp>
      <p:grpSp>
        <p:nvGrpSpPr>
          <p:cNvPr name="Group 31" id="31"/>
          <p:cNvGrpSpPr/>
          <p:nvPr/>
        </p:nvGrpSpPr>
        <p:grpSpPr>
          <a:xfrm rot="0">
            <a:off x="2657475" y="5715000"/>
            <a:ext cx="228600" cy="928688"/>
            <a:chOff x="0" y="0"/>
            <a:chExt cx="304800" cy="1238250"/>
          </a:xfrm>
        </p:grpSpPr>
        <p:sp>
          <p:nvSpPr>
            <p:cNvPr name="Freeform 32" id="32"/>
            <p:cNvSpPr/>
            <p:nvPr/>
          </p:nvSpPr>
          <p:spPr>
            <a:xfrm flipH="false" flipV="false" rot="0">
              <a:off x="0" y="0"/>
              <a:ext cx="304800" cy="1238250"/>
            </a:xfrm>
            <a:custGeom>
              <a:avLst/>
              <a:gdLst/>
              <a:ahLst/>
              <a:cxnLst/>
              <a:rect r="r" b="b" t="t" l="l"/>
              <a:pathLst>
                <a:path h="1238250" w="304800">
                  <a:moveTo>
                    <a:pt x="0" y="1085850"/>
                  </a:moveTo>
                  <a:lnTo>
                    <a:pt x="76200" y="1085850"/>
                  </a:lnTo>
                  <a:lnTo>
                    <a:pt x="76200" y="0"/>
                  </a:lnTo>
                  <a:lnTo>
                    <a:pt x="228600" y="0"/>
                  </a:lnTo>
                  <a:lnTo>
                    <a:pt x="228600" y="1085850"/>
                  </a:lnTo>
                  <a:lnTo>
                    <a:pt x="304800" y="1085850"/>
                  </a:lnTo>
                  <a:lnTo>
                    <a:pt x="152400" y="1238250"/>
                  </a:lnTo>
                  <a:close/>
                </a:path>
              </a:pathLst>
            </a:custGeom>
            <a:solidFill>
              <a:srgbClr val="1766C8"/>
            </a:solidFill>
          </p:spPr>
        </p:sp>
      </p:grpSp>
      <p:grpSp>
        <p:nvGrpSpPr>
          <p:cNvPr name="Group 33" id="33"/>
          <p:cNvGrpSpPr/>
          <p:nvPr/>
        </p:nvGrpSpPr>
        <p:grpSpPr>
          <a:xfrm rot="0">
            <a:off x="1028700" y="5829300"/>
            <a:ext cx="1500188" cy="685800"/>
            <a:chOff x="0" y="0"/>
            <a:chExt cx="2000250" cy="914400"/>
          </a:xfrm>
        </p:grpSpPr>
        <p:sp>
          <p:nvSpPr>
            <p:cNvPr name="Freeform 34" id="34"/>
            <p:cNvSpPr/>
            <p:nvPr/>
          </p:nvSpPr>
          <p:spPr>
            <a:xfrm flipH="false" flipV="false" rot="0">
              <a:off x="0" y="0"/>
              <a:ext cx="2000250" cy="914400"/>
            </a:xfrm>
            <a:custGeom>
              <a:avLst/>
              <a:gdLst/>
              <a:ahLst/>
              <a:cxnLst/>
              <a:rect r="r" b="b" t="t" l="l"/>
              <a:pathLst>
                <a:path h="914400" w="2000250">
                  <a:moveTo>
                    <a:pt x="0" y="0"/>
                  </a:moveTo>
                  <a:lnTo>
                    <a:pt x="2000250" y="0"/>
                  </a:lnTo>
                  <a:lnTo>
                    <a:pt x="2000250" y="914400"/>
                  </a:lnTo>
                  <a:lnTo>
                    <a:pt x="0" y="914400"/>
                  </a:lnTo>
                  <a:close/>
                </a:path>
              </a:pathLst>
            </a:custGeom>
            <a:blipFill>
              <a:blip r:embed="rId4">
                <a:alphaModFix amt="0"/>
              </a:blip>
              <a:stretch>
                <a:fillRect l="-8653" t="0" r="-8653" b="0"/>
              </a:stretch>
            </a:blipFill>
          </p:spPr>
        </p:sp>
        <p:sp>
          <p:nvSpPr>
            <p:cNvPr name="TextBox 35" id="35"/>
            <p:cNvSpPr txBox="true"/>
            <p:nvPr/>
          </p:nvSpPr>
          <p:spPr>
            <a:xfrm>
              <a:off x="0" y="0"/>
              <a:ext cx="2000250" cy="914400"/>
            </a:xfrm>
            <a:prstGeom prst="rect">
              <a:avLst/>
            </a:prstGeom>
          </p:spPr>
          <p:txBody>
            <a:bodyPr anchor="ctr" rtlCol="false" tIns="0" lIns="0" bIns="0" rIns="0"/>
            <a:lstStyle/>
            <a:p>
              <a:pPr algn="l">
                <a:lnSpc>
                  <a:spcPts val="2295"/>
                </a:lnSpc>
              </a:pPr>
              <a:r>
                <a:rPr lang="en-US" sz="1912">
                  <a:solidFill>
                    <a:srgbClr val="567080"/>
                  </a:solidFill>
                  <a:latin typeface="Aptos"/>
                  <a:ea typeface="Aptos"/>
                  <a:cs typeface="Aptos"/>
                  <a:sym typeface="Aptos"/>
                </a:rPr>
                <a:t>Registro</a:t>
              </a:r>
            </a:p>
            <a:p>
              <a:pPr algn="l">
                <a:lnSpc>
                  <a:spcPts val="2295"/>
                </a:lnSpc>
              </a:pPr>
              <a:r>
                <a:rPr lang="en-US" sz="1912">
                  <a:solidFill>
                    <a:srgbClr val="567080"/>
                  </a:solidFill>
                  <a:latin typeface="Aptos"/>
                  <a:ea typeface="Aptos"/>
                  <a:cs typeface="Aptos"/>
                  <a:sym typeface="Aptos"/>
                </a:rPr>
                <a:t>manual</a:t>
              </a:r>
            </a:p>
          </p:txBody>
        </p:sp>
      </p:grpSp>
      <p:grpSp>
        <p:nvGrpSpPr>
          <p:cNvPr name="Group 36" id="36"/>
          <p:cNvGrpSpPr/>
          <p:nvPr/>
        </p:nvGrpSpPr>
        <p:grpSpPr>
          <a:xfrm rot="0">
            <a:off x="5114925" y="3500438"/>
            <a:ext cx="3857625" cy="500062"/>
            <a:chOff x="0" y="0"/>
            <a:chExt cx="5143500" cy="666750"/>
          </a:xfrm>
        </p:grpSpPr>
        <p:sp>
          <p:nvSpPr>
            <p:cNvPr name="Freeform 37" id="37"/>
            <p:cNvSpPr/>
            <p:nvPr/>
          </p:nvSpPr>
          <p:spPr>
            <a:xfrm flipH="false" flipV="false" rot="0">
              <a:off x="0" y="0"/>
              <a:ext cx="5143500" cy="666750"/>
            </a:xfrm>
            <a:custGeom>
              <a:avLst/>
              <a:gdLst/>
              <a:ahLst/>
              <a:cxnLst/>
              <a:rect r="r" b="b" t="t" l="l"/>
              <a:pathLst>
                <a:path h="666750" w="5143500">
                  <a:moveTo>
                    <a:pt x="0" y="0"/>
                  </a:moveTo>
                  <a:lnTo>
                    <a:pt x="5143500" y="0"/>
                  </a:lnTo>
                  <a:lnTo>
                    <a:pt x="5143500" y="666750"/>
                  </a:lnTo>
                  <a:lnTo>
                    <a:pt x="0" y="666750"/>
                  </a:lnTo>
                  <a:close/>
                </a:path>
              </a:pathLst>
            </a:custGeom>
            <a:blipFill>
              <a:blip r:embed="rId4">
                <a:alphaModFix amt="0"/>
              </a:blip>
              <a:stretch>
                <a:fillRect l="0" t="-100313" r="0" b="-100313"/>
              </a:stretch>
            </a:blipFill>
          </p:spPr>
        </p:sp>
        <p:sp>
          <p:nvSpPr>
            <p:cNvPr name="TextBox 38" id="38"/>
            <p:cNvSpPr txBox="true"/>
            <p:nvPr/>
          </p:nvSpPr>
          <p:spPr>
            <a:xfrm>
              <a:off x="0" y="0"/>
              <a:ext cx="5143500" cy="666750"/>
            </a:xfrm>
            <a:prstGeom prst="rect">
              <a:avLst/>
            </a:prstGeom>
          </p:spPr>
          <p:txBody>
            <a:bodyPr anchor="ctr" rtlCol="false" tIns="0" lIns="0" bIns="0" rIns="0"/>
            <a:lstStyle/>
            <a:p>
              <a:pPr algn="l">
                <a:lnSpc>
                  <a:spcPts val="3240"/>
                </a:lnSpc>
              </a:pPr>
              <a:r>
                <a:rPr lang="en-US" sz="2700" b="true">
                  <a:solidFill>
                    <a:srgbClr val="153044"/>
                  </a:solidFill>
                  <a:latin typeface="Aptos Bold"/>
                  <a:ea typeface="Aptos Bold"/>
                  <a:cs typeface="Aptos Bold"/>
                  <a:sym typeface="Aptos Bold"/>
                </a:rPr>
                <a:t>LOGÍSTICA</a:t>
              </a:r>
            </a:p>
          </p:txBody>
        </p:sp>
      </p:grpSp>
      <p:grpSp>
        <p:nvGrpSpPr>
          <p:cNvPr name="Group 39" id="39"/>
          <p:cNvGrpSpPr/>
          <p:nvPr/>
        </p:nvGrpSpPr>
        <p:grpSpPr>
          <a:xfrm rot="0">
            <a:off x="5107781" y="4279106"/>
            <a:ext cx="3729038" cy="1443038"/>
            <a:chOff x="0" y="0"/>
            <a:chExt cx="4972050" cy="1924050"/>
          </a:xfrm>
        </p:grpSpPr>
        <p:sp>
          <p:nvSpPr>
            <p:cNvPr name="Freeform 40" id="40"/>
            <p:cNvSpPr/>
            <p:nvPr/>
          </p:nvSpPr>
          <p:spPr>
            <a:xfrm flipH="false" flipV="false" rot="0">
              <a:off x="0" y="0"/>
              <a:ext cx="4972050" cy="1924050"/>
            </a:xfrm>
            <a:custGeom>
              <a:avLst/>
              <a:gdLst/>
              <a:ahLst/>
              <a:cxnLst/>
              <a:rect r="r" b="b" t="t" l="l"/>
              <a:pathLst>
                <a:path h="1924050" w="4972050">
                  <a:moveTo>
                    <a:pt x="0" y="0"/>
                  </a:moveTo>
                  <a:lnTo>
                    <a:pt x="4972050" y="0"/>
                  </a:lnTo>
                  <a:lnTo>
                    <a:pt x="4972050" y="1924050"/>
                  </a:lnTo>
                  <a:lnTo>
                    <a:pt x="0" y="1924050"/>
                  </a:lnTo>
                  <a:close/>
                </a:path>
              </a:pathLst>
            </a:custGeom>
            <a:solidFill>
              <a:srgbClr val="EAF2F9"/>
            </a:solidFill>
            <a:ln w="14288" cap="sq">
              <a:solidFill>
                <a:srgbClr val="D5E3EC"/>
              </a:solidFill>
              <a:prstDash val="solid"/>
              <a:miter/>
            </a:ln>
          </p:spPr>
        </p:sp>
      </p:grpSp>
      <p:grpSp>
        <p:nvGrpSpPr>
          <p:cNvPr name="Group 41" id="41"/>
          <p:cNvGrpSpPr/>
          <p:nvPr/>
        </p:nvGrpSpPr>
        <p:grpSpPr>
          <a:xfrm rot="0">
            <a:off x="5114925" y="4286250"/>
            <a:ext cx="71438" cy="1428750"/>
            <a:chOff x="0" y="0"/>
            <a:chExt cx="95250" cy="1905000"/>
          </a:xfrm>
        </p:grpSpPr>
        <p:sp>
          <p:nvSpPr>
            <p:cNvPr name="Freeform 42" id="42"/>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43" id="43"/>
          <p:cNvGrpSpPr/>
          <p:nvPr/>
        </p:nvGrpSpPr>
        <p:grpSpPr>
          <a:xfrm rot="0">
            <a:off x="5357812" y="4457700"/>
            <a:ext cx="3228975" cy="1085850"/>
            <a:chOff x="0" y="0"/>
            <a:chExt cx="4305300" cy="1447800"/>
          </a:xfrm>
        </p:grpSpPr>
        <p:sp>
          <p:nvSpPr>
            <p:cNvPr name="Freeform 44" id="44"/>
            <p:cNvSpPr/>
            <p:nvPr/>
          </p:nvSpPr>
          <p:spPr>
            <a:xfrm flipH="false" flipV="false" rot="0">
              <a:off x="0" y="0"/>
              <a:ext cx="4305300" cy="1447800"/>
            </a:xfrm>
            <a:custGeom>
              <a:avLst/>
              <a:gdLst/>
              <a:ahLst/>
              <a:cxnLst/>
              <a:rect r="r" b="b" t="t" l="l"/>
              <a:pathLst>
                <a:path h="1447800" w="4305300">
                  <a:moveTo>
                    <a:pt x="0" y="0"/>
                  </a:moveTo>
                  <a:lnTo>
                    <a:pt x="4305300" y="0"/>
                  </a:lnTo>
                  <a:lnTo>
                    <a:pt x="4305300" y="1447800"/>
                  </a:lnTo>
                  <a:lnTo>
                    <a:pt x="0" y="1447800"/>
                  </a:lnTo>
                  <a:close/>
                </a:path>
              </a:pathLst>
            </a:custGeom>
            <a:blipFill>
              <a:blip r:embed="rId4">
                <a:alphaModFix amt="0"/>
              </a:blip>
              <a:stretch>
                <a:fillRect l="0" t="-7942" r="0" b="-7942"/>
              </a:stretch>
            </a:blipFill>
          </p:spPr>
        </p:sp>
        <p:sp>
          <p:nvSpPr>
            <p:cNvPr name="TextBox 45" id="45"/>
            <p:cNvSpPr txBox="true"/>
            <p:nvPr/>
          </p:nvSpPr>
          <p:spPr>
            <a:xfrm>
              <a:off x="0" y="0"/>
              <a:ext cx="43053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Recepciones y</a:t>
              </a:r>
            </a:p>
            <a:p>
              <a:pPr algn="l">
                <a:lnSpc>
                  <a:spcPts val="3104"/>
                </a:lnSpc>
              </a:pPr>
              <a:r>
                <a:rPr lang="en-US" sz="2587" b="true">
                  <a:solidFill>
                    <a:srgbClr val="153044"/>
                  </a:solidFill>
                  <a:latin typeface="Aptos Bold"/>
                  <a:ea typeface="Aptos Bold"/>
                  <a:cs typeface="Aptos Bold"/>
                  <a:sym typeface="Aptos Bold"/>
                </a:rPr>
                <a:t>despachos</a:t>
              </a:r>
            </a:p>
          </p:txBody>
        </p:sp>
      </p:grpSp>
      <p:grpSp>
        <p:nvGrpSpPr>
          <p:cNvPr name="Group 46" id="46"/>
          <p:cNvGrpSpPr/>
          <p:nvPr/>
        </p:nvGrpSpPr>
        <p:grpSpPr>
          <a:xfrm rot="0">
            <a:off x="5107781" y="6636544"/>
            <a:ext cx="3729038" cy="1228725"/>
            <a:chOff x="0" y="0"/>
            <a:chExt cx="4972050" cy="1638300"/>
          </a:xfrm>
        </p:grpSpPr>
        <p:sp>
          <p:nvSpPr>
            <p:cNvPr name="Freeform 47" id="47"/>
            <p:cNvSpPr/>
            <p:nvPr/>
          </p:nvSpPr>
          <p:spPr>
            <a:xfrm flipH="false" flipV="false" rot="0">
              <a:off x="0" y="0"/>
              <a:ext cx="4972050" cy="1638300"/>
            </a:xfrm>
            <a:custGeom>
              <a:avLst/>
              <a:gdLst/>
              <a:ahLst/>
              <a:cxnLst/>
              <a:rect r="r" b="b" t="t" l="l"/>
              <a:pathLst>
                <a:path h="1638300" w="4972050">
                  <a:moveTo>
                    <a:pt x="0" y="0"/>
                  </a:moveTo>
                  <a:lnTo>
                    <a:pt x="4972050" y="0"/>
                  </a:lnTo>
                  <a:lnTo>
                    <a:pt x="4972050" y="1638300"/>
                  </a:lnTo>
                  <a:lnTo>
                    <a:pt x="0" y="1638300"/>
                  </a:lnTo>
                  <a:close/>
                </a:path>
              </a:pathLst>
            </a:custGeom>
            <a:solidFill>
              <a:srgbClr val="0D1C29"/>
            </a:solidFill>
            <a:ln w="14288" cap="sq">
              <a:solidFill>
                <a:srgbClr val="D5E3EC"/>
              </a:solidFill>
              <a:prstDash val="solid"/>
              <a:miter/>
            </a:ln>
          </p:spPr>
        </p:sp>
      </p:grpSp>
      <p:grpSp>
        <p:nvGrpSpPr>
          <p:cNvPr name="Group 48" id="48"/>
          <p:cNvGrpSpPr/>
          <p:nvPr/>
        </p:nvGrpSpPr>
        <p:grpSpPr>
          <a:xfrm rot="0">
            <a:off x="5114925" y="6643688"/>
            <a:ext cx="71438" cy="1214438"/>
            <a:chOff x="0" y="0"/>
            <a:chExt cx="95250" cy="1619250"/>
          </a:xfrm>
        </p:grpSpPr>
        <p:sp>
          <p:nvSpPr>
            <p:cNvPr name="Freeform 49" id="49"/>
            <p:cNvSpPr/>
            <p:nvPr/>
          </p:nvSpPr>
          <p:spPr>
            <a:xfrm flipH="false" flipV="false" rot="0">
              <a:off x="0" y="0"/>
              <a:ext cx="95250" cy="1619250"/>
            </a:xfrm>
            <a:custGeom>
              <a:avLst/>
              <a:gdLst/>
              <a:ahLst/>
              <a:cxnLst/>
              <a:rect r="r" b="b" t="t" l="l"/>
              <a:pathLst>
                <a:path h="1619250" w="95250">
                  <a:moveTo>
                    <a:pt x="0" y="0"/>
                  </a:moveTo>
                  <a:lnTo>
                    <a:pt x="95250" y="0"/>
                  </a:lnTo>
                  <a:lnTo>
                    <a:pt x="95250" y="1619250"/>
                  </a:lnTo>
                  <a:lnTo>
                    <a:pt x="0" y="1619250"/>
                  </a:lnTo>
                  <a:close/>
                </a:path>
              </a:pathLst>
            </a:custGeom>
            <a:solidFill>
              <a:srgbClr val="007F89"/>
            </a:solidFill>
          </p:spPr>
        </p:sp>
      </p:grpSp>
      <p:grpSp>
        <p:nvGrpSpPr>
          <p:cNvPr name="Group 50" id="50"/>
          <p:cNvGrpSpPr/>
          <p:nvPr/>
        </p:nvGrpSpPr>
        <p:grpSpPr>
          <a:xfrm rot="0">
            <a:off x="5357812" y="6815138"/>
            <a:ext cx="3228975" cy="871538"/>
            <a:chOff x="0" y="0"/>
            <a:chExt cx="4305300" cy="1162050"/>
          </a:xfrm>
        </p:grpSpPr>
        <p:sp>
          <p:nvSpPr>
            <p:cNvPr name="Freeform 51" id="51"/>
            <p:cNvSpPr/>
            <p:nvPr/>
          </p:nvSpPr>
          <p:spPr>
            <a:xfrm flipH="false" flipV="false" rot="0">
              <a:off x="0" y="0"/>
              <a:ext cx="4305300" cy="1162050"/>
            </a:xfrm>
            <a:custGeom>
              <a:avLst/>
              <a:gdLst/>
              <a:ahLst/>
              <a:cxnLst/>
              <a:rect r="r" b="b" t="t" l="l"/>
              <a:pathLst>
                <a:path h="1162050" w="4305300">
                  <a:moveTo>
                    <a:pt x="0" y="0"/>
                  </a:moveTo>
                  <a:lnTo>
                    <a:pt x="4305300" y="0"/>
                  </a:lnTo>
                  <a:lnTo>
                    <a:pt x="4305300" y="1162050"/>
                  </a:lnTo>
                  <a:lnTo>
                    <a:pt x="0" y="1162050"/>
                  </a:lnTo>
                  <a:close/>
                </a:path>
              </a:pathLst>
            </a:custGeom>
            <a:blipFill>
              <a:blip r:embed="rId4">
                <a:alphaModFix amt="0"/>
              </a:blip>
              <a:stretch>
                <a:fillRect l="0" t="-22190" r="0" b="-22190"/>
              </a:stretch>
            </a:blipFill>
          </p:spPr>
        </p:sp>
        <p:sp>
          <p:nvSpPr>
            <p:cNvPr name="TextBox 52" id="52"/>
            <p:cNvSpPr txBox="true"/>
            <p:nvPr/>
          </p:nvSpPr>
          <p:spPr>
            <a:xfrm>
              <a:off x="0" y="0"/>
              <a:ext cx="4305300" cy="1162050"/>
            </a:xfrm>
            <a:prstGeom prst="rect">
              <a:avLst/>
            </a:prstGeom>
          </p:spPr>
          <p:txBody>
            <a:bodyPr anchor="ctr" rtlCol="false" tIns="0" lIns="0" bIns="0" rIns="0"/>
            <a:lstStyle/>
            <a:p>
              <a:pPr algn="l">
                <a:lnSpc>
                  <a:spcPts val="3104"/>
                </a:lnSpc>
              </a:pPr>
              <a:r>
                <a:rPr lang="en-US" sz="2587" b="true">
                  <a:solidFill>
                    <a:srgbClr val="FFFFFF"/>
                  </a:solidFill>
                  <a:latin typeface="Aptos Bold"/>
                  <a:ea typeface="Aptos Bold"/>
                  <a:cs typeface="Aptos Bold"/>
                  <a:sym typeface="Aptos Bold"/>
                </a:rPr>
                <a:t>Planilla de</a:t>
              </a:r>
            </a:p>
            <a:p>
              <a:pPr algn="l">
                <a:lnSpc>
                  <a:spcPts val="3104"/>
                </a:lnSpc>
              </a:pPr>
              <a:r>
                <a:rPr lang="en-US" sz="2587" b="true">
                  <a:solidFill>
                    <a:srgbClr val="FFFFFF"/>
                  </a:solidFill>
                  <a:latin typeface="Aptos Bold"/>
                  <a:ea typeface="Aptos Bold"/>
                  <a:cs typeface="Aptos Bold"/>
                  <a:sym typeface="Aptos Bold"/>
                </a:rPr>
                <a:t>Bodega</a:t>
              </a:r>
            </a:p>
          </p:txBody>
        </p:sp>
      </p:grpSp>
      <p:grpSp>
        <p:nvGrpSpPr>
          <p:cNvPr name="Group 53" id="53"/>
          <p:cNvGrpSpPr/>
          <p:nvPr/>
        </p:nvGrpSpPr>
        <p:grpSpPr>
          <a:xfrm rot="0">
            <a:off x="6858000" y="5715000"/>
            <a:ext cx="228600" cy="928688"/>
            <a:chOff x="0" y="0"/>
            <a:chExt cx="304800" cy="1238250"/>
          </a:xfrm>
        </p:grpSpPr>
        <p:sp>
          <p:nvSpPr>
            <p:cNvPr name="Freeform 54" id="54"/>
            <p:cNvSpPr/>
            <p:nvPr/>
          </p:nvSpPr>
          <p:spPr>
            <a:xfrm flipH="false" flipV="false" rot="0">
              <a:off x="0" y="0"/>
              <a:ext cx="304800" cy="1238250"/>
            </a:xfrm>
            <a:custGeom>
              <a:avLst/>
              <a:gdLst/>
              <a:ahLst/>
              <a:cxnLst/>
              <a:rect r="r" b="b" t="t" l="l"/>
              <a:pathLst>
                <a:path h="1238250" w="304800">
                  <a:moveTo>
                    <a:pt x="0" y="1085850"/>
                  </a:moveTo>
                  <a:lnTo>
                    <a:pt x="76200" y="1085850"/>
                  </a:lnTo>
                  <a:lnTo>
                    <a:pt x="76200" y="0"/>
                  </a:lnTo>
                  <a:lnTo>
                    <a:pt x="228600" y="0"/>
                  </a:lnTo>
                  <a:lnTo>
                    <a:pt x="228600" y="1085850"/>
                  </a:lnTo>
                  <a:lnTo>
                    <a:pt x="304800" y="1085850"/>
                  </a:lnTo>
                  <a:lnTo>
                    <a:pt x="152400" y="1238250"/>
                  </a:lnTo>
                  <a:close/>
                </a:path>
              </a:pathLst>
            </a:custGeom>
            <a:solidFill>
              <a:srgbClr val="1766C8"/>
            </a:solidFill>
          </p:spPr>
        </p:sp>
      </p:grpSp>
      <p:grpSp>
        <p:nvGrpSpPr>
          <p:cNvPr name="Group 55" id="55"/>
          <p:cNvGrpSpPr/>
          <p:nvPr/>
        </p:nvGrpSpPr>
        <p:grpSpPr>
          <a:xfrm rot="0">
            <a:off x="5229225" y="5829300"/>
            <a:ext cx="1500188" cy="685800"/>
            <a:chOff x="0" y="0"/>
            <a:chExt cx="2000250" cy="914400"/>
          </a:xfrm>
        </p:grpSpPr>
        <p:sp>
          <p:nvSpPr>
            <p:cNvPr name="Freeform 56" id="56"/>
            <p:cNvSpPr/>
            <p:nvPr/>
          </p:nvSpPr>
          <p:spPr>
            <a:xfrm flipH="false" flipV="false" rot="0">
              <a:off x="0" y="0"/>
              <a:ext cx="2000250" cy="914400"/>
            </a:xfrm>
            <a:custGeom>
              <a:avLst/>
              <a:gdLst/>
              <a:ahLst/>
              <a:cxnLst/>
              <a:rect r="r" b="b" t="t" l="l"/>
              <a:pathLst>
                <a:path h="914400" w="2000250">
                  <a:moveTo>
                    <a:pt x="0" y="0"/>
                  </a:moveTo>
                  <a:lnTo>
                    <a:pt x="2000250" y="0"/>
                  </a:lnTo>
                  <a:lnTo>
                    <a:pt x="2000250" y="914400"/>
                  </a:lnTo>
                  <a:lnTo>
                    <a:pt x="0" y="914400"/>
                  </a:lnTo>
                  <a:close/>
                </a:path>
              </a:pathLst>
            </a:custGeom>
            <a:blipFill>
              <a:blip r:embed="rId4">
                <a:alphaModFix amt="0"/>
              </a:blip>
              <a:stretch>
                <a:fillRect l="-8653" t="0" r="-8653" b="0"/>
              </a:stretch>
            </a:blipFill>
          </p:spPr>
        </p:sp>
        <p:sp>
          <p:nvSpPr>
            <p:cNvPr name="TextBox 57" id="57"/>
            <p:cNvSpPr txBox="true"/>
            <p:nvPr/>
          </p:nvSpPr>
          <p:spPr>
            <a:xfrm>
              <a:off x="0" y="0"/>
              <a:ext cx="2000250" cy="914400"/>
            </a:xfrm>
            <a:prstGeom prst="rect">
              <a:avLst/>
            </a:prstGeom>
          </p:spPr>
          <p:txBody>
            <a:bodyPr anchor="ctr" rtlCol="false" tIns="0" lIns="0" bIns="0" rIns="0"/>
            <a:lstStyle/>
            <a:p>
              <a:pPr algn="l">
                <a:lnSpc>
                  <a:spcPts val="2295"/>
                </a:lnSpc>
              </a:pPr>
              <a:r>
                <a:rPr lang="en-US" sz="1912">
                  <a:solidFill>
                    <a:srgbClr val="567080"/>
                  </a:solidFill>
                  <a:latin typeface="Aptos"/>
                  <a:ea typeface="Aptos"/>
                  <a:cs typeface="Aptos"/>
                  <a:sym typeface="Aptos"/>
                </a:rPr>
                <a:t>Registro</a:t>
              </a:r>
            </a:p>
            <a:p>
              <a:pPr algn="l">
                <a:lnSpc>
                  <a:spcPts val="2295"/>
                </a:lnSpc>
              </a:pPr>
              <a:r>
                <a:rPr lang="en-US" sz="1912">
                  <a:solidFill>
                    <a:srgbClr val="567080"/>
                  </a:solidFill>
                  <a:latin typeface="Aptos"/>
                  <a:ea typeface="Aptos"/>
                  <a:cs typeface="Aptos"/>
                  <a:sym typeface="Aptos"/>
                </a:rPr>
                <a:t>manual</a:t>
              </a:r>
            </a:p>
          </p:txBody>
        </p:sp>
      </p:grpSp>
      <p:grpSp>
        <p:nvGrpSpPr>
          <p:cNvPr name="Group 58" id="58"/>
          <p:cNvGrpSpPr/>
          <p:nvPr/>
        </p:nvGrpSpPr>
        <p:grpSpPr>
          <a:xfrm rot="0">
            <a:off x="9315450" y="3500438"/>
            <a:ext cx="3857625" cy="500062"/>
            <a:chOff x="0" y="0"/>
            <a:chExt cx="5143500" cy="666750"/>
          </a:xfrm>
        </p:grpSpPr>
        <p:sp>
          <p:nvSpPr>
            <p:cNvPr name="Freeform 59" id="59"/>
            <p:cNvSpPr/>
            <p:nvPr/>
          </p:nvSpPr>
          <p:spPr>
            <a:xfrm flipH="false" flipV="false" rot="0">
              <a:off x="0" y="0"/>
              <a:ext cx="5143500" cy="666750"/>
            </a:xfrm>
            <a:custGeom>
              <a:avLst/>
              <a:gdLst/>
              <a:ahLst/>
              <a:cxnLst/>
              <a:rect r="r" b="b" t="t" l="l"/>
              <a:pathLst>
                <a:path h="666750" w="5143500">
                  <a:moveTo>
                    <a:pt x="0" y="0"/>
                  </a:moveTo>
                  <a:lnTo>
                    <a:pt x="5143500" y="0"/>
                  </a:lnTo>
                  <a:lnTo>
                    <a:pt x="5143500" y="666750"/>
                  </a:lnTo>
                  <a:lnTo>
                    <a:pt x="0" y="666750"/>
                  </a:lnTo>
                  <a:close/>
                </a:path>
              </a:pathLst>
            </a:custGeom>
            <a:blipFill>
              <a:blip r:embed="rId4">
                <a:alphaModFix amt="0"/>
              </a:blip>
              <a:stretch>
                <a:fillRect l="0" t="-100313" r="0" b="-100313"/>
              </a:stretch>
            </a:blipFill>
          </p:spPr>
        </p:sp>
        <p:sp>
          <p:nvSpPr>
            <p:cNvPr name="TextBox 60" id="60"/>
            <p:cNvSpPr txBox="true"/>
            <p:nvPr/>
          </p:nvSpPr>
          <p:spPr>
            <a:xfrm>
              <a:off x="0" y="0"/>
              <a:ext cx="5143500" cy="666750"/>
            </a:xfrm>
            <a:prstGeom prst="rect">
              <a:avLst/>
            </a:prstGeom>
          </p:spPr>
          <p:txBody>
            <a:bodyPr anchor="ctr" rtlCol="false" tIns="0" lIns="0" bIns="0" rIns="0"/>
            <a:lstStyle/>
            <a:p>
              <a:pPr algn="l">
                <a:lnSpc>
                  <a:spcPts val="3240"/>
                </a:lnSpc>
              </a:pPr>
              <a:r>
                <a:rPr lang="en-US" sz="2700" b="true">
                  <a:solidFill>
                    <a:srgbClr val="153044"/>
                  </a:solidFill>
                  <a:latin typeface="Aptos Bold"/>
                  <a:ea typeface="Aptos Bold"/>
                  <a:cs typeface="Aptos Bold"/>
                  <a:sym typeface="Aptos Bold"/>
                </a:rPr>
                <a:t>LABORATORIO</a:t>
              </a:r>
            </a:p>
          </p:txBody>
        </p:sp>
      </p:grpSp>
      <p:grpSp>
        <p:nvGrpSpPr>
          <p:cNvPr name="Group 61" id="61"/>
          <p:cNvGrpSpPr/>
          <p:nvPr/>
        </p:nvGrpSpPr>
        <p:grpSpPr>
          <a:xfrm rot="0">
            <a:off x="9308306" y="4279106"/>
            <a:ext cx="3729038" cy="1443038"/>
            <a:chOff x="0" y="0"/>
            <a:chExt cx="4972050" cy="1924050"/>
          </a:xfrm>
        </p:grpSpPr>
        <p:sp>
          <p:nvSpPr>
            <p:cNvPr name="Freeform 62" id="62"/>
            <p:cNvSpPr/>
            <p:nvPr/>
          </p:nvSpPr>
          <p:spPr>
            <a:xfrm flipH="false" flipV="false" rot="0">
              <a:off x="0" y="0"/>
              <a:ext cx="4972050" cy="1924050"/>
            </a:xfrm>
            <a:custGeom>
              <a:avLst/>
              <a:gdLst/>
              <a:ahLst/>
              <a:cxnLst/>
              <a:rect r="r" b="b" t="t" l="l"/>
              <a:pathLst>
                <a:path h="1924050" w="4972050">
                  <a:moveTo>
                    <a:pt x="0" y="0"/>
                  </a:moveTo>
                  <a:lnTo>
                    <a:pt x="4972050" y="0"/>
                  </a:lnTo>
                  <a:lnTo>
                    <a:pt x="4972050" y="1924050"/>
                  </a:lnTo>
                  <a:lnTo>
                    <a:pt x="0" y="1924050"/>
                  </a:lnTo>
                  <a:close/>
                </a:path>
              </a:pathLst>
            </a:custGeom>
            <a:solidFill>
              <a:srgbClr val="EAF2F9"/>
            </a:solidFill>
            <a:ln w="14288" cap="sq">
              <a:solidFill>
                <a:srgbClr val="D5E3EC"/>
              </a:solidFill>
              <a:prstDash val="solid"/>
              <a:miter/>
            </a:ln>
          </p:spPr>
        </p:sp>
      </p:grpSp>
      <p:grpSp>
        <p:nvGrpSpPr>
          <p:cNvPr name="Group 63" id="63"/>
          <p:cNvGrpSpPr/>
          <p:nvPr/>
        </p:nvGrpSpPr>
        <p:grpSpPr>
          <a:xfrm rot="0">
            <a:off x="9315450" y="4286250"/>
            <a:ext cx="71438" cy="1428750"/>
            <a:chOff x="0" y="0"/>
            <a:chExt cx="95250" cy="1905000"/>
          </a:xfrm>
        </p:grpSpPr>
        <p:sp>
          <p:nvSpPr>
            <p:cNvPr name="Freeform 64" id="64"/>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65" id="65"/>
          <p:cNvGrpSpPr/>
          <p:nvPr/>
        </p:nvGrpSpPr>
        <p:grpSpPr>
          <a:xfrm rot="0">
            <a:off x="9558338" y="4457700"/>
            <a:ext cx="3228975" cy="1085850"/>
            <a:chOff x="0" y="0"/>
            <a:chExt cx="4305300" cy="1447800"/>
          </a:xfrm>
        </p:grpSpPr>
        <p:sp>
          <p:nvSpPr>
            <p:cNvPr name="Freeform 66" id="66"/>
            <p:cNvSpPr/>
            <p:nvPr/>
          </p:nvSpPr>
          <p:spPr>
            <a:xfrm flipH="false" flipV="false" rot="0">
              <a:off x="0" y="0"/>
              <a:ext cx="4305300" cy="1447800"/>
            </a:xfrm>
            <a:custGeom>
              <a:avLst/>
              <a:gdLst/>
              <a:ahLst/>
              <a:cxnLst/>
              <a:rect r="r" b="b" t="t" l="l"/>
              <a:pathLst>
                <a:path h="1447800" w="4305300">
                  <a:moveTo>
                    <a:pt x="0" y="0"/>
                  </a:moveTo>
                  <a:lnTo>
                    <a:pt x="4305300" y="0"/>
                  </a:lnTo>
                  <a:lnTo>
                    <a:pt x="4305300" y="1447800"/>
                  </a:lnTo>
                  <a:lnTo>
                    <a:pt x="0" y="1447800"/>
                  </a:lnTo>
                  <a:close/>
                </a:path>
              </a:pathLst>
            </a:custGeom>
            <a:blipFill>
              <a:blip r:embed="rId4">
                <a:alphaModFix amt="0"/>
              </a:blip>
              <a:stretch>
                <a:fillRect l="0" t="-7942" r="0" b="-7942"/>
              </a:stretch>
            </a:blipFill>
          </p:spPr>
        </p:sp>
        <p:sp>
          <p:nvSpPr>
            <p:cNvPr name="TextBox 67" id="67"/>
            <p:cNvSpPr txBox="true"/>
            <p:nvPr/>
          </p:nvSpPr>
          <p:spPr>
            <a:xfrm>
              <a:off x="0" y="0"/>
              <a:ext cx="43053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Diagnóstico y</a:t>
              </a:r>
            </a:p>
            <a:p>
              <a:pPr algn="l">
                <a:lnSpc>
                  <a:spcPts val="3104"/>
                </a:lnSpc>
              </a:pPr>
              <a:r>
                <a:rPr lang="en-US" sz="2587" b="true">
                  <a:solidFill>
                    <a:srgbClr val="153044"/>
                  </a:solidFill>
                  <a:latin typeface="Aptos Bold"/>
                  <a:ea typeface="Aptos Bold"/>
                  <a:cs typeface="Aptos Bold"/>
                  <a:sym typeface="Aptos Bold"/>
                </a:rPr>
                <a:t>reparación</a:t>
              </a:r>
            </a:p>
          </p:txBody>
        </p:sp>
      </p:grpSp>
      <p:grpSp>
        <p:nvGrpSpPr>
          <p:cNvPr name="Group 68" id="68"/>
          <p:cNvGrpSpPr/>
          <p:nvPr/>
        </p:nvGrpSpPr>
        <p:grpSpPr>
          <a:xfrm rot="0">
            <a:off x="9308306" y="6636544"/>
            <a:ext cx="3729038" cy="1228725"/>
            <a:chOff x="0" y="0"/>
            <a:chExt cx="4972050" cy="1638300"/>
          </a:xfrm>
        </p:grpSpPr>
        <p:sp>
          <p:nvSpPr>
            <p:cNvPr name="Freeform 69" id="69"/>
            <p:cNvSpPr/>
            <p:nvPr/>
          </p:nvSpPr>
          <p:spPr>
            <a:xfrm flipH="false" flipV="false" rot="0">
              <a:off x="0" y="0"/>
              <a:ext cx="4972050" cy="1638300"/>
            </a:xfrm>
            <a:custGeom>
              <a:avLst/>
              <a:gdLst/>
              <a:ahLst/>
              <a:cxnLst/>
              <a:rect r="r" b="b" t="t" l="l"/>
              <a:pathLst>
                <a:path h="1638300" w="4972050">
                  <a:moveTo>
                    <a:pt x="0" y="0"/>
                  </a:moveTo>
                  <a:lnTo>
                    <a:pt x="4972050" y="0"/>
                  </a:lnTo>
                  <a:lnTo>
                    <a:pt x="4972050" y="1638300"/>
                  </a:lnTo>
                  <a:lnTo>
                    <a:pt x="0" y="1638300"/>
                  </a:lnTo>
                  <a:close/>
                </a:path>
              </a:pathLst>
            </a:custGeom>
            <a:solidFill>
              <a:srgbClr val="0D1C29"/>
            </a:solidFill>
            <a:ln w="14288" cap="sq">
              <a:solidFill>
                <a:srgbClr val="D5E3EC"/>
              </a:solidFill>
              <a:prstDash val="solid"/>
              <a:miter/>
            </a:ln>
          </p:spPr>
        </p:sp>
      </p:grpSp>
      <p:grpSp>
        <p:nvGrpSpPr>
          <p:cNvPr name="Group 70" id="70"/>
          <p:cNvGrpSpPr/>
          <p:nvPr/>
        </p:nvGrpSpPr>
        <p:grpSpPr>
          <a:xfrm rot="0">
            <a:off x="9315450" y="6643688"/>
            <a:ext cx="71438" cy="1214438"/>
            <a:chOff x="0" y="0"/>
            <a:chExt cx="95250" cy="1619250"/>
          </a:xfrm>
        </p:grpSpPr>
        <p:sp>
          <p:nvSpPr>
            <p:cNvPr name="Freeform 71" id="71"/>
            <p:cNvSpPr/>
            <p:nvPr/>
          </p:nvSpPr>
          <p:spPr>
            <a:xfrm flipH="false" flipV="false" rot="0">
              <a:off x="0" y="0"/>
              <a:ext cx="95250" cy="1619250"/>
            </a:xfrm>
            <a:custGeom>
              <a:avLst/>
              <a:gdLst/>
              <a:ahLst/>
              <a:cxnLst/>
              <a:rect r="r" b="b" t="t" l="l"/>
              <a:pathLst>
                <a:path h="1619250" w="95250">
                  <a:moveTo>
                    <a:pt x="0" y="0"/>
                  </a:moveTo>
                  <a:lnTo>
                    <a:pt x="95250" y="0"/>
                  </a:lnTo>
                  <a:lnTo>
                    <a:pt x="95250" y="1619250"/>
                  </a:lnTo>
                  <a:lnTo>
                    <a:pt x="0" y="1619250"/>
                  </a:lnTo>
                  <a:close/>
                </a:path>
              </a:pathLst>
            </a:custGeom>
            <a:solidFill>
              <a:srgbClr val="007F89"/>
            </a:solidFill>
          </p:spPr>
        </p:sp>
      </p:grpSp>
      <p:grpSp>
        <p:nvGrpSpPr>
          <p:cNvPr name="Group 72" id="72"/>
          <p:cNvGrpSpPr/>
          <p:nvPr/>
        </p:nvGrpSpPr>
        <p:grpSpPr>
          <a:xfrm rot="0">
            <a:off x="9558338" y="6815138"/>
            <a:ext cx="3228975" cy="871538"/>
            <a:chOff x="0" y="0"/>
            <a:chExt cx="4305300" cy="1162050"/>
          </a:xfrm>
        </p:grpSpPr>
        <p:sp>
          <p:nvSpPr>
            <p:cNvPr name="Freeform 73" id="73"/>
            <p:cNvSpPr/>
            <p:nvPr/>
          </p:nvSpPr>
          <p:spPr>
            <a:xfrm flipH="false" flipV="false" rot="0">
              <a:off x="0" y="0"/>
              <a:ext cx="4305300" cy="1162050"/>
            </a:xfrm>
            <a:custGeom>
              <a:avLst/>
              <a:gdLst/>
              <a:ahLst/>
              <a:cxnLst/>
              <a:rect r="r" b="b" t="t" l="l"/>
              <a:pathLst>
                <a:path h="1162050" w="4305300">
                  <a:moveTo>
                    <a:pt x="0" y="0"/>
                  </a:moveTo>
                  <a:lnTo>
                    <a:pt x="4305300" y="0"/>
                  </a:lnTo>
                  <a:lnTo>
                    <a:pt x="4305300" y="1162050"/>
                  </a:lnTo>
                  <a:lnTo>
                    <a:pt x="0" y="1162050"/>
                  </a:lnTo>
                  <a:close/>
                </a:path>
              </a:pathLst>
            </a:custGeom>
            <a:blipFill>
              <a:blip r:embed="rId4">
                <a:alphaModFix amt="0"/>
              </a:blip>
              <a:stretch>
                <a:fillRect l="0" t="-22190" r="0" b="-22190"/>
              </a:stretch>
            </a:blipFill>
          </p:spPr>
        </p:sp>
        <p:sp>
          <p:nvSpPr>
            <p:cNvPr name="TextBox 74" id="74"/>
            <p:cNvSpPr txBox="true"/>
            <p:nvPr/>
          </p:nvSpPr>
          <p:spPr>
            <a:xfrm>
              <a:off x="0" y="0"/>
              <a:ext cx="4305300" cy="1162050"/>
            </a:xfrm>
            <a:prstGeom prst="rect">
              <a:avLst/>
            </a:prstGeom>
          </p:spPr>
          <p:txBody>
            <a:bodyPr anchor="ctr" rtlCol="false" tIns="0" lIns="0" bIns="0" rIns="0"/>
            <a:lstStyle/>
            <a:p>
              <a:pPr algn="l">
                <a:lnSpc>
                  <a:spcPts val="3104"/>
                </a:lnSpc>
              </a:pPr>
              <a:r>
                <a:rPr lang="en-US" sz="2587" b="true">
                  <a:solidFill>
                    <a:srgbClr val="FFFFFF"/>
                  </a:solidFill>
                  <a:latin typeface="Aptos Bold"/>
                  <a:ea typeface="Aptos Bold"/>
                  <a:cs typeface="Aptos Bold"/>
                  <a:sym typeface="Aptos Bold"/>
                </a:rPr>
                <a:t>Planilla de</a:t>
              </a:r>
            </a:p>
            <a:p>
              <a:pPr algn="l">
                <a:lnSpc>
                  <a:spcPts val="3104"/>
                </a:lnSpc>
              </a:pPr>
              <a:r>
                <a:rPr lang="en-US" sz="2587" b="true">
                  <a:solidFill>
                    <a:srgbClr val="FFFFFF"/>
                  </a:solidFill>
                  <a:latin typeface="Aptos Bold"/>
                  <a:ea typeface="Aptos Bold"/>
                  <a:cs typeface="Aptos Bold"/>
                  <a:sym typeface="Aptos Bold"/>
                </a:rPr>
                <a:t>Laboratorio</a:t>
              </a:r>
            </a:p>
          </p:txBody>
        </p:sp>
      </p:grpSp>
      <p:grpSp>
        <p:nvGrpSpPr>
          <p:cNvPr name="Group 75" id="75"/>
          <p:cNvGrpSpPr/>
          <p:nvPr/>
        </p:nvGrpSpPr>
        <p:grpSpPr>
          <a:xfrm rot="0">
            <a:off x="11058525" y="5715000"/>
            <a:ext cx="228600" cy="928688"/>
            <a:chOff x="0" y="0"/>
            <a:chExt cx="304800" cy="1238250"/>
          </a:xfrm>
        </p:grpSpPr>
        <p:sp>
          <p:nvSpPr>
            <p:cNvPr name="Freeform 76" id="76"/>
            <p:cNvSpPr/>
            <p:nvPr/>
          </p:nvSpPr>
          <p:spPr>
            <a:xfrm flipH="false" flipV="false" rot="0">
              <a:off x="0" y="0"/>
              <a:ext cx="304800" cy="1238250"/>
            </a:xfrm>
            <a:custGeom>
              <a:avLst/>
              <a:gdLst/>
              <a:ahLst/>
              <a:cxnLst/>
              <a:rect r="r" b="b" t="t" l="l"/>
              <a:pathLst>
                <a:path h="1238250" w="304800">
                  <a:moveTo>
                    <a:pt x="0" y="1085850"/>
                  </a:moveTo>
                  <a:lnTo>
                    <a:pt x="76200" y="1085850"/>
                  </a:lnTo>
                  <a:lnTo>
                    <a:pt x="76200" y="0"/>
                  </a:lnTo>
                  <a:lnTo>
                    <a:pt x="228600" y="0"/>
                  </a:lnTo>
                  <a:lnTo>
                    <a:pt x="228600" y="1085850"/>
                  </a:lnTo>
                  <a:lnTo>
                    <a:pt x="304800" y="1085850"/>
                  </a:lnTo>
                  <a:lnTo>
                    <a:pt x="152400" y="1238250"/>
                  </a:lnTo>
                  <a:close/>
                </a:path>
              </a:pathLst>
            </a:custGeom>
            <a:solidFill>
              <a:srgbClr val="1766C8"/>
            </a:solidFill>
          </p:spPr>
        </p:sp>
      </p:grpSp>
      <p:grpSp>
        <p:nvGrpSpPr>
          <p:cNvPr name="Group 77" id="77"/>
          <p:cNvGrpSpPr/>
          <p:nvPr/>
        </p:nvGrpSpPr>
        <p:grpSpPr>
          <a:xfrm rot="0">
            <a:off x="9429750" y="5829300"/>
            <a:ext cx="1500188" cy="685800"/>
            <a:chOff x="0" y="0"/>
            <a:chExt cx="2000250" cy="914400"/>
          </a:xfrm>
        </p:grpSpPr>
        <p:sp>
          <p:nvSpPr>
            <p:cNvPr name="Freeform 78" id="78"/>
            <p:cNvSpPr/>
            <p:nvPr/>
          </p:nvSpPr>
          <p:spPr>
            <a:xfrm flipH="false" flipV="false" rot="0">
              <a:off x="0" y="0"/>
              <a:ext cx="2000250" cy="914400"/>
            </a:xfrm>
            <a:custGeom>
              <a:avLst/>
              <a:gdLst/>
              <a:ahLst/>
              <a:cxnLst/>
              <a:rect r="r" b="b" t="t" l="l"/>
              <a:pathLst>
                <a:path h="914400" w="2000250">
                  <a:moveTo>
                    <a:pt x="0" y="0"/>
                  </a:moveTo>
                  <a:lnTo>
                    <a:pt x="2000250" y="0"/>
                  </a:lnTo>
                  <a:lnTo>
                    <a:pt x="2000250" y="914400"/>
                  </a:lnTo>
                  <a:lnTo>
                    <a:pt x="0" y="914400"/>
                  </a:lnTo>
                  <a:close/>
                </a:path>
              </a:pathLst>
            </a:custGeom>
            <a:blipFill>
              <a:blip r:embed="rId4">
                <a:alphaModFix amt="0"/>
              </a:blip>
              <a:stretch>
                <a:fillRect l="-8653" t="0" r="-8653" b="0"/>
              </a:stretch>
            </a:blipFill>
          </p:spPr>
        </p:sp>
        <p:sp>
          <p:nvSpPr>
            <p:cNvPr name="TextBox 79" id="79"/>
            <p:cNvSpPr txBox="true"/>
            <p:nvPr/>
          </p:nvSpPr>
          <p:spPr>
            <a:xfrm>
              <a:off x="0" y="0"/>
              <a:ext cx="2000250" cy="914400"/>
            </a:xfrm>
            <a:prstGeom prst="rect">
              <a:avLst/>
            </a:prstGeom>
          </p:spPr>
          <p:txBody>
            <a:bodyPr anchor="ctr" rtlCol="false" tIns="0" lIns="0" bIns="0" rIns="0"/>
            <a:lstStyle/>
            <a:p>
              <a:pPr algn="l">
                <a:lnSpc>
                  <a:spcPts val="2295"/>
                </a:lnSpc>
              </a:pPr>
              <a:r>
                <a:rPr lang="en-US" sz="1912">
                  <a:solidFill>
                    <a:srgbClr val="567080"/>
                  </a:solidFill>
                  <a:latin typeface="Aptos"/>
                  <a:ea typeface="Aptos"/>
                  <a:cs typeface="Aptos"/>
                  <a:sym typeface="Aptos"/>
                </a:rPr>
                <a:t>Registro</a:t>
              </a:r>
            </a:p>
            <a:p>
              <a:pPr algn="l">
                <a:lnSpc>
                  <a:spcPts val="2295"/>
                </a:lnSpc>
              </a:pPr>
              <a:r>
                <a:rPr lang="en-US" sz="1912">
                  <a:solidFill>
                    <a:srgbClr val="567080"/>
                  </a:solidFill>
                  <a:latin typeface="Aptos"/>
                  <a:ea typeface="Aptos"/>
                  <a:cs typeface="Aptos"/>
                  <a:sym typeface="Aptos"/>
                </a:rPr>
                <a:t>manual</a:t>
              </a:r>
            </a:p>
          </p:txBody>
        </p:sp>
      </p:grpSp>
      <p:grpSp>
        <p:nvGrpSpPr>
          <p:cNvPr name="Group 80" id="80"/>
          <p:cNvGrpSpPr/>
          <p:nvPr/>
        </p:nvGrpSpPr>
        <p:grpSpPr>
          <a:xfrm rot="0">
            <a:off x="13515975" y="3500438"/>
            <a:ext cx="3857625" cy="500062"/>
            <a:chOff x="0" y="0"/>
            <a:chExt cx="5143500" cy="666750"/>
          </a:xfrm>
        </p:grpSpPr>
        <p:sp>
          <p:nvSpPr>
            <p:cNvPr name="Freeform 81" id="81"/>
            <p:cNvSpPr/>
            <p:nvPr/>
          </p:nvSpPr>
          <p:spPr>
            <a:xfrm flipH="false" flipV="false" rot="0">
              <a:off x="0" y="0"/>
              <a:ext cx="5143500" cy="666750"/>
            </a:xfrm>
            <a:custGeom>
              <a:avLst/>
              <a:gdLst/>
              <a:ahLst/>
              <a:cxnLst/>
              <a:rect r="r" b="b" t="t" l="l"/>
              <a:pathLst>
                <a:path h="666750" w="5143500">
                  <a:moveTo>
                    <a:pt x="0" y="0"/>
                  </a:moveTo>
                  <a:lnTo>
                    <a:pt x="5143500" y="0"/>
                  </a:lnTo>
                  <a:lnTo>
                    <a:pt x="5143500" y="666750"/>
                  </a:lnTo>
                  <a:lnTo>
                    <a:pt x="0" y="666750"/>
                  </a:lnTo>
                  <a:close/>
                </a:path>
              </a:pathLst>
            </a:custGeom>
            <a:blipFill>
              <a:blip r:embed="rId4">
                <a:alphaModFix amt="0"/>
              </a:blip>
              <a:stretch>
                <a:fillRect l="0" t="-100313" r="0" b="-100313"/>
              </a:stretch>
            </a:blipFill>
          </p:spPr>
        </p:sp>
        <p:sp>
          <p:nvSpPr>
            <p:cNvPr name="TextBox 82" id="82"/>
            <p:cNvSpPr txBox="true"/>
            <p:nvPr/>
          </p:nvSpPr>
          <p:spPr>
            <a:xfrm>
              <a:off x="0" y="0"/>
              <a:ext cx="5143500" cy="666750"/>
            </a:xfrm>
            <a:prstGeom prst="rect">
              <a:avLst/>
            </a:prstGeom>
          </p:spPr>
          <p:txBody>
            <a:bodyPr anchor="ctr" rtlCol="false" tIns="0" lIns="0" bIns="0" rIns="0"/>
            <a:lstStyle/>
            <a:p>
              <a:pPr algn="l">
                <a:lnSpc>
                  <a:spcPts val="3240"/>
                </a:lnSpc>
              </a:pPr>
              <a:r>
                <a:rPr lang="en-US" sz="2700" b="true">
                  <a:solidFill>
                    <a:srgbClr val="153044"/>
                  </a:solidFill>
                  <a:latin typeface="Aptos Bold"/>
                  <a:ea typeface="Aptos Bold"/>
                  <a:cs typeface="Aptos Bold"/>
                  <a:sym typeface="Aptos Bold"/>
                </a:rPr>
                <a:t>CALIDAD QA</a:t>
              </a:r>
            </a:p>
          </p:txBody>
        </p:sp>
      </p:grpSp>
      <p:grpSp>
        <p:nvGrpSpPr>
          <p:cNvPr name="Group 83" id="83"/>
          <p:cNvGrpSpPr/>
          <p:nvPr/>
        </p:nvGrpSpPr>
        <p:grpSpPr>
          <a:xfrm rot="0">
            <a:off x="13508831" y="4279106"/>
            <a:ext cx="3729038" cy="1443038"/>
            <a:chOff x="0" y="0"/>
            <a:chExt cx="4972050" cy="1924050"/>
          </a:xfrm>
        </p:grpSpPr>
        <p:sp>
          <p:nvSpPr>
            <p:cNvPr name="Freeform 84" id="84"/>
            <p:cNvSpPr/>
            <p:nvPr/>
          </p:nvSpPr>
          <p:spPr>
            <a:xfrm flipH="false" flipV="false" rot="0">
              <a:off x="0" y="0"/>
              <a:ext cx="4972050" cy="1924050"/>
            </a:xfrm>
            <a:custGeom>
              <a:avLst/>
              <a:gdLst/>
              <a:ahLst/>
              <a:cxnLst/>
              <a:rect r="r" b="b" t="t" l="l"/>
              <a:pathLst>
                <a:path h="1924050" w="4972050">
                  <a:moveTo>
                    <a:pt x="0" y="0"/>
                  </a:moveTo>
                  <a:lnTo>
                    <a:pt x="4972050" y="0"/>
                  </a:lnTo>
                  <a:lnTo>
                    <a:pt x="4972050" y="1924050"/>
                  </a:lnTo>
                  <a:lnTo>
                    <a:pt x="0" y="1924050"/>
                  </a:lnTo>
                  <a:close/>
                </a:path>
              </a:pathLst>
            </a:custGeom>
            <a:solidFill>
              <a:srgbClr val="EAF2F9"/>
            </a:solidFill>
            <a:ln w="14288" cap="sq">
              <a:solidFill>
                <a:srgbClr val="D5E3EC"/>
              </a:solidFill>
              <a:prstDash val="solid"/>
              <a:miter/>
            </a:ln>
          </p:spPr>
        </p:sp>
      </p:grpSp>
      <p:grpSp>
        <p:nvGrpSpPr>
          <p:cNvPr name="Group 85" id="85"/>
          <p:cNvGrpSpPr/>
          <p:nvPr/>
        </p:nvGrpSpPr>
        <p:grpSpPr>
          <a:xfrm rot="0">
            <a:off x="13515975" y="4286250"/>
            <a:ext cx="71438" cy="1428750"/>
            <a:chOff x="0" y="0"/>
            <a:chExt cx="95250" cy="1905000"/>
          </a:xfrm>
        </p:grpSpPr>
        <p:sp>
          <p:nvSpPr>
            <p:cNvPr name="Freeform 86" id="86"/>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87" id="87"/>
          <p:cNvGrpSpPr/>
          <p:nvPr/>
        </p:nvGrpSpPr>
        <p:grpSpPr>
          <a:xfrm rot="0">
            <a:off x="13758862" y="4457700"/>
            <a:ext cx="3228975" cy="1085850"/>
            <a:chOff x="0" y="0"/>
            <a:chExt cx="4305300" cy="1447800"/>
          </a:xfrm>
        </p:grpSpPr>
        <p:sp>
          <p:nvSpPr>
            <p:cNvPr name="Freeform 88" id="88"/>
            <p:cNvSpPr/>
            <p:nvPr/>
          </p:nvSpPr>
          <p:spPr>
            <a:xfrm flipH="false" flipV="false" rot="0">
              <a:off x="0" y="0"/>
              <a:ext cx="4305300" cy="1447800"/>
            </a:xfrm>
            <a:custGeom>
              <a:avLst/>
              <a:gdLst/>
              <a:ahLst/>
              <a:cxnLst/>
              <a:rect r="r" b="b" t="t" l="l"/>
              <a:pathLst>
                <a:path h="1447800" w="4305300">
                  <a:moveTo>
                    <a:pt x="0" y="0"/>
                  </a:moveTo>
                  <a:lnTo>
                    <a:pt x="4305300" y="0"/>
                  </a:lnTo>
                  <a:lnTo>
                    <a:pt x="4305300" y="1447800"/>
                  </a:lnTo>
                  <a:lnTo>
                    <a:pt x="0" y="1447800"/>
                  </a:lnTo>
                  <a:close/>
                </a:path>
              </a:pathLst>
            </a:custGeom>
            <a:blipFill>
              <a:blip r:embed="rId4">
                <a:alphaModFix amt="0"/>
              </a:blip>
              <a:stretch>
                <a:fillRect l="0" t="-7942" r="0" b="-7942"/>
              </a:stretch>
            </a:blipFill>
          </p:spPr>
        </p:sp>
        <p:sp>
          <p:nvSpPr>
            <p:cNvPr name="TextBox 89" id="89"/>
            <p:cNvSpPr txBox="true"/>
            <p:nvPr/>
          </p:nvSpPr>
          <p:spPr>
            <a:xfrm>
              <a:off x="0" y="0"/>
              <a:ext cx="43053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Pruebas y</a:t>
              </a:r>
            </a:p>
            <a:p>
              <a:pPr algn="l">
                <a:lnSpc>
                  <a:spcPts val="3104"/>
                </a:lnSpc>
              </a:pPr>
              <a:r>
                <a:rPr lang="en-US" sz="2587" b="true">
                  <a:solidFill>
                    <a:srgbClr val="153044"/>
                  </a:solidFill>
                  <a:latin typeface="Aptos Bold"/>
                  <a:ea typeface="Aptos Bold"/>
                  <a:cs typeface="Aptos Bold"/>
                  <a:sym typeface="Aptos Bold"/>
                </a:rPr>
                <a:t>dictámenes</a:t>
              </a:r>
            </a:p>
          </p:txBody>
        </p:sp>
      </p:grpSp>
      <p:grpSp>
        <p:nvGrpSpPr>
          <p:cNvPr name="Group 90" id="90"/>
          <p:cNvGrpSpPr/>
          <p:nvPr/>
        </p:nvGrpSpPr>
        <p:grpSpPr>
          <a:xfrm rot="0">
            <a:off x="13508831" y="6636544"/>
            <a:ext cx="3729038" cy="1228725"/>
            <a:chOff x="0" y="0"/>
            <a:chExt cx="4972050" cy="1638300"/>
          </a:xfrm>
        </p:grpSpPr>
        <p:sp>
          <p:nvSpPr>
            <p:cNvPr name="Freeform 91" id="91"/>
            <p:cNvSpPr/>
            <p:nvPr/>
          </p:nvSpPr>
          <p:spPr>
            <a:xfrm flipH="false" flipV="false" rot="0">
              <a:off x="0" y="0"/>
              <a:ext cx="4972050" cy="1638300"/>
            </a:xfrm>
            <a:custGeom>
              <a:avLst/>
              <a:gdLst/>
              <a:ahLst/>
              <a:cxnLst/>
              <a:rect r="r" b="b" t="t" l="l"/>
              <a:pathLst>
                <a:path h="1638300" w="4972050">
                  <a:moveTo>
                    <a:pt x="0" y="0"/>
                  </a:moveTo>
                  <a:lnTo>
                    <a:pt x="4972050" y="0"/>
                  </a:lnTo>
                  <a:lnTo>
                    <a:pt x="4972050" y="1638300"/>
                  </a:lnTo>
                  <a:lnTo>
                    <a:pt x="0" y="1638300"/>
                  </a:lnTo>
                  <a:close/>
                </a:path>
              </a:pathLst>
            </a:custGeom>
            <a:solidFill>
              <a:srgbClr val="0D1C29"/>
            </a:solidFill>
            <a:ln w="14288" cap="sq">
              <a:solidFill>
                <a:srgbClr val="D5E3EC"/>
              </a:solidFill>
              <a:prstDash val="solid"/>
              <a:miter/>
            </a:ln>
          </p:spPr>
        </p:sp>
      </p:grpSp>
      <p:grpSp>
        <p:nvGrpSpPr>
          <p:cNvPr name="Group 92" id="92"/>
          <p:cNvGrpSpPr/>
          <p:nvPr/>
        </p:nvGrpSpPr>
        <p:grpSpPr>
          <a:xfrm rot="0">
            <a:off x="13515975" y="6643688"/>
            <a:ext cx="71438" cy="1214438"/>
            <a:chOff x="0" y="0"/>
            <a:chExt cx="95250" cy="1619250"/>
          </a:xfrm>
        </p:grpSpPr>
        <p:sp>
          <p:nvSpPr>
            <p:cNvPr name="Freeform 93" id="93"/>
            <p:cNvSpPr/>
            <p:nvPr/>
          </p:nvSpPr>
          <p:spPr>
            <a:xfrm flipH="false" flipV="false" rot="0">
              <a:off x="0" y="0"/>
              <a:ext cx="95250" cy="1619250"/>
            </a:xfrm>
            <a:custGeom>
              <a:avLst/>
              <a:gdLst/>
              <a:ahLst/>
              <a:cxnLst/>
              <a:rect r="r" b="b" t="t" l="l"/>
              <a:pathLst>
                <a:path h="1619250" w="95250">
                  <a:moveTo>
                    <a:pt x="0" y="0"/>
                  </a:moveTo>
                  <a:lnTo>
                    <a:pt x="95250" y="0"/>
                  </a:lnTo>
                  <a:lnTo>
                    <a:pt x="95250" y="1619250"/>
                  </a:lnTo>
                  <a:lnTo>
                    <a:pt x="0" y="1619250"/>
                  </a:lnTo>
                  <a:close/>
                </a:path>
              </a:pathLst>
            </a:custGeom>
            <a:solidFill>
              <a:srgbClr val="007F89"/>
            </a:solidFill>
          </p:spPr>
        </p:sp>
      </p:grpSp>
      <p:grpSp>
        <p:nvGrpSpPr>
          <p:cNvPr name="Group 94" id="94"/>
          <p:cNvGrpSpPr/>
          <p:nvPr/>
        </p:nvGrpSpPr>
        <p:grpSpPr>
          <a:xfrm rot="0">
            <a:off x="13758862" y="6815138"/>
            <a:ext cx="3228975" cy="871538"/>
            <a:chOff x="0" y="0"/>
            <a:chExt cx="4305300" cy="1162050"/>
          </a:xfrm>
        </p:grpSpPr>
        <p:sp>
          <p:nvSpPr>
            <p:cNvPr name="Freeform 95" id="95"/>
            <p:cNvSpPr/>
            <p:nvPr/>
          </p:nvSpPr>
          <p:spPr>
            <a:xfrm flipH="false" flipV="false" rot="0">
              <a:off x="0" y="0"/>
              <a:ext cx="4305300" cy="1162050"/>
            </a:xfrm>
            <a:custGeom>
              <a:avLst/>
              <a:gdLst/>
              <a:ahLst/>
              <a:cxnLst/>
              <a:rect r="r" b="b" t="t" l="l"/>
              <a:pathLst>
                <a:path h="1162050" w="4305300">
                  <a:moveTo>
                    <a:pt x="0" y="0"/>
                  </a:moveTo>
                  <a:lnTo>
                    <a:pt x="4305300" y="0"/>
                  </a:lnTo>
                  <a:lnTo>
                    <a:pt x="4305300" y="1162050"/>
                  </a:lnTo>
                  <a:lnTo>
                    <a:pt x="0" y="1162050"/>
                  </a:lnTo>
                  <a:close/>
                </a:path>
              </a:pathLst>
            </a:custGeom>
            <a:blipFill>
              <a:blip r:embed="rId4">
                <a:alphaModFix amt="0"/>
              </a:blip>
              <a:stretch>
                <a:fillRect l="0" t="-22190" r="0" b="-22190"/>
              </a:stretch>
            </a:blipFill>
          </p:spPr>
        </p:sp>
        <p:sp>
          <p:nvSpPr>
            <p:cNvPr name="TextBox 96" id="96"/>
            <p:cNvSpPr txBox="true"/>
            <p:nvPr/>
          </p:nvSpPr>
          <p:spPr>
            <a:xfrm>
              <a:off x="0" y="0"/>
              <a:ext cx="4305300" cy="1162050"/>
            </a:xfrm>
            <a:prstGeom prst="rect">
              <a:avLst/>
            </a:prstGeom>
          </p:spPr>
          <p:txBody>
            <a:bodyPr anchor="ctr" rtlCol="false" tIns="0" lIns="0" bIns="0" rIns="0"/>
            <a:lstStyle/>
            <a:p>
              <a:pPr algn="l">
                <a:lnSpc>
                  <a:spcPts val="3104"/>
                </a:lnSpc>
              </a:pPr>
              <a:r>
                <a:rPr lang="en-US" sz="2587" b="true">
                  <a:solidFill>
                    <a:srgbClr val="FFFFFF"/>
                  </a:solidFill>
                  <a:latin typeface="Aptos Bold"/>
                  <a:ea typeface="Aptos Bold"/>
                  <a:cs typeface="Aptos Bold"/>
                  <a:sym typeface="Aptos Bold"/>
                </a:rPr>
                <a:t>Planilla de</a:t>
              </a:r>
            </a:p>
            <a:p>
              <a:pPr algn="l">
                <a:lnSpc>
                  <a:spcPts val="3104"/>
                </a:lnSpc>
              </a:pPr>
              <a:r>
                <a:rPr lang="en-US" sz="2587" b="true">
                  <a:solidFill>
                    <a:srgbClr val="FFFFFF"/>
                  </a:solidFill>
                  <a:latin typeface="Aptos Bold"/>
                  <a:ea typeface="Aptos Bold"/>
                  <a:cs typeface="Aptos Bold"/>
                  <a:sym typeface="Aptos Bold"/>
                </a:rPr>
                <a:t>QA</a:t>
              </a:r>
            </a:p>
          </p:txBody>
        </p:sp>
      </p:grpSp>
      <p:grpSp>
        <p:nvGrpSpPr>
          <p:cNvPr name="Group 97" id="97"/>
          <p:cNvGrpSpPr/>
          <p:nvPr/>
        </p:nvGrpSpPr>
        <p:grpSpPr>
          <a:xfrm rot="0">
            <a:off x="15259050" y="5715000"/>
            <a:ext cx="228600" cy="928688"/>
            <a:chOff x="0" y="0"/>
            <a:chExt cx="304800" cy="1238250"/>
          </a:xfrm>
        </p:grpSpPr>
        <p:sp>
          <p:nvSpPr>
            <p:cNvPr name="Freeform 98" id="98"/>
            <p:cNvSpPr/>
            <p:nvPr/>
          </p:nvSpPr>
          <p:spPr>
            <a:xfrm flipH="false" flipV="false" rot="0">
              <a:off x="0" y="0"/>
              <a:ext cx="304800" cy="1238250"/>
            </a:xfrm>
            <a:custGeom>
              <a:avLst/>
              <a:gdLst/>
              <a:ahLst/>
              <a:cxnLst/>
              <a:rect r="r" b="b" t="t" l="l"/>
              <a:pathLst>
                <a:path h="1238250" w="304800">
                  <a:moveTo>
                    <a:pt x="0" y="1085850"/>
                  </a:moveTo>
                  <a:lnTo>
                    <a:pt x="76200" y="1085850"/>
                  </a:lnTo>
                  <a:lnTo>
                    <a:pt x="76200" y="0"/>
                  </a:lnTo>
                  <a:lnTo>
                    <a:pt x="228600" y="0"/>
                  </a:lnTo>
                  <a:lnTo>
                    <a:pt x="228600" y="1085850"/>
                  </a:lnTo>
                  <a:lnTo>
                    <a:pt x="304800" y="1085850"/>
                  </a:lnTo>
                  <a:lnTo>
                    <a:pt x="152400" y="1238250"/>
                  </a:lnTo>
                  <a:close/>
                </a:path>
              </a:pathLst>
            </a:custGeom>
            <a:solidFill>
              <a:srgbClr val="1766C8"/>
            </a:solidFill>
          </p:spPr>
        </p:sp>
      </p:grpSp>
      <p:grpSp>
        <p:nvGrpSpPr>
          <p:cNvPr name="Group 99" id="99"/>
          <p:cNvGrpSpPr/>
          <p:nvPr/>
        </p:nvGrpSpPr>
        <p:grpSpPr>
          <a:xfrm rot="0">
            <a:off x="13630275" y="5829300"/>
            <a:ext cx="1500188" cy="685800"/>
            <a:chOff x="0" y="0"/>
            <a:chExt cx="2000250" cy="914400"/>
          </a:xfrm>
        </p:grpSpPr>
        <p:sp>
          <p:nvSpPr>
            <p:cNvPr name="Freeform 100" id="100"/>
            <p:cNvSpPr/>
            <p:nvPr/>
          </p:nvSpPr>
          <p:spPr>
            <a:xfrm flipH="false" flipV="false" rot="0">
              <a:off x="0" y="0"/>
              <a:ext cx="2000250" cy="914400"/>
            </a:xfrm>
            <a:custGeom>
              <a:avLst/>
              <a:gdLst/>
              <a:ahLst/>
              <a:cxnLst/>
              <a:rect r="r" b="b" t="t" l="l"/>
              <a:pathLst>
                <a:path h="914400" w="2000250">
                  <a:moveTo>
                    <a:pt x="0" y="0"/>
                  </a:moveTo>
                  <a:lnTo>
                    <a:pt x="2000250" y="0"/>
                  </a:lnTo>
                  <a:lnTo>
                    <a:pt x="2000250" y="914400"/>
                  </a:lnTo>
                  <a:lnTo>
                    <a:pt x="0" y="914400"/>
                  </a:lnTo>
                  <a:close/>
                </a:path>
              </a:pathLst>
            </a:custGeom>
            <a:blipFill>
              <a:blip r:embed="rId4">
                <a:alphaModFix amt="0"/>
              </a:blip>
              <a:stretch>
                <a:fillRect l="-8653" t="0" r="-8653" b="0"/>
              </a:stretch>
            </a:blipFill>
          </p:spPr>
        </p:sp>
        <p:sp>
          <p:nvSpPr>
            <p:cNvPr name="TextBox 101" id="101"/>
            <p:cNvSpPr txBox="true"/>
            <p:nvPr/>
          </p:nvSpPr>
          <p:spPr>
            <a:xfrm>
              <a:off x="0" y="0"/>
              <a:ext cx="2000250" cy="914400"/>
            </a:xfrm>
            <a:prstGeom prst="rect">
              <a:avLst/>
            </a:prstGeom>
          </p:spPr>
          <p:txBody>
            <a:bodyPr anchor="ctr" rtlCol="false" tIns="0" lIns="0" bIns="0" rIns="0"/>
            <a:lstStyle/>
            <a:p>
              <a:pPr algn="l">
                <a:lnSpc>
                  <a:spcPts val="2295"/>
                </a:lnSpc>
              </a:pPr>
              <a:r>
                <a:rPr lang="en-US" sz="1912">
                  <a:solidFill>
                    <a:srgbClr val="567080"/>
                  </a:solidFill>
                  <a:latin typeface="Aptos"/>
                  <a:ea typeface="Aptos"/>
                  <a:cs typeface="Aptos"/>
                  <a:sym typeface="Aptos"/>
                </a:rPr>
                <a:t>Registro</a:t>
              </a:r>
            </a:p>
            <a:p>
              <a:pPr algn="l">
                <a:lnSpc>
                  <a:spcPts val="2295"/>
                </a:lnSpc>
              </a:pPr>
              <a:r>
                <a:rPr lang="en-US" sz="1912">
                  <a:solidFill>
                    <a:srgbClr val="567080"/>
                  </a:solidFill>
                  <a:latin typeface="Aptos"/>
                  <a:ea typeface="Aptos"/>
                  <a:cs typeface="Aptos"/>
                  <a:sym typeface="Aptos"/>
                </a:rPr>
                <a:t>manual</a:t>
              </a:r>
            </a:p>
          </p:txBody>
        </p:sp>
      </p:grpSp>
      <p:grpSp>
        <p:nvGrpSpPr>
          <p:cNvPr name="Group 102" id="102"/>
          <p:cNvGrpSpPr/>
          <p:nvPr/>
        </p:nvGrpSpPr>
        <p:grpSpPr>
          <a:xfrm rot="0">
            <a:off x="914400" y="8715375"/>
            <a:ext cx="16144875" cy="642938"/>
            <a:chOff x="0" y="0"/>
            <a:chExt cx="21526500" cy="857250"/>
          </a:xfrm>
        </p:grpSpPr>
        <p:sp>
          <p:nvSpPr>
            <p:cNvPr name="Freeform 103" id="103"/>
            <p:cNvSpPr/>
            <p:nvPr/>
          </p:nvSpPr>
          <p:spPr>
            <a:xfrm flipH="false" flipV="false" rot="0">
              <a:off x="0" y="0"/>
              <a:ext cx="21526500" cy="857250"/>
            </a:xfrm>
            <a:custGeom>
              <a:avLst/>
              <a:gdLst/>
              <a:ahLst/>
              <a:cxnLst/>
              <a:rect r="r" b="b" t="t" l="l"/>
              <a:pathLst>
                <a:path h="857250" w="21526500">
                  <a:moveTo>
                    <a:pt x="0" y="0"/>
                  </a:moveTo>
                  <a:lnTo>
                    <a:pt x="21526500" y="0"/>
                  </a:lnTo>
                  <a:lnTo>
                    <a:pt x="21526500" y="857250"/>
                  </a:lnTo>
                  <a:lnTo>
                    <a:pt x="0" y="857250"/>
                  </a:lnTo>
                  <a:close/>
                </a:path>
              </a:pathLst>
            </a:custGeom>
            <a:blipFill>
              <a:blip r:embed="rId4">
                <a:alphaModFix amt="0"/>
              </a:blip>
              <a:stretch>
                <a:fillRect l="0" t="-439290" r="0" b="-439290"/>
              </a:stretch>
            </a:blipFill>
          </p:spPr>
        </p:sp>
        <p:sp>
          <p:nvSpPr>
            <p:cNvPr name="TextBox 104" id="104"/>
            <p:cNvSpPr txBox="true"/>
            <p:nvPr/>
          </p:nvSpPr>
          <p:spPr>
            <a:xfrm>
              <a:off x="0" y="0"/>
              <a:ext cx="21526500" cy="857250"/>
            </a:xfrm>
            <a:prstGeom prst="rect">
              <a:avLst/>
            </a:prstGeom>
          </p:spPr>
          <p:txBody>
            <a:bodyPr anchor="ctr" rtlCol="false" tIns="0" lIns="0" bIns="0" rIns="0"/>
            <a:lstStyle/>
            <a:p>
              <a:pPr algn="l">
                <a:lnSpc>
                  <a:spcPts val="3779"/>
                </a:lnSpc>
              </a:pPr>
              <a:r>
                <a:rPr lang="en-US" sz="3150" b="true">
                  <a:solidFill>
                    <a:srgbClr val="1766C8"/>
                  </a:solidFill>
                  <a:latin typeface="Aptos Bold"/>
                  <a:ea typeface="Aptos Bold"/>
                  <a:cs typeface="Aptos Bold"/>
                  <a:sym typeface="Aptos Bold"/>
                </a:rPr>
                <a:t>Para conocer el estado y el responsable, hay que reconstruir el historial.</a:t>
              </a:r>
            </a:p>
          </p:txBody>
        </p:sp>
      </p:grpSp>
      <p:grpSp>
        <p:nvGrpSpPr>
          <p:cNvPr name="Group 105" id="105"/>
          <p:cNvGrpSpPr/>
          <p:nvPr/>
        </p:nvGrpSpPr>
        <p:grpSpPr>
          <a:xfrm rot="0">
            <a:off x="14360804" y="430782"/>
            <a:ext cx="3069946" cy="852936"/>
            <a:chOff x="0" y="0"/>
            <a:chExt cx="2799232" cy="777723"/>
          </a:xfrm>
        </p:grpSpPr>
        <p:sp>
          <p:nvSpPr>
            <p:cNvPr name="Freeform 106" id="106"/>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Solución propuesta</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TO-BE: áreas conectadas mediante un historial compartido</a:t>
              </a:r>
            </a:p>
          </p:txBody>
        </p:sp>
      </p:grpSp>
      <p:grpSp>
        <p:nvGrpSpPr>
          <p:cNvPr name="Group 9" id="9"/>
          <p:cNvGrpSpPr/>
          <p:nvPr/>
        </p:nvGrpSpPr>
        <p:grpSpPr>
          <a:xfrm rot="0">
            <a:off x="914400" y="2886075"/>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05</a:t>
              </a:r>
            </a:p>
          </p:txBody>
        </p:sp>
      </p:grpSp>
      <p:grpSp>
        <p:nvGrpSpPr>
          <p:cNvPr name="Group 14" id="14"/>
          <p:cNvGrpSpPr/>
          <p:nvPr/>
        </p:nvGrpSpPr>
        <p:grpSpPr>
          <a:xfrm rot="0">
            <a:off x="907256" y="3707606"/>
            <a:ext cx="2586038" cy="1300162"/>
            <a:chOff x="0" y="0"/>
            <a:chExt cx="3448050" cy="1733550"/>
          </a:xfrm>
        </p:grpSpPr>
        <p:sp>
          <p:nvSpPr>
            <p:cNvPr name="Freeform 15" id="15"/>
            <p:cNvSpPr/>
            <p:nvPr/>
          </p:nvSpPr>
          <p:spPr>
            <a:xfrm flipH="false" flipV="false" rot="0">
              <a:off x="0" y="0"/>
              <a:ext cx="3448050" cy="1733550"/>
            </a:xfrm>
            <a:custGeom>
              <a:avLst/>
              <a:gdLst/>
              <a:ahLst/>
              <a:cxnLst/>
              <a:rect r="r" b="b" t="t" l="l"/>
              <a:pathLst>
                <a:path h="1733550" w="3448050">
                  <a:moveTo>
                    <a:pt x="0" y="0"/>
                  </a:moveTo>
                  <a:lnTo>
                    <a:pt x="3448050" y="0"/>
                  </a:lnTo>
                  <a:lnTo>
                    <a:pt x="3448050" y="1733550"/>
                  </a:lnTo>
                  <a:lnTo>
                    <a:pt x="0" y="1733550"/>
                  </a:lnTo>
                  <a:close/>
                </a:path>
              </a:pathLst>
            </a:custGeom>
            <a:solidFill>
              <a:srgbClr val="EAF2F9"/>
            </a:solidFill>
            <a:ln w="14288" cap="sq">
              <a:solidFill>
                <a:srgbClr val="D5E3EC"/>
              </a:solidFill>
              <a:prstDash val="solid"/>
              <a:miter/>
            </a:ln>
          </p:spPr>
        </p:sp>
      </p:grpSp>
      <p:grpSp>
        <p:nvGrpSpPr>
          <p:cNvPr name="Group 16" id="16"/>
          <p:cNvGrpSpPr/>
          <p:nvPr/>
        </p:nvGrpSpPr>
        <p:grpSpPr>
          <a:xfrm rot="0">
            <a:off x="914400" y="3714750"/>
            <a:ext cx="71438" cy="1285875"/>
            <a:chOff x="0" y="0"/>
            <a:chExt cx="95250" cy="1714500"/>
          </a:xfrm>
        </p:grpSpPr>
        <p:sp>
          <p:nvSpPr>
            <p:cNvPr name="Freeform 17" id="17"/>
            <p:cNvSpPr/>
            <p:nvPr/>
          </p:nvSpPr>
          <p:spPr>
            <a:xfrm flipH="false" flipV="false" rot="0">
              <a:off x="0" y="0"/>
              <a:ext cx="95250" cy="1714500"/>
            </a:xfrm>
            <a:custGeom>
              <a:avLst/>
              <a:gdLst/>
              <a:ahLst/>
              <a:cxnLst/>
              <a:rect r="r" b="b" t="t" l="l"/>
              <a:pathLst>
                <a:path h="1714500" w="95250">
                  <a:moveTo>
                    <a:pt x="0" y="0"/>
                  </a:moveTo>
                  <a:lnTo>
                    <a:pt x="95250" y="0"/>
                  </a:lnTo>
                  <a:lnTo>
                    <a:pt x="95250" y="1714500"/>
                  </a:lnTo>
                  <a:lnTo>
                    <a:pt x="0" y="1714500"/>
                  </a:lnTo>
                  <a:close/>
                </a:path>
              </a:pathLst>
            </a:custGeom>
            <a:solidFill>
              <a:srgbClr val="007F89"/>
            </a:solidFill>
          </p:spPr>
        </p:sp>
      </p:grpSp>
      <p:grpSp>
        <p:nvGrpSpPr>
          <p:cNvPr name="Group 18" id="18"/>
          <p:cNvGrpSpPr/>
          <p:nvPr/>
        </p:nvGrpSpPr>
        <p:grpSpPr>
          <a:xfrm rot="0">
            <a:off x="1157288" y="3886200"/>
            <a:ext cx="2085975" cy="942975"/>
            <a:chOff x="0" y="0"/>
            <a:chExt cx="2781300" cy="1257300"/>
          </a:xfrm>
        </p:grpSpPr>
        <p:sp>
          <p:nvSpPr>
            <p:cNvPr name="Freeform 19" id="19"/>
            <p:cNvSpPr/>
            <p:nvPr/>
          </p:nvSpPr>
          <p:spPr>
            <a:xfrm flipH="false" flipV="false" rot="0">
              <a:off x="0" y="0"/>
              <a:ext cx="2781300" cy="1257300"/>
            </a:xfrm>
            <a:custGeom>
              <a:avLst/>
              <a:gdLst/>
              <a:ahLst/>
              <a:cxnLst/>
              <a:rect r="r" b="b" t="t" l="l"/>
              <a:pathLst>
                <a:path h="1257300" w="2781300">
                  <a:moveTo>
                    <a:pt x="0" y="0"/>
                  </a:moveTo>
                  <a:lnTo>
                    <a:pt x="2781300" y="0"/>
                  </a:lnTo>
                  <a:lnTo>
                    <a:pt x="2781300" y="1257300"/>
                  </a:lnTo>
                  <a:lnTo>
                    <a:pt x="0" y="1257300"/>
                  </a:lnTo>
                  <a:close/>
                </a:path>
              </a:pathLst>
            </a:custGeom>
            <a:blipFill>
              <a:blip r:embed="rId4">
                <a:alphaModFix amt="0"/>
              </a:blip>
              <a:stretch>
                <a:fillRect l="-8000" t="0" r="-8000" b="0"/>
              </a:stretch>
            </a:blipFill>
          </p:spPr>
        </p:sp>
        <p:sp>
          <p:nvSpPr>
            <p:cNvPr name="TextBox 20" id="20"/>
            <p:cNvSpPr txBox="true"/>
            <p:nvPr/>
          </p:nvSpPr>
          <p:spPr>
            <a:xfrm>
              <a:off x="0" y="0"/>
              <a:ext cx="2781300" cy="12573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Terreno</a:t>
              </a:r>
            </a:p>
            <a:p>
              <a:pPr algn="l">
                <a:lnSpc>
                  <a:spcPts val="3104"/>
                </a:lnSpc>
              </a:pPr>
              <a:r>
                <a:rPr lang="en-US" sz="2587" b="true">
                  <a:solidFill>
                    <a:srgbClr val="153044"/>
                  </a:solidFill>
                  <a:latin typeface="Aptos Bold"/>
                  <a:ea typeface="Aptos Bold"/>
                  <a:cs typeface="Aptos Bold"/>
                  <a:sym typeface="Aptos Bold"/>
                </a:rPr>
                <a:t>Retiro</a:t>
              </a:r>
            </a:p>
          </p:txBody>
        </p:sp>
      </p:grpSp>
      <p:grpSp>
        <p:nvGrpSpPr>
          <p:cNvPr name="Group 21" id="21"/>
          <p:cNvGrpSpPr/>
          <p:nvPr/>
        </p:nvGrpSpPr>
        <p:grpSpPr>
          <a:xfrm rot="0">
            <a:off x="4136231" y="3707606"/>
            <a:ext cx="2586038" cy="1300162"/>
            <a:chOff x="0" y="0"/>
            <a:chExt cx="3448050" cy="1733550"/>
          </a:xfrm>
        </p:grpSpPr>
        <p:sp>
          <p:nvSpPr>
            <p:cNvPr name="Freeform 22" id="22"/>
            <p:cNvSpPr/>
            <p:nvPr/>
          </p:nvSpPr>
          <p:spPr>
            <a:xfrm flipH="false" flipV="false" rot="0">
              <a:off x="0" y="0"/>
              <a:ext cx="3448050" cy="1733550"/>
            </a:xfrm>
            <a:custGeom>
              <a:avLst/>
              <a:gdLst/>
              <a:ahLst/>
              <a:cxnLst/>
              <a:rect r="r" b="b" t="t" l="l"/>
              <a:pathLst>
                <a:path h="1733550" w="3448050">
                  <a:moveTo>
                    <a:pt x="0" y="0"/>
                  </a:moveTo>
                  <a:lnTo>
                    <a:pt x="3448050" y="0"/>
                  </a:lnTo>
                  <a:lnTo>
                    <a:pt x="3448050" y="1733550"/>
                  </a:lnTo>
                  <a:lnTo>
                    <a:pt x="0" y="1733550"/>
                  </a:lnTo>
                  <a:close/>
                </a:path>
              </a:pathLst>
            </a:custGeom>
            <a:solidFill>
              <a:srgbClr val="EAF2F9"/>
            </a:solidFill>
            <a:ln w="14288" cap="sq">
              <a:solidFill>
                <a:srgbClr val="D5E3EC"/>
              </a:solidFill>
              <a:prstDash val="solid"/>
              <a:miter/>
            </a:ln>
          </p:spPr>
        </p:sp>
      </p:grpSp>
      <p:grpSp>
        <p:nvGrpSpPr>
          <p:cNvPr name="Group 23" id="23"/>
          <p:cNvGrpSpPr/>
          <p:nvPr/>
        </p:nvGrpSpPr>
        <p:grpSpPr>
          <a:xfrm rot="0">
            <a:off x="4143375" y="3714750"/>
            <a:ext cx="71438" cy="1285875"/>
            <a:chOff x="0" y="0"/>
            <a:chExt cx="95250" cy="1714500"/>
          </a:xfrm>
        </p:grpSpPr>
        <p:sp>
          <p:nvSpPr>
            <p:cNvPr name="Freeform 24" id="24"/>
            <p:cNvSpPr/>
            <p:nvPr/>
          </p:nvSpPr>
          <p:spPr>
            <a:xfrm flipH="false" flipV="false" rot="0">
              <a:off x="0" y="0"/>
              <a:ext cx="95250" cy="1714500"/>
            </a:xfrm>
            <a:custGeom>
              <a:avLst/>
              <a:gdLst/>
              <a:ahLst/>
              <a:cxnLst/>
              <a:rect r="r" b="b" t="t" l="l"/>
              <a:pathLst>
                <a:path h="1714500" w="95250">
                  <a:moveTo>
                    <a:pt x="0" y="0"/>
                  </a:moveTo>
                  <a:lnTo>
                    <a:pt x="95250" y="0"/>
                  </a:lnTo>
                  <a:lnTo>
                    <a:pt x="95250" y="1714500"/>
                  </a:lnTo>
                  <a:lnTo>
                    <a:pt x="0" y="1714500"/>
                  </a:lnTo>
                  <a:close/>
                </a:path>
              </a:pathLst>
            </a:custGeom>
            <a:solidFill>
              <a:srgbClr val="007F89"/>
            </a:solidFill>
          </p:spPr>
        </p:sp>
      </p:grpSp>
      <p:grpSp>
        <p:nvGrpSpPr>
          <p:cNvPr name="Group 25" id="25"/>
          <p:cNvGrpSpPr/>
          <p:nvPr/>
        </p:nvGrpSpPr>
        <p:grpSpPr>
          <a:xfrm rot="0">
            <a:off x="4386262" y="3886200"/>
            <a:ext cx="2085975" cy="942975"/>
            <a:chOff x="0" y="0"/>
            <a:chExt cx="2781300" cy="1257300"/>
          </a:xfrm>
        </p:grpSpPr>
        <p:sp>
          <p:nvSpPr>
            <p:cNvPr name="Freeform 26" id="26"/>
            <p:cNvSpPr/>
            <p:nvPr/>
          </p:nvSpPr>
          <p:spPr>
            <a:xfrm flipH="false" flipV="false" rot="0">
              <a:off x="0" y="0"/>
              <a:ext cx="2781300" cy="1257300"/>
            </a:xfrm>
            <a:custGeom>
              <a:avLst/>
              <a:gdLst/>
              <a:ahLst/>
              <a:cxnLst/>
              <a:rect r="r" b="b" t="t" l="l"/>
              <a:pathLst>
                <a:path h="1257300" w="2781300">
                  <a:moveTo>
                    <a:pt x="0" y="0"/>
                  </a:moveTo>
                  <a:lnTo>
                    <a:pt x="2781300" y="0"/>
                  </a:lnTo>
                  <a:lnTo>
                    <a:pt x="2781300" y="1257300"/>
                  </a:lnTo>
                  <a:lnTo>
                    <a:pt x="0" y="1257300"/>
                  </a:lnTo>
                  <a:close/>
                </a:path>
              </a:pathLst>
            </a:custGeom>
            <a:blipFill>
              <a:blip r:embed="rId4">
                <a:alphaModFix amt="0"/>
              </a:blip>
              <a:stretch>
                <a:fillRect l="-8000" t="0" r="-8000" b="0"/>
              </a:stretch>
            </a:blipFill>
          </p:spPr>
        </p:sp>
        <p:sp>
          <p:nvSpPr>
            <p:cNvPr name="TextBox 27" id="27"/>
            <p:cNvSpPr txBox="true"/>
            <p:nvPr/>
          </p:nvSpPr>
          <p:spPr>
            <a:xfrm>
              <a:off x="0" y="0"/>
              <a:ext cx="2781300" cy="12573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Bodega</a:t>
              </a:r>
            </a:p>
            <a:p>
              <a:pPr algn="l">
                <a:lnSpc>
                  <a:spcPts val="3104"/>
                </a:lnSpc>
              </a:pPr>
              <a:r>
                <a:rPr lang="en-US" sz="2587" b="true">
                  <a:solidFill>
                    <a:srgbClr val="153044"/>
                  </a:solidFill>
                  <a:latin typeface="Aptos Bold"/>
                  <a:ea typeface="Aptos Bold"/>
                  <a:cs typeface="Aptos Bold"/>
                  <a:sym typeface="Aptos Bold"/>
                </a:rPr>
                <a:t>Recepción</a:t>
              </a:r>
            </a:p>
          </p:txBody>
        </p:sp>
      </p:grpSp>
      <p:grpSp>
        <p:nvGrpSpPr>
          <p:cNvPr name="Group 28" id="28"/>
          <p:cNvGrpSpPr/>
          <p:nvPr/>
        </p:nvGrpSpPr>
        <p:grpSpPr>
          <a:xfrm rot="0">
            <a:off x="7365206" y="3707606"/>
            <a:ext cx="3014662" cy="1300162"/>
            <a:chOff x="0" y="0"/>
            <a:chExt cx="4019550" cy="1733550"/>
          </a:xfrm>
        </p:grpSpPr>
        <p:sp>
          <p:nvSpPr>
            <p:cNvPr name="Freeform 29" id="29"/>
            <p:cNvSpPr/>
            <p:nvPr/>
          </p:nvSpPr>
          <p:spPr>
            <a:xfrm flipH="false" flipV="false" rot="0">
              <a:off x="0" y="0"/>
              <a:ext cx="4019550" cy="1733550"/>
            </a:xfrm>
            <a:custGeom>
              <a:avLst/>
              <a:gdLst/>
              <a:ahLst/>
              <a:cxnLst/>
              <a:rect r="r" b="b" t="t" l="l"/>
              <a:pathLst>
                <a:path h="1733550" w="4019550">
                  <a:moveTo>
                    <a:pt x="0" y="0"/>
                  </a:moveTo>
                  <a:lnTo>
                    <a:pt x="4019550" y="0"/>
                  </a:lnTo>
                  <a:lnTo>
                    <a:pt x="4019550" y="1733550"/>
                  </a:lnTo>
                  <a:lnTo>
                    <a:pt x="0" y="1733550"/>
                  </a:lnTo>
                  <a:close/>
                </a:path>
              </a:pathLst>
            </a:custGeom>
            <a:solidFill>
              <a:srgbClr val="EAF2F9"/>
            </a:solidFill>
            <a:ln w="14288" cap="sq">
              <a:solidFill>
                <a:srgbClr val="D5E3EC"/>
              </a:solidFill>
              <a:prstDash val="solid"/>
              <a:miter/>
            </a:ln>
          </p:spPr>
        </p:sp>
      </p:grpSp>
      <p:grpSp>
        <p:nvGrpSpPr>
          <p:cNvPr name="Group 30" id="30"/>
          <p:cNvGrpSpPr/>
          <p:nvPr/>
        </p:nvGrpSpPr>
        <p:grpSpPr>
          <a:xfrm rot="0">
            <a:off x="7372350" y="3714750"/>
            <a:ext cx="71438" cy="1285875"/>
            <a:chOff x="0" y="0"/>
            <a:chExt cx="95250" cy="1714500"/>
          </a:xfrm>
        </p:grpSpPr>
        <p:sp>
          <p:nvSpPr>
            <p:cNvPr name="Freeform 31" id="31"/>
            <p:cNvSpPr/>
            <p:nvPr/>
          </p:nvSpPr>
          <p:spPr>
            <a:xfrm flipH="false" flipV="false" rot="0">
              <a:off x="0" y="0"/>
              <a:ext cx="95250" cy="1714500"/>
            </a:xfrm>
            <a:custGeom>
              <a:avLst/>
              <a:gdLst/>
              <a:ahLst/>
              <a:cxnLst/>
              <a:rect r="r" b="b" t="t" l="l"/>
              <a:pathLst>
                <a:path h="1714500" w="95250">
                  <a:moveTo>
                    <a:pt x="0" y="0"/>
                  </a:moveTo>
                  <a:lnTo>
                    <a:pt x="95250" y="0"/>
                  </a:lnTo>
                  <a:lnTo>
                    <a:pt x="95250" y="1714500"/>
                  </a:lnTo>
                  <a:lnTo>
                    <a:pt x="0" y="1714500"/>
                  </a:lnTo>
                  <a:close/>
                </a:path>
              </a:pathLst>
            </a:custGeom>
            <a:solidFill>
              <a:srgbClr val="007F89"/>
            </a:solidFill>
          </p:spPr>
        </p:sp>
      </p:grpSp>
      <p:grpSp>
        <p:nvGrpSpPr>
          <p:cNvPr name="Group 32" id="32"/>
          <p:cNvGrpSpPr/>
          <p:nvPr/>
        </p:nvGrpSpPr>
        <p:grpSpPr>
          <a:xfrm rot="0">
            <a:off x="7615238" y="3886200"/>
            <a:ext cx="2514600" cy="942975"/>
            <a:chOff x="0" y="0"/>
            <a:chExt cx="3352800" cy="1257300"/>
          </a:xfrm>
        </p:grpSpPr>
        <p:sp>
          <p:nvSpPr>
            <p:cNvPr name="Freeform 33" id="33"/>
            <p:cNvSpPr/>
            <p:nvPr/>
          </p:nvSpPr>
          <p:spPr>
            <a:xfrm flipH="false" flipV="false" rot="0">
              <a:off x="0" y="0"/>
              <a:ext cx="3352800" cy="1257300"/>
            </a:xfrm>
            <a:custGeom>
              <a:avLst/>
              <a:gdLst/>
              <a:ahLst/>
              <a:cxnLst/>
              <a:rect r="r" b="b" t="t" l="l"/>
              <a:pathLst>
                <a:path h="1257300" w="3352800">
                  <a:moveTo>
                    <a:pt x="0" y="0"/>
                  </a:moveTo>
                  <a:lnTo>
                    <a:pt x="3352800" y="0"/>
                  </a:lnTo>
                  <a:lnTo>
                    <a:pt x="3352800" y="1257300"/>
                  </a:lnTo>
                  <a:lnTo>
                    <a:pt x="0" y="1257300"/>
                  </a:lnTo>
                  <a:close/>
                </a:path>
              </a:pathLst>
            </a:custGeom>
            <a:blipFill>
              <a:blip r:embed="rId4">
                <a:alphaModFix amt="0"/>
              </a:blip>
              <a:stretch>
                <a:fillRect l="0" t="-1960" r="0" b="-1960"/>
              </a:stretch>
            </a:blipFill>
          </p:spPr>
        </p:sp>
        <p:sp>
          <p:nvSpPr>
            <p:cNvPr name="TextBox 34" id="34"/>
            <p:cNvSpPr txBox="true"/>
            <p:nvPr/>
          </p:nvSpPr>
          <p:spPr>
            <a:xfrm>
              <a:off x="0" y="0"/>
              <a:ext cx="3352800" cy="12573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Laboratorio</a:t>
              </a:r>
            </a:p>
            <a:p>
              <a:pPr algn="l">
                <a:lnSpc>
                  <a:spcPts val="3104"/>
                </a:lnSpc>
              </a:pPr>
              <a:r>
                <a:rPr lang="en-US" sz="2587" b="true">
                  <a:solidFill>
                    <a:srgbClr val="153044"/>
                  </a:solidFill>
                  <a:latin typeface="Aptos Bold"/>
                  <a:ea typeface="Aptos Bold"/>
                  <a:cs typeface="Aptos Bold"/>
                  <a:sym typeface="Aptos Bold"/>
                </a:rPr>
                <a:t>Reparación</a:t>
              </a:r>
            </a:p>
          </p:txBody>
        </p:sp>
      </p:grpSp>
      <p:grpSp>
        <p:nvGrpSpPr>
          <p:cNvPr name="Group 35" id="35"/>
          <p:cNvGrpSpPr/>
          <p:nvPr/>
        </p:nvGrpSpPr>
        <p:grpSpPr>
          <a:xfrm rot="0">
            <a:off x="11022806" y="3707606"/>
            <a:ext cx="2586038" cy="1300162"/>
            <a:chOff x="0" y="0"/>
            <a:chExt cx="3448050" cy="1733550"/>
          </a:xfrm>
        </p:grpSpPr>
        <p:sp>
          <p:nvSpPr>
            <p:cNvPr name="Freeform 36" id="36"/>
            <p:cNvSpPr/>
            <p:nvPr/>
          </p:nvSpPr>
          <p:spPr>
            <a:xfrm flipH="false" flipV="false" rot="0">
              <a:off x="0" y="0"/>
              <a:ext cx="3448050" cy="1733550"/>
            </a:xfrm>
            <a:custGeom>
              <a:avLst/>
              <a:gdLst/>
              <a:ahLst/>
              <a:cxnLst/>
              <a:rect r="r" b="b" t="t" l="l"/>
              <a:pathLst>
                <a:path h="1733550" w="3448050">
                  <a:moveTo>
                    <a:pt x="0" y="0"/>
                  </a:moveTo>
                  <a:lnTo>
                    <a:pt x="3448050" y="0"/>
                  </a:lnTo>
                  <a:lnTo>
                    <a:pt x="3448050" y="1733550"/>
                  </a:lnTo>
                  <a:lnTo>
                    <a:pt x="0" y="1733550"/>
                  </a:lnTo>
                  <a:close/>
                </a:path>
              </a:pathLst>
            </a:custGeom>
            <a:solidFill>
              <a:srgbClr val="EAF2F9"/>
            </a:solidFill>
            <a:ln w="14288" cap="sq">
              <a:solidFill>
                <a:srgbClr val="D5E3EC"/>
              </a:solidFill>
              <a:prstDash val="solid"/>
              <a:miter/>
            </a:ln>
          </p:spPr>
        </p:sp>
      </p:grpSp>
      <p:grpSp>
        <p:nvGrpSpPr>
          <p:cNvPr name="Group 37" id="37"/>
          <p:cNvGrpSpPr/>
          <p:nvPr/>
        </p:nvGrpSpPr>
        <p:grpSpPr>
          <a:xfrm rot="0">
            <a:off x="11029950" y="3714750"/>
            <a:ext cx="71438" cy="1285875"/>
            <a:chOff x="0" y="0"/>
            <a:chExt cx="95250" cy="1714500"/>
          </a:xfrm>
        </p:grpSpPr>
        <p:sp>
          <p:nvSpPr>
            <p:cNvPr name="Freeform 38" id="38"/>
            <p:cNvSpPr/>
            <p:nvPr/>
          </p:nvSpPr>
          <p:spPr>
            <a:xfrm flipH="false" flipV="false" rot="0">
              <a:off x="0" y="0"/>
              <a:ext cx="95250" cy="1714500"/>
            </a:xfrm>
            <a:custGeom>
              <a:avLst/>
              <a:gdLst/>
              <a:ahLst/>
              <a:cxnLst/>
              <a:rect r="r" b="b" t="t" l="l"/>
              <a:pathLst>
                <a:path h="1714500" w="95250">
                  <a:moveTo>
                    <a:pt x="0" y="0"/>
                  </a:moveTo>
                  <a:lnTo>
                    <a:pt x="95250" y="0"/>
                  </a:lnTo>
                  <a:lnTo>
                    <a:pt x="95250" y="1714500"/>
                  </a:lnTo>
                  <a:lnTo>
                    <a:pt x="0" y="1714500"/>
                  </a:lnTo>
                  <a:close/>
                </a:path>
              </a:pathLst>
            </a:custGeom>
            <a:solidFill>
              <a:srgbClr val="007F89"/>
            </a:solidFill>
          </p:spPr>
        </p:sp>
      </p:grpSp>
      <p:grpSp>
        <p:nvGrpSpPr>
          <p:cNvPr name="Group 39" id="39"/>
          <p:cNvGrpSpPr/>
          <p:nvPr/>
        </p:nvGrpSpPr>
        <p:grpSpPr>
          <a:xfrm rot="0">
            <a:off x="11272838" y="3886200"/>
            <a:ext cx="2085975" cy="942975"/>
            <a:chOff x="0" y="0"/>
            <a:chExt cx="2781300" cy="1257300"/>
          </a:xfrm>
        </p:grpSpPr>
        <p:sp>
          <p:nvSpPr>
            <p:cNvPr name="Freeform 40" id="40"/>
            <p:cNvSpPr/>
            <p:nvPr/>
          </p:nvSpPr>
          <p:spPr>
            <a:xfrm flipH="false" flipV="false" rot="0">
              <a:off x="0" y="0"/>
              <a:ext cx="2781300" cy="1257300"/>
            </a:xfrm>
            <a:custGeom>
              <a:avLst/>
              <a:gdLst/>
              <a:ahLst/>
              <a:cxnLst/>
              <a:rect r="r" b="b" t="t" l="l"/>
              <a:pathLst>
                <a:path h="1257300" w="2781300">
                  <a:moveTo>
                    <a:pt x="0" y="0"/>
                  </a:moveTo>
                  <a:lnTo>
                    <a:pt x="2781300" y="0"/>
                  </a:lnTo>
                  <a:lnTo>
                    <a:pt x="2781300" y="1257300"/>
                  </a:lnTo>
                  <a:lnTo>
                    <a:pt x="0" y="1257300"/>
                  </a:lnTo>
                  <a:close/>
                </a:path>
              </a:pathLst>
            </a:custGeom>
            <a:blipFill>
              <a:blip r:embed="rId4">
                <a:alphaModFix amt="0"/>
              </a:blip>
              <a:stretch>
                <a:fillRect l="-8000" t="0" r="-8000" b="0"/>
              </a:stretch>
            </a:blipFill>
          </p:spPr>
        </p:sp>
        <p:sp>
          <p:nvSpPr>
            <p:cNvPr name="TextBox 41" id="41"/>
            <p:cNvSpPr txBox="true"/>
            <p:nvPr/>
          </p:nvSpPr>
          <p:spPr>
            <a:xfrm>
              <a:off x="0" y="0"/>
              <a:ext cx="2781300" cy="12573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Bodega</a:t>
              </a:r>
            </a:p>
            <a:p>
              <a:pPr algn="l">
                <a:lnSpc>
                  <a:spcPts val="3104"/>
                </a:lnSpc>
              </a:pPr>
              <a:r>
                <a:rPr lang="en-US" sz="2587" b="true">
                  <a:solidFill>
                    <a:srgbClr val="153044"/>
                  </a:solidFill>
                  <a:latin typeface="Aptos Bold"/>
                  <a:ea typeface="Aptos Bold"/>
                  <a:cs typeface="Aptos Bold"/>
                  <a:sym typeface="Aptos Bold"/>
                </a:rPr>
                <a:t>Recepción</a:t>
              </a:r>
            </a:p>
          </p:txBody>
        </p:sp>
      </p:grpSp>
      <p:grpSp>
        <p:nvGrpSpPr>
          <p:cNvPr name="Group 42" id="42"/>
          <p:cNvGrpSpPr/>
          <p:nvPr/>
        </p:nvGrpSpPr>
        <p:grpSpPr>
          <a:xfrm rot="0">
            <a:off x="14251781" y="3707606"/>
            <a:ext cx="3014662" cy="1300162"/>
            <a:chOff x="0" y="0"/>
            <a:chExt cx="4019550" cy="1733550"/>
          </a:xfrm>
        </p:grpSpPr>
        <p:sp>
          <p:nvSpPr>
            <p:cNvPr name="Freeform 43" id="43"/>
            <p:cNvSpPr/>
            <p:nvPr/>
          </p:nvSpPr>
          <p:spPr>
            <a:xfrm flipH="false" flipV="false" rot="0">
              <a:off x="0" y="0"/>
              <a:ext cx="4019550" cy="1733550"/>
            </a:xfrm>
            <a:custGeom>
              <a:avLst/>
              <a:gdLst/>
              <a:ahLst/>
              <a:cxnLst/>
              <a:rect r="r" b="b" t="t" l="l"/>
              <a:pathLst>
                <a:path h="1733550" w="4019550">
                  <a:moveTo>
                    <a:pt x="0" y="0"/>
                  </a:moveTo>
                  <a:lnTo>
                    <a:pt x="4019550" y="0"/>
                  </a:lnTo>
                  <a:lnTo>
                    <a:pt x="4019550" y="1733550"/>
                  </a:lnTo>
                  <a:lnTo>
                    <a:pt x="0" y="1733550"/>
                  </a:lnTo>
                  <a:close/>
                </a:path>
              </a:pathLst>
            </a:custGeom>
            <a:solidFill>
              <a:srgbClr val="007F89"/>
            </a:solidFill>
            <a:ln w="14288" cap="sq">
              <a:solidFill>
                <a:srgbClr val="D5E3EC"/>
              </a:solidFill>
              <a:prstDash val="solid"/>
              <a:miter/>
            </a:ln>
          </p:spPr>
        </p:sp>
      </p:grpSp>
      <p:grpSp>
        <p:nvGrpSpPr>
          <p:cNvPr name="Group 44" id="44"/>
          <p:cNvGrpSpPr/>
          <p:nvPr/>
        </p:nvGrpSpPr>
        <p:grpSpPr>
          <a:xfrm rot="0">
            <a:off x="14258925" y="3714750"/>
            <a:ext cx="71438" cy="1285875"/>
            <a:chOff x="0" y="0"/>
            <a:chExt cx="95250" cy="1714500"/>
          </a:xfrm>
        </p:grpSpPr>
        <p:sp>
          <p:nvSpPr>
            <p:cNvPr name="Freeform 45" id="45"/>
            <p:cNvSpPr/>
            <p:nvPr/>
          </p:nvSpPr>
          <p:spPr>
            <a:xfrm flipH="false" flipV="false" rot="0">
              <a:off x="0" y="0"/>
              <a:ext cx="95250" cy="1714500"/>
            </a:xfrm>
            <a:custGeom>
              <a:avLst/>
              <a:gdLst/>
              <a:ahLst/>
              <a:cxnLst/>
              <a:rect r="r" b="b" t="t" l="l"/>
              <a:pathLst>
                <a:path h="1714500" w="95250">
                  <a:moveTo>
                    <a:pt x="0" y="0"/>
                  </a:moveTo>
                  <a:lnTo>
                    <a:pt x="95250" y="0"/>
                  </a:lnTo>
                  <a:lnTo>
                    <a:pt x="95250" y="1714500"/>
                  </a:lnTo>
                  <a:lnTo>
                    <a:pt x="0" y="1714500"/>
                  </a:lnTo>
                  <a:close/>
                </a:path>
              </a:pathLst>
            </a:custGeom>
            <a:solidFill>
              <a:srgbClr val="007F89"/>
            </a:solidFill>
          </p:spPr>
        </p:sp>
      </p:grpSp>
      <p:grpSp>
        <p:nvGrpSpPr>
          <p:cNvPr name="Group 46" id="46"/>
          <p:cNvGrpSpPr/>
          <p:nvPr/>
        </p:nvGrpSpPr>
        <p:grpSpPr>
          <a:xfrm rot="0">
            <a:off x="14501812" y="3886200"/>
            <a:ext cx="2514600" cy="942975"/>
            <a:chOff x="0" y="0"/>
            <a:chExt cx="3352800" cy="1257300"/>
          </a:xfrm>
        </p:grpSpPr>
        <p:sp>
          <p:nvSpPr>
            <p:cNvPr name="Freeform 47" id="47"/>
            <p:cNvSpPr/>
            <p:nvPr/>
          </p:nvSpPr>
          <p:spPr>
            <a:xfrm flipH="false" flipV="false" rot="0">
              <a:off x="0" y="0"/>
              <a:ext cx="3352800" cy="1257300"/>
            </a:xfrm>
            <a:custGeom>
              <a:avLst/>
              <a:gdLst/>
              <a:ahLst/>
              <a:cxnLst/>
              <a:rect r="r" b="b" t="t" l="l"/>
              <a:pathLst>
                <a:path h="1257300" w="3352800">
                  <a:moveTo>
                    <a:pt x="0" y="0"/>
                  </a:moveTo>
                  <a:lnTo>
                    <a:pt x="3352800" y="0"/>
                  </a:lnTo>
                  <a:lnTo>
                    <a:pt x="3352800" y="1257300"/>
                  </a:lnTo>
                  <a:lnTo>
                    <a:pt x="0" y="1257300"/>
                  </a:lnTo>
                  <a:close/>
                </a:path>
              </a:pathLst>
            </a:custGeom>
            <a:blipFill>
              <a:blip r:embed="rId4">
                <a:alphaModFix amt="0"/>
              </a:blip>
              <a:stretch>
                <a:fillRect l="0" t="-1960" r="0" b="-1960"/>
              </a:stretch>
            </a:blipFill>
          </p:spPr>
        </p:sp>
        <p:sp>
          <p:nvSpPr>
            <p:cNvPr name="TextBox 48" id="48"/>
            <p:cNvSpPr txBox="true"/>
            <p:nvPr/>
          </p:nvSpPr>
          <p:spPr>
            <a:xfrm>
              <a:off x="0" y="0"/>
              <a:ext cx="3352800" cy="1257300"/>
            </a:xfrm>
            <a:prstGeom prst="rect">
              <a:avLst/>
            </a:prstGeom>
          </p:spPr>
          <p:txBody>
            <a:bodyPr anchor="ctr" rtlCol="false" tIns="0" lIns="0" bIns="0" rIns="0"/>
            <a:lstStyle/>
            <a:p>
              <a:pPr algn="l">
                <a:lnSpc>
                  <a:spcPts val="3104"/>
                </a:lnSpc>
              </a:pPr>
              <a:r>
                <a:rPr lang="en-US" sz="2587" b="true">
                  <a:solidFill>
                    <a:srgbClr val="FFFFFF"/>
                  </a:solidFill>
                  <a:latin typeface="Aptos Bold"/>
                  <a:ea typeface="Aptos Bold"/>
                  <a:cs typeface="Aptos Bold"/>
                  <a:sym typeface="Aptos Bold"/>
                </a:rPr>
                <a:t>QA</a:t>
              </a:r>
            </a:p>
            <a:p>
              <a:pPr algn="l">
                <a:lnSpc>
                  <a:spcPts val="3104"/>
                </a:lnSpc>
              </a:pPr>
              <a:r>
                <a:rPr lang="en-US" sz="2587" b="true">
                  <a:solidFill>
                    <a:srgbClr val="FFFFFF"/>
                  </a:solidFill>
                  <a:latin typeface="Aptos Bold"/>
                  <a:ea typeface="Aptos Bold"/>
                  <a:cs typeface="Aptos Bold"/>
                  <a:sym typeface="Aptos Bold"/>
                </a:rPr>
                <a:t>Dictamen A/B</a:t>
              </a:r>
            </a:p>
          </p:txBody>
        </p:sp>
      </p:grpSp>
      <p:grpSp>
        <p:nvGrpSpPr>
          <p:cNvPr name="Group 49" id="49"/>
          <p:cNvGrpSpPr/>
          <p:nvPr/>
        </p:nvGrpSpPr>
        <p:grpSpPr>
          <a:xfrm rot="0">
            <a:off x="3486150" y="4243388"/>
            <a:ext cx="657225" cy="228600"/>
            <a:chOff x="0" y="0"/>
            <a:chExt cx="876300" cy="304800"/>
          </a:xfrm>
        </p:grpSpPr>
        <p:sp>
          <p:nvSpPr>
            <p:cNvPr name="Freeform 50" id="50"/>
            <p:cNvSpPr/>
            <p:nvPr/>
          </p:nvSpPr>
          <p:spPr>
            <a:xfrm flipH="false" flipV="false" rot="0">
              <a:off x="0" y="0"/>
              <a:ext cx="876300" cy="304800"/>
            </a:xfrm>
            <a:custGeom>
              <a:avLst/>
              <a:gdLst/>
              <a:ahLst/>
              <a:cxnLst/>
              <a:rect r="r" b="b" t="t" l="l"/>
              <a:pathLst>
                <a:path h="304800" w="876300">
                  <a:moveTo>
                    <a:pt x="0" y="76200"/>
                  </a:moveTo>
                  <a:lnTo>
                    <a:pt x="723900" y="76200"/>
                  </a:lnTo>
                  <a:lnTo>
                    <a:pt x="723900" y="0"/>
                  </a:lnTo>
                  <a:lnTo>
                    <a:pt x="876300" y="152400"/>
                  </a:lnTo>
                  <a:lnTo>
                    <a:pt x="723900" y="304800"/>
                  </a:lnTo>
                  <a:lnTo>
                    <a:pt x="723900" y="228600"/>
                  </a:lnTo>
                  <a:lnTo>
                    <a:pt x="0" y="228600"/>
                  </a:lnTo>
                  <a:close/>
                </a:path>
              </a:pathLst>
            </a:custGeom>
            <a:solidFill>
              <a:srgbClr val="1766C8"/>
            </a:solidFill>
          </p:spPr>
        </p:sp>
      </p:grpSp>
      <p:grpSp>
        <p:nvGrpSpPr>
          <p:cNvPr name="Group 51" id="51"/>
          <p:cNvGrpSpPr/>
          <p:nvPr/>
        </p:nvGrpSpPr>
        <p:grpSpPr>
          <a:xfrm rot="0">
            <a:off x="6715125" y="4243388"/>
            <a:ext cx="657225" cy="228600"/>
            <a:chOff x="0" y="0"/>
            <a:chExt cx="876300" cy="304800"/>
          </a:xfrm>
        </p:grpSpPr>
        <p:sp>
          <p:nvSpPr>
            <p:cNvPr name="Freeform 52" id="52"/>
            <p:cNvSpPr/>
            <p:nvPr/>
          </p:nvSpPr>
          <p:spPr>
            <a:xfrm flipH="false" flipV="false" rot="0">
              <a:off x="0" y="0"/>
              <a:ext cx="876300" cy="304800"/>
            </a:xfrm>
            <a:custGeom>
              <a:avLst/>
              <a:gdLst/>
              <a:ahLst/>
              <a:cxnLst/>
              <a:rect r="r" b="b" t="t" l="l"/>
              <a:pathLst>
                <a:path h="304800" w="876300">
                  <a:moveTo>
                    <a:pt x="0" y="76200"/>
                  </a:moveTo>
                  <a:lnTo>
                    <a:pt x="723900" y="76200"/>
                  </a:lnTo>
                  <a:lnTo>
                    <a:pt x="723900" y="0"/>
                  </a:lnTo>
                  <a:lnTo>
                    <a:pt x="876300" y="152400"/>
                  </a:lnTo>
                  <a:lnTo>
                    <a:pt x="723900" y="304800"/>
                  </a:lnTo>
                  <a:lnTo>
                    <a:pt x="723900" y="228600"/>
                  </a:lnTo>
                  <a:lnTo>
                    <a:pt x="0" y="228600"/>
                  </a:lnTo>
                  <a:close/>
                </a:path>
              </a:pathLst>
            </a:custGeom>
            <a:solidFill>
              <a:srgbClr val="1766C8"/>
            </a:solidFill>
          </p:spPr>
        </p:sp>
      </p:grpSp>
      <p:grpSp>
        <p:nvGrpSpPr>
          <p:cNvPr name="Group 53" id="53"/>
          <p:cNvGrpSpPr/>
          <p:nvPr/>
        </p:nvGrpSpPr>
        <p:grpSpPr>
          <a:xfrm rot="0">
            <a:off x="10372725" y="4243388"/>
            <a:ext cx="657225" cy="228600"/>
            <a:chOff x="0" y="0"/>
            <a:chExt cx="876300" cy="304800"/>
          </a:xfrm>
        </p:grpSpPr>
        <p:sp>
          <p:nvSpPr>
            <p:cNvPr name="Freeform 54" id="54"/>
            <p:cNvSpPr/>
            <p:nvPr/>
          </p:nvSpPr>
          <p:spPr>
            <a:xfrm flipH="false" flipV="false" rot="0">
              <a:off x="0" y="0"/>
              <a:ext cx="876300" cy="304800"/>
            </a:xfrm>
            <a:custGeom>
              <a:avLst/>
              <a:gdLst/>
              <a:ahLst/>
              <a:cxnLst/>
              <a:rect r="r" b="b" t="t" l="l"/>
              <a:pathLst>
                <a:path h="304800" w="876300">
                  <a:moveTo>
                    <a:pt x="0" y="76200"/>
                  </a:moveTo>
                  <a:lnTo>
                    <a:pt x="723900" y="76200"/>
                  </a:lnTo>
                  <a:lnTo>
                    <a:pt x="723900" y="0"/>
                  </a:lnTo>
                  <a:lnTo>
                    <a:pt x="876300" y="152400"/>
                  </a:lnTo>
                  <a:lnTo>
                    <a:pt x="723900" y="304800"/>
                  </a:lnTo>
                  <a:lnTo>
                    <a:pt x="723900" y="228600"/>
                  </a:lnTo>
                  <a:lnTo>
                    <a:pt x="0" y="228600"/>
                  </a:lnTo>
                  <a:close/>
                </a:path>
              </a:pathLst>
            </a:custGeom>
            <a:solidFill>
              <a:srgbClr val="1766C8"/>
            </a:solidFill>
          </p:spPr>
        </p:sp>
      </p:grpSp>
      <p:grpSp>
        <p:nvGrpSpPr>
          <p:cNvPr name="Group 55" id="55"/>
          <p:cNvGrpSpPr/>
          <p:nvPr/>
        </p:nvGrpSpPr>
        <p:grpSpPr>
          <a:xfrm rot="0">
            <a:off x="13601700" y="4243388"/>
            <a:ext cx="657225" cy="228600"/>
            <a:chOff x="0" y="0"/>
            <a:chExt cx="876300" cy="304800"/>
          </a:xfrm>
        </p:grpSpPr>
        <p:sp>
          <p:nvSpPr>
            <p:cNvPr name="Freeform 56" id="56"/>
            <p:cNvSpPr/>
            <p:nvPr/>
          </p:nvSpPr>
          <p:spPr>
            <a:xfrm flipH="false" flipV="false" rot="0">
              <a:off x="0" y="0"/>
              <a:ext cx="876300" cy="304800"/>
            </a:xfrm>
            <a:custGeom>
              <a:avLst/>
              <a:gdLst/>
              <a:ahLst/>
              <a:cxnLst/>
              <a:rect r="r" b="b" t="t" l="l"/>
              <a:pathLst>
                <a:path h="304800" w="876300">
                  <a:moveTo>
                    <a:pt x="0" y="76200"/>
                  </a:moveTo>
                  <a:lnTo>
                    <a:pt x="723900" y="76200"/>
                  </a:lnTo>
                  <a:lnTo>
                    <a:pt x="723900" y="0"/>
                  </a:lnTo>
                  <a:lnTo>
                    <a:pt x="876300" y="152400"/>
                  </a:lnTo>
                  <a:lnTo>
                    <a:pt x="723900" y="304800"/>
                  </a:lnTo>
                  <a:lnTo>
                    <a:pt x="723900" y="228600"/>
                  </a:lnTo>
                  <a:lnTo>
                    <a:pt x="0" y="228600"/>
                  </a:lnTo>
                  <a:close/>
                </a:path>
              </a:pathLst>
            </a:custGeom>
            <a:solidFill>
              <a:srgbClr val="1766C8"/>
            </a:solidFill>
          </p:spPr>
        </p:sp>
      </p:grpSp>
      <p:grpSp>
        <p:nvGrpSpPr>
          <p:cNvPr name="Group 57" id="57"/>
          <p:cNvGrpSpPr/>
          <p:nvPr/>
        </p:nvGrpSpPr>
        <p:grpSpPr>
          <a:xfrm rot="0">
            <a:off x="11022806" y="6493669"/>
            <a:ext cx="3014662" cy="1443038"/>
            <a:chOff x="0" y="0"/>
            <a:chExt cx="4019550" cy="1924050"/>
          </a:xfrm>
        </p:grpSpPr>
        <p:sp>
          <p:nvSpPr>
            <p:cNvPr name="Freeform 58" id="58"/>
            <p:cNvSpPr/>
            <p:nvPr/>
          </p:nvSpPr>
          <p:spPr>
            <a:xfrm flipH="false" flipV="false" rot="0">
              <a:off x="0" y="0"/>
              <a:ext cx="4019550" cy="1924050"/>
            </a:xfrm>
            <a:custGeom>
              <a:avLst/>
              <a:gdLst/>
              <a:ahLst/>
              <a:cxnLst/>
              <a:rect r="r" b="b" t="t" l="l"/>
              <a:pathLst>
                <a:path h="1924050" w="4019550">
                  <a:moveTo>
                    <a:pt x="0" y="0"/>
                  </a:moveTo>
                  <a:lnTo>
                    <a:pt x="4019550" y="0"/>
                  </a:lnTo>
                  <a:lnTo>
                    <a:pt x="4019550" y="1924050"/>
                  </a:lnTo>
                  <a:lnTo>
                    <a:pt x="0" y="1924050"/>
                  </a:lnTo>
                  <a:close/>
                </a:path>
              </a:pathLst>
            </a:custGeom>
            <a:solidFill>
              <a:srgbClr val="DDF4F2"/>
            </a:solidFill>
            <a:ln w="14288" cap="sq">
              <a:solidFill>
                <a:srgbClr val="D5E3EC"/>
              </a:solidFill>
              <a:prstDash val="solid"/>
              <a:miter/>
            </a:ln>
          </p:spPr>
        </p:sp>
      </p:grpSp>
      <p:grpSp>
        <p:nvGrpSpPr>
          <p:cNvPr name="Group 59" id="59"/>
          <p:cNvGrpSpPr/>
          <p:nvPr/>
        </p:nvGrpSpPr>
        <p:grpSpPr>
          <a:xfrm rot="0">
            <a:off x="11029950" y="6500812"/>
            <a:ext cx="71438" cy="1428750"/>
            <a:chOff x="0" y="0"/>
            <a:chExt cx="95250" cy="1905000"/>
          </a:xfrm>
        </p:grpSpPr>
        <p:sp>
          <p:nvSpPr>
            <p:cNvPr name="Freeform 60" id="60"/>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61" id="61"/>
          <p:cNvGrpSpPr/>
          <p:nvPr/>
        </p:nvGrpSpPr>
        <p:grpSpPr>
          <a:xfrm rot="0">
            <a:off x="11272838" y="6672262"/>
            <a:ext cx="2514600" cy="1085850"/>
            <a:chOff x="0" y="0"/>
            <a:chExt cx="3352800" cy="1447800"/>
          </a:xfrm>
        </p:grpSpPr>
        <p:sp>
          <p:nvSpPr>
            <p:cNvPr name="Freeform 62" id="62"/>
            <p:cNvSpPr/>
            <p:nvPr/>
          </p:nvSpPr>
          <p:spPr>
            <a:xfrm flipH="false" flipV="false" rot="0">
              <a:off x="0" y="0"/>
              <a:ext cx="3352800" cy="1447800"/>
            </a:xfrm>
            <a:custGeom>
              <a:avLst/>
              <a:gdLst/>
              <a:ahLst/>
              <a:cxnLst/>
              <a:rect r="r" b="b" t="t" l="l"/>
              <a:pathLst>
                <a:path h="1447800" w="3352800">
                  <a:moveTo>
                    <a:pt x="0" y="0"/>
                  </a:moveTo>
                  <a:lnTo>
                    <a:pt x="3352800" y="0"/>
                  </a:lnTo>
                  <a:lnTo>
                    <a:pt x="3352800" y="1447800"/>
                  </a:lnTo>
                  <a:lnTo>
                    <a:pt x="0" y="1447800"/>
                  </a:lnTo>
                  <a:close/>
                </a:path>
              </a:pathLst>
            </a:custGeom>
            <a:blipFill>
              <a:blip r:embed="rId4">
                <a:alphaModFix amt="0"/>
              </a:blip>
              <a:stretch>
                <a:fillRect l="-5403" t="0" r="-5403" b="0"/>
              </a:stretch>
            </a:blipFill>
          </p:spPr>
        </p:sp>
        <p:sp>
          <p:nvSpPr>
            <p:cNvPr name="TextBox 63" id="63"/>
            <p:cNvSpPr txBox="true"/>
            <p:nvPr/>
          </p:nvSpPr>
          <p:spPr>
            <a:xfrm>
              <a:off x="0" y="0"/>
              <a:ext cx="33528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Bodega</a:t>
              </a:r>
            </a:p>
            <a:p>
              <a:pPr algn="l">
                <a:lnSpc>
                  <a:spcPts val="3104"/>
                </a:lnSpc>
              </a:pPr>
              <a:r>
                <a:rPr lang="en-US" sz="2587" b="true">
                  <a:solidFill>
                    <a:srgbClr val="153044"/>
                  </a:solidFill>
                  <a:latin typeface="Aptos Bold"/>
                  <a:ea typeface="Aptos Bold"/>
                  <a:cs typeface="Aptos Bold"/>
                  <a:sym typeface="Aptos Bold"/>
                </a:rPr>
                <a:t>Recepción física</a:t>
              </a:r>
            </a:p>
          </p:txBody>
        </p:sp>
      </p:grpSp>
      <p:grpSp>
        <p:nvGrpSpPr>
          <p:cNvPr name="Group 64" id="64"/>
          <p:cNvGrpSpPr/>
          <p:nvPr/>
        </p:nvGrpSpPr>
        <p:grpSpPr>
          <a:xfrm rot="0">
            <a:off x="14251781" y="6493669"/>
            <a:ext cx="3014662" cy="1443038"/>
            <a:chOff x="0" y="0"/>
            <a:chExt cx="4019550" cy="1924050"/>
          </a:xfrm>
        </p:grpSpPr>
        <p:sp>
          <p:nvSpPr>
            <p:cNvPr name="Freeform 65" id="65"/>
            <p:cNvSpPr/>
            <p:nvPr/>
          </p:nvSpPr>
          <p:spPr>
            <a:xfrm flipH="false" flipV="false" rot="0">
              <a:off x="0" y="0"/>
              <a:ext cx="4019550" cy="1924050"/>
            </a:xfrm>
            <a:custGeom>
              <a:avLst/>
              <a:gdLst/>
              <a:ahLst/>
              <a:cxnLst/>
              <a:rect r="r" b="b" t="t" l="l"/>
              <a:pathLst>
                <a:path h="1924050" w="4019550">
                  <a:moveTo>
                    <a:pt x="0" y="0"/>
                  </a:moveTo>
                  <a:lnTo>
                    <a:pt x="4019550" y="0"/>
                  </a:lnTo>
                  <a:lnTo>
                    <a:pt x="4019550" y="1924050"/>
                  </a:lnTo>
                  <a:lnTo>
                    <a:pt x="0" y="1924050"/>
                  </a:lnTo>
                  <a:close/>
                </a:path>
              </a:pathLst>
            </a:custGeom>
            <a:solidFill>
              <a:srgbClr val="EAF2F9"/>
            </a:solidFill>
            <a:ln w="14288" cap="sq">
              <a:solidFill>
                <a:srgbClr val="D5E3EC"/>
              </a:solidFill>
              <a:prstDash val="solid"/>
              <a:miter/>
            </a:ln>
          </p:spPr>
        </p:sp>
      </p:grpSp>
      <p:grpSp>
        <p:nvGrpSpPr>
          <p:cNvPr name="Group 66" id="66"/>
          <p:cNvGrpSpPr/>
          <p:nvPr/>
        </p:nvGrpSpPr>
        <p:grpSpPr>
          <a:xfrm rot="0">
            <a:off x="14258925" y="6500812"/>
            <a:ext cx="71438" cy="1428750"/>
            <a:chOff x="0" y="0"/>
            <a:chExt cx="95250" cy="1905000"/>
          </a:xfrm>
        </p:grpSpPr>
        <p:sp>
          <p:nvSpPr>
            <p:cNvPr name="Freeform 67" id="67"/>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68" id="68"/>
          <p:cNvGrpSpPr/>
          <p:nvPr/>
        </p:nvGrpSpPr>
        <p:grpSpPr>
          <a:xfrm rot="0">
            <a:off x="14501812" y="6672262"/>
            <a:ext cx="2514600" cy="1085850"/>
            <a:chOff x="0" y="0"/>
            <a:chExt cx="3352800" cy="1447800"/>
          </a:xfrm>
        </p:grpSpPr>
        <p:sp>
          <p:nvSpPr>
            <p:cNvPr name="Freeform 69" id="69"/>
            <p:cNvSpPr/>
            <p:nvPr/>
          </p:nvSpPr>
          <p:spPr>
            <a:xfrm flipH="false" flipV="false" rot="0">
              <a:off x="0" y="0"/>
              <a:ext cx="3352800" cy="1447800"/>
            </a:xfrm>
            <a:custGeom>
              <a:avLst/>
              <a:gdLst/>
              <a:ahLst/>
              <a:cxnLst/>
              <a:rect r="r" b="b" t="t" l="l"/>
              <a:pathLst>
                <a:path h="1447800" w="3352800">
                  <a:moveTo>
                    <a:pt x="0" y="0"/>
                  </a:moveTo>
                  <a:lnTo>
                    <a:pt x="3352800" y="0"/>
                  </a:lnTo>
                  <a:lnTo>
                    <a:pt x="3352800" y="1447800"/>
                  </a:lnTo>
                  <a:lnTo>
                    <a:pt x="0" y="1447800"/>
                  </a:lnTo>
                  <a:close/>
                </a:path>
              </a:pathLst>
            </a:custGeom>
            <a:blipFill>
              <a:blip r:embed="rId4">
                <a:alphaModFix amt="0"/>
              </a:blip>
              <a:stretch>
                <a:fillRect l="-5403" t="0" r="-5403" b="0"/>
              </a:stretch>
            </a:blipFill>
          </p:spPr>
        </p:sp>
        <p:sp>
          <p:nvSpPr>
            <p:cNvPr name="TextBox 70" id="70"/>
            <p:cNvSpPr txBox="true"/>
            <p:nvPr/>
          </p:nvSpPr>
          <p:spPr>
            <a:xfrm>
              <a:off x="0" y="0"/>
              <a:ext cx="33528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Terreno</a:t>
              </a:r>
            </a:p>
            <a:p>
              <a:pPr algn="l">
                <a:lnSpc>
                  <a:spcPts val="3104"/>
                </a:lnSpc>
              </a:pPr>
              <a:r>
                <a:rPr lang="en-US" sz="2587" b="true">
                  <a:solidFill>
                    <a:srgbClr val="153044"/>
                  </a:solidFill>
                  <a:latin typeface="Aptos Bold"/>
                  <a:ea typeface="Aptos Bold"/>
                  <a:cs typeface="Aptos Bold"/>
                  <a:sym typeface="Aptos Bold"/>
                </a:rPr>
                <a:t>Instalación</a:t>
              </a:r>
            </a:p>
          </p:txBody>
        </p:sp>
      </p:grpSp>
      <p:grpSp>
        <p:nvGrpSpPr>
          <p:cNvPr name="Group 71" id="71"/>
          <p:cNvGrpSpPr/>
          <p:nvPr/>
        </p:nvGrpSpPr>
        <p:grpSpPr>
          <a:xfrm rot="0">
            <a:off x="14030325" y="7100888"/>
            <a:ext cx="228600" cy="228600"/>
            <a:chOff x="0" y="0"/>
            <a:chExt cx="304800" cy="304800"/>
          </a:xfrm>
        </p:grpSpPr>
        <p:sp>
          <p:nvSpPr>
            <p:cNvPr name="Freeform 72" id="72"/>
            <p:cNvSpPr/>
            <p:nvPr/>
          </p:nvSpPr>
          <p:spPr>
            <a:xfrm flipH="false" flipV="false" rot="0">
              <a:off x="0" y="0"/>
              <a:ext cx="304800" cy="304800"/>
            </a:xfrm>
            <a:custGeom>
              <a:avLst/>
              <a:gdLst/>
              <a:ahLst/>
              <a:cxnLst/>
              <a:rect r="r" b="b" t="t" l="l"/>
              <a:pathLst>
                <a:path h="304800" w="304800">
                  <a:moveTo>
                    <a:pt x="0" y="76200"/>
                  </a:moveTo>
                  <a:lnTo>
                    <a:pt x="152400" y="76200"/>
                  </a:lnTo>
                  <a:lnTo>
                    <a:pt x="152400" y="0"/>
                  </a:lnTo>
                  <a:lnTo>
                    <a:pt x="304800" y="152400"/>
                  </a:lnTo>
                  <a:lnTo>
                    <a:pt x="152400" y="304800"/>
                  </a:lnTo>
                  <a:lnTo>
                    <a:pt x="152400" y="228600"/>
                  </a:lnTo>
                  <a:lnTo>
                    <a:pt x="0" y="228600"/>
                  </a:lnTo>
                  <a:close/>
                </a:path>
              </a:pathLst>
            </a:custGeom>
            <a:solidFill>
              <a:srgbClr val="1766C8"/>
            </a:solidFill>
          </p:spPr>
        </p:sp>
      </p:grpSp>
      <p:grpSp>
        <p:nvGrpSpPr>
          <p:cNvPr name="Group 73" id="73"/>
          <p:cNvGrpSpPr/>
          <p:nvPr/>
        </p:nvGrpSpPr>
        <p:grpSpPr>
          <a:xfrm rot="0">
            <a:off x="11029950" y="5572125"/>
            <a:ext cx="6143625" cy="542925"/>
            <a:chOff x="0" y="0"/>
            <a:chExt cx="8191500" cy="723900"/>
          </a:xfrm>
        </p:grpSpPr>
        <p:sp>
          <p:nvSpPr>
            <p:cNvPr name="Freeform 74" id="74"/>
            <p:cNvSpPr/>
            <p:nvPr/>
          </p:nvSpPr>
          <p:spPr>
            <a:xfrm flipH="false" flipV="false" rot="0">
              <a:off x="0" y="0"/>
              <a:ext cx="8191500" cy="723900"/>
            </a:xfrm>
            <a:custGeom>
              <a:avLst/>
              <a:gdLst/>
              <a:ahLst/>
              <a:cxnLst/>
              <a:rect r="r" b="b" t="t" l="l"/>
              <a:pathLst>
                <a:path h="723900" w="8191500">
                  <a:moveTo>
                    <a:pt x="0" y="0"/>
                  </a:moveTo>
                  <a:lnTo>
                    <a:pt x="8191500" y="0"/>
                  </a:lnTo>
                  <a:lnTo>
                    <a:pt x="8191500" y="723900"/>
                  </a:lnTo>
                  <a:lnTo>
                    <a:pt x="0" y="723900"/>
                  </a:lnTo>
                  <a:close/>
                </a:path>
              </a:pathLst>
            </a:custGeom>
            <a:blipFill>
              <a:blip r:embed="rId4">
                <a:alphaModFix amt="0"/>
              </a:blip>
              <a:stretch>
                <a:fillRect l="0" t="-170488" r="0" b="-170488"/>
              </a:stretch>
            </a:blipFill>
          </p:spPr>
        </p:sp>
        <p:sp>
          <p:nvSpPr>
            <p:cNvPr name="TextBox 75" id="75"/>
            <p:cNvSpPr txBox="true"/>
            <p:nvPr/>
          </p:nvSpPr>
          <p:spPr>
            <a:xfrm>
              <a:off x="0" y="0"/>
              <a:ext cx="8191500" cy="723900"/>
            </a:xfrm>
            <a:prstGeom prst="rect">
              <a:avLst/>
            </a:prstGeom>
          </p:spPr>
          <p:txBody>
            <a:bodyPr anchor="ctr" rtlCol="false" tIns="0" lIns="0" bIns="0" rIns="0"/>
            <a:lstStyle/>
            <a:p>
              <a:pPr algn="l">
                <a:lnSpc>
                  <a:spcPts val="3510"/>
                </a:lnSpc>
              </a:pPr>
              <a:r>
                <a:rPr lang="en-US" sz="2925" b="true">
                  <a:solidFill>
                    <a:srgbClr val="007F89"/>
                  </a:solidFill>
                  <a:latin typeface="Aptos Bold"/>
                  <a:ea typeface="Aptos Bold"/>
                  <a:cs typeface="Aptos Bold"/>
                  <a:sym typeface="Aptos Bold"/>
                </a:rPr>
                <a:t>A · QA aprobado</a:t>
              </a:r>
            </a:p>
          </p:txBody>
        </p:sp>
      </p:grpSp>
      <p:grpSp>
        <p:nvGrpSpPr>
          <p:cNvPr name="Group 76" id="76"/>
          <p:cNvGrpSpPr/>
          <p:nvPr/>
        </p:nvGrpSpPr>
        <p:grpSpPr>
          <a:xfrm rot="0">
            <a:off x="907256" y="6493669"/>
            <a:ext cx="3014662" cy="1443038"/>
            <a:chOff x="0" y="0"/>
            <a:chExt cx="4019550" cy="1924050"/>
          </a:xfrm>
        </p:grpSpPr>
        <p:sp>
          <p:nvSpPr>
            <p:cNvPr name="Freeform 77" id="77"/>
            <p:cNvSpPr/>
            <p:nvPr/>
          </p:nvSpPr>
          <p:spPr>
            <a:xfrm flipH="false" flipV="false" rot="0">
              <a:off x="0" y="0"/>
              <a:ext cx="4019550" cy="1924050"/>
            </a:xfrm>
            <a:custGeom>
              <a:avLst/>
              <a:gdLst/>
              <a:ahLst/>
              <a:cxnLst/>
              <a:rect r="r" b="b" t="t" l="l"/>
              <a:pathLst>
                <a:path h="1924050" w="4019550">
                  <a:moveTo>
                    <a:pt x="0" y="0"/>
                  </a:moveTo>
                  <a:lnTo>
                    <a:pt x="4019550" y="0"/>
                  </a:lnTo>
                  <a:lnTo>
                    <a:pt x="4019550" y="1924050"/>
                  </a:lnTo>
                  <a:lnTo>
                    <a:pt x="0" y="1924050"/>
                  </a:lnTo>
                  <a:close/>
                </a:path>
              </a:pathLst>
            </a:custGeom>
            <a:solidFill>
              <a:srgbClr val="EAF2F9"/>
            </a:solidFill>
            <a:ln w="14288" cap="sq">
              <a:solidFill>
                <a:srgbClr val="D5E3EC"/>
              </a:solidFill>
              <a:prstDash val="solid"/>
              <a:miter/>
            </a:ln>
          </p:spPr>
        </p:sp>
      </p:grpSp>
      <p:grpSp>
        <p:nvGrpSpPr>
          <p:cNvPr name="Group 78" id="78"/>
          <p:cNvGrpSpPr/>
          <p:nvPr/>
        </p:nvGrpSpPr>
        <p:grpSpPr>
          <a:xfrm rot="0">
            <a:off x="914400" y="6500812"/>
            <a:ext cx="71438" cy="1428750"/>
            <a:chOff x="0" y="0"/>
            <a:chExt cx="95250" cy="1905000"/>
          </a:xfrm>
        </p:grpSpPr>
        <p:sp>
          <p:nvSpPr>
            <p:cNvPr name="Freeform 79" id="79"/>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80" id="80"/>
          <p:cNvGrpSpPr/>
          <p:nvPr/>
        </p:nvGrpSpPr>
        <p:grpSpPr>
          <a:xfrm rot="0">
            <a:off x="1157288" y="6672262"/>
            <a:ext cx="2514600" cy="1085850"/>
            <a:chOff x="0" y="0"/>
            <a:chExt cx="3352800" cy="1447800"/>
          </a:xfrm>
        </p:grpSpPr>
        <p:sp>
          <p:nvSpPr>
            <p:cNvPr name="Freeform 81" id="81"/>
            <p:cNvSpPr/>
            <p:nvPr/>
          </p:nvSpPr>
          <p:spPr>
            <a:xfrm flipH="false" flipV="false" rot="0">
              <a:off x="0" y="0"/>
              <a:ext cx="3352800" cy="1447800"/>
            </a:xfrm>
            <a:custGeom>
              <a:avLst/>
              <a:gdLst/>
              <a:ahLst/>
              <a:cxnLst/>
              <a:rect r="r" b="b" t="t" l="l"/>
              <a:pathLst>
                <a:path h="1447800" w="3352800">
                  <a:moveTo>
                    <a:pt x="0" y="0"/>
                  </a:moveTo>
                  <a:lnTo>
                    <a:pt x="3352800" y="0"/>
                  </a:lnTo>
                  <a:lnTo>
                    <a:pt x="3352800" y="1447800"/>
                  </a:lnTo>
                  <a:lnTo>
                    <a:pt x="0" y="1447800"/>
                  </a:lnTo>
                  <a:close/>
                </a:path>
              </a:pathLst>
            </a:custGeom>
            <a:blipFill>
              <a:blip r:embed="rId4">
                <a:alphaModFix amt="0"/>
              </a:blip>
              <a:stretch>
                <a:fillRect l="-5403" t="0" r="-5403" b="0"/>
              </a:stretch>
            </a:blipFill>
          </p:spPr>
        </p:sp>
        <p:sp>
          <p:nvSpPr>
            <p:cNvPr name="TextBox 82" id="82"/>
            <p:cNvSpPr txBox="true"/>
            <p:nvPr/>
          </p:nvSpPr>
          <p:spPr>
            <a:xfrm>
              <a:off x="0" y="0"/>
              <a:ext cx="33528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Bodega</a:t>
              </a:r>
            </a:p>
            <a:p>
              <a:pPr algn="l">
                <a:lnSpc>
                  <a:spcPts val="3104"/>
                </a:lnSpc>
              </a:pPr>
              <a:r>
                <a:rPr lang="en-US" sz="2587" b="true">
                  <a:solidFill>
                    <a:srgbClr val="153044"/>
                  </a:solidFill>
                  <a:latin typeface="Aptos Bold"/>
                  <a:ea typeface="Aptos Bold"/>
                  <a:cs typeface="Aptos Bold"/>
                  <a:sym typeface="Aptos Bold"/>
                </a:rPr>
                <a:t>Retorno</a:t>
              </a:r>
            </a:p>
          </p:txBody>
        </p:sp>
      </p:grpSp>
      <p:grpSp>
        <p:nvGrpSpPr>
          <p:cNvPr name="Group 83" id="83"/>
          <p:cNvGrpSpPr/>
          <p:nvPr/>
        </p:nvGrpSpPr>
        <p:grpSpPr>
          <a:xfrm rot="0">
            <a:off x="5136356" y="6493669"/>
            <a:ext cx="3729038" cy="1443038"/>
            <a:chOff x="0" y="0"/>
            <a:chExt cx="4972050" cy="1924050"/>
          </a:xfrm>
        </p:grpSpPr>
        <p:sp>
          <p:nvSpPr>
            <p:cNvPr name="Freeform 84" id="84"/>
            <p:cNvSpPr/>
            <p:nvPr/>
          </p:nvSpPr>
          <p:spPr>
            <a:xfrm flipH="false" flipV="false" rot="0">
              <a:off x="0" y="0"/>
              <a:ext cx="4972050" cy="1924050"/>
            </a:xfrm>
            <a:custGeom>
              <a:avLst/>
              <a:gdLst/>
              <a:ahLst/>
              <a:cxnLst/>
              <a:rect r="r" b="b" t="t" l="l"/>
              <a:pathLst>
                <a:path h="1924050" w="4972050">
                  <a:moveTo>
                    <a:pt x="0" y="0"/>
                  </a:moveTo>
                  <a:lnTo>
                    <a:pt x="4972050" y="0"/>
                  </a:lnTo>
                  <a:lnTo>
                    <a:pt x="4972050" y="1924050"/>
                  </a:lnTo>
                  <a:lnTo>
                    <a:pt x="0" y="1924050"/>
                  </a:lnTo>
                  <a:close/>
                </a:path>
              </a:pathLst>
            </a:custGeom>
            <a:solidFill>
              <a:srgbClr val="EAF2F9"/>
            </a:solidFill>
            <a:ln w="14288" cap="sq">
              <a:solidFill>
                <a:srgbClr val="D5E3EC"/>
              </a:solidFill>
              <a:prstDash val="solid"/>
              <a:miter/>
            </a:ln>
          </p:spPr>
        </p:sp>
      </p:grpSp>
      <p:grpSp>
        <p:nvGrpSpPr>
          <p:cNvPr name="Group 85" id="85"/>
          <p:cNvGrpSpPr/>
          <p:nvPr/>
        </p:nvGrpSpPr>
        <p:grpSpPr>
          <a:xfrm rot="0">
            <a:off x="5143500" y="6500812"/>
            <a:ext cx="71438" cy="1428750"/>
            <a:chOff x="0" y="0"/>
            <a:chExt cx="95250" cy="1905000"/>
          </a:xfrm>
        </p:grpSpPr>
        <p:sp>
          <p:nvSpPr>
            <p:cNvPr name="Freeform 86" id="86"/>
            <p:cNvSpPr/>
            <p:nvPr/>
          </p:nvSpPr>
          <p:spPr>
            <a:xfrm flipH="false" flipV="false" rot="0">
              <a:off x="0" y="0"/>
              <a:ext cx="95250" cy="1905000"/>
            </a:xfrm>
            <a:custGeom>
              <a:avLst/>
              <a:gdLst/>
              <a:ahLst/>
              <a:cxnLst/>
              <a:rect r="r" b="b" t="t" l="l"/>
              <a:pathLst>
                <a:path h="1905000" w="95250">
                  <a:moveTo>
                    <a:pt x="0" y="0"/>
                  </a:moveTo>
                  <a:lnTo>
                    <a:pt x="95250" y="0"/>
                  </a:lnTo>
                  <a:lnTo>
                    <a:pt x="95250" y="1905000"/>
                  </a:lnTo>
                  <a:lnTo>
                    <a:pt x="0" y="1905000"/>
                  </a:lnTo>
                  <a:close/>
                </a:path>
              </a:pathLst>
            </a:custGeom>
            <a:solidFill>
              <a:srgbClr val="007F89"/>
            </a:solidFill>
          </p:spPr>
        </p:sp>
      </p:grpSp>
      <p:grpSp>
        <p:nvGrpSpPr>
          <p:cNvPr name="Group 87" id="87"/>
          <p:cNvGrpSpPr/>
          <p:nvPr/>
        </p:nvGrpSpPr>
        <p:grpSpPr>
          <a:xfrm rot="0">
            <a:off x="5386388" y="6672262"/>
            <a:ext cx="3228975" cy="1085850"/>
            <a:chOff x="0" y="0"/>
            <a:chExt cx="4305300" cy="1447800"/>
          </a:xfrm>
        </p:grpSpPr>
        <p:sp>
          <p:nvSpPr>
            <p:cNvPr name="Freeform 88" id="88"/>
            <p:cNvSpPr/>
            <p:nvPr/>
          </p:nvSpPr>
          <p:spPr>
            <a:xfrm flipH="false" flipV="false" rot="0">
              <a:off x="0" y="0"/>
              <a:ext cx="4305300" cy="1447800"/>
            </a:xfrm>
            <a:custGeom>
              <a:avLst/>
              <a:gdLst/>
              <a:ahLst/>
              <a:cxnLst/>
              <a:rect r="r" b="b" t="t" l="l"/>
              <a:pathLst>
                <a:path h="1447800" w="4305300">
                  <a:moveTo>
                    <a:pt x="0" y="0"/>
                  </a:moveTo>
                  <a:lnTo>
                    <a:pt x="4305300" y="0"/>
                  </a:lnTo>
                  <a:lnTo>
                    <a:pt x="4305300" y="1447800"/>
                  </a:lnTo>
                  <a:lnTo>
                    <a:pt x="0" y="1447800"/>
                  </a:lnTo>
                  <a:close/>
                </a:path>
              </a:pathLst>
            </a:custGeom>
            <a:blipFill>
              <a:blip r:embed="rId4">
                <a:alphaModFix amt="0"/>
              </a:blip>
              <a:stretch>
                <a:fillRect l="0" t="-7942" r="0" b="-7942"/>
              </a:stretch>
            </a:blipFill>
          </p:spPr>
        </p:sp>
        <p:sp>
          <p:nvSpPr>
            <p:cNvPr name="TextBox 89" id="89"/>
            <p:cNvSpPr txBox="true"/>
            <p:nvPr/>
          </p:nvSpPr>
          <p:spPr>
            <a:xfrm>
              <a:off x="0" y="0"/>
              <a:ext cx="4305300" cy="1447800"/>
            </a:xfrm>
            <a:prstGeom prst="rect">
              <a:avLst/>
            </a:prstGeom>
          </p:spPr>
          <p:txBody>
            <a:bodyPr anchor="ctr" rtlCol="false" tIns="0" lIns="0" bIns="0" rIns="0"/>
            <a:lstStyle/>
            <a:p>
              <a:pPr algn="l">
                <a:lnSpc>
                  <a:spcPts val="3104"/>
                </a:lnSpc>
              </a:pPr>
              <a:r>
                <a:rPr lang="en-US" sz="2587" b="true">
                  <a:solidFill>
                    <a:srgbClr val="153044"/>
                  </a:solidFill>
                  <a:latin typeface="Aptos Bold"/>
                  <a:ea typeface="Aptos Bold"/>
                  <a:cs typeface="Aptos Bold"/>
                  <a:sym typeface="Aptos Bold"/>
                </a:rPr>
                <a:t>Laboratorio</a:t>
              </a:r>
            </a:p>
            <a:p>
              <a:pPr algn="l">
                <a:lnSpc>
                  <a:spcPts val="3104"/>
                </a:lnSpc>
              </a:pPr>
              <a:r>
                <a:rPr lang="en-US" sz="2587" b="true">
                  <a:solidFill>
                    <a:srgbClr val="153044"/>
                  </a:solidFill>
                  <a:latin typeface="Aptos Bold"/>
                  <a:ea typeface="Aptos Bold"/>
                  <a:cs typeface="Aptos Bold"/>
                  <a:sym typeface="Aptos Bold"/>
                </a:rPr>
                <a:t>Nueva recepción</a:t>
              </a:r>
            </a:p>
          </p:txBody>
        </p:sp>
      </p:grpSp>
      <p:grpSp>
        <p:nvGrpSpPr>
          <p:cNvPr name="Group 90" id="90"/>
          <p:cNvGrpSpPr/>
          <p:nvPr/>
        </p:nvGrpSpPr>
        <p:grpSpPr>
          <a:xfrm rot="0">
            <a:off x="3914775" y="7100888"/>
            <a:ext cx="1228725" cy="228600"/>
            <a:chOff x="0" y="0"/>
            <a:chExt cx="1638300" cy="304800"/>
          </a:xfrm>
        </p:grpSpPr>
        <p:sp>
          <p:nvSpPr>
            <p:cNvPr name="Freeform 91" id="91"/>
            <p:cNvSpPr/>
            <p:nvPr/>
          </p:nvSpPr>
          <p:spPr>
            <a:xfrm flipH="false" flipV="false" rot="0">
              <a:off x="0" y="0"/>
              <a:ext cx="1638300" cy="304800"/>
            </a:xfrm>
            <a:custGeom>
              <a:avLst/>
              <a:gdLst/>
              <a:ahLst/>
              <a:cxnLst/>
              <a:rect r="r" b="b" t="t" l="l"/>
              <a:pathLst>
                <a:path h="304800" w="1638300">
                  <a:moveTo>
                    <a:pt x="0" y="76200"/>
                  </a:moveTo>
                  <a:lnTo>
                    <a:pt x="1485900" y="76200"/>
                  </a:lnTo>
                  <a:lnTo>
                    <a:pt x="1485900" y="0"/>
                  </a:lnTo>
                  <a:lnTo>
                    <a:pt x="1638300" y="152400"/>
                  </a:lnTo>
                  <a:lnTo>
                    <a:pt x="1485900" y="304800"/>
                  </a:lnTo>
                  <a:lnTo>
                    <a:pt x="1485900" y="228600"/>
                  </a:lnTo>
                  <a:lnTo>
                    <a:pt x="0" y="228600"/>
                  </a:lnTo>
                  <a:close/>
                </a:path>
              </a:pathLst>
            </a:custGeom>
            <a:solidFill>
              <a:srgbClr val="567080"/>
            </a:solidFill>
          </p:spPr>
        </p:sp>
      </p:grpSp>
      <p:grpSp>
        <p:nvGrpSpPr>
          <p:cNvPr name="Group 92" id="92"/>
          <p:cNvGrpSpPr/>
          <p:nvPr/>
        </p:nvGrpSpPr>
        <p:grpSpPr>
          <a:xfrm rot="0">
            <a:off x="914400" y="5572125"/>
            <a:ext cx="7715250" cy="542925"/>
            <a:chOff x="0" y="0"/>
            <a:chExt cx="10287000" cy="723900"/>
          </a:xfrm>
        </p:grpSpPr>
        <p:sp>
          <p:nvSpPr>
            <p:cNvPr name="Freeform 93" id="93"/>
            <p:cNvSpPr/>
            <p:nvPr/>
          </p:nvSpPr>
          <p:spPr>
            <a:xfrm flipH="false" flipV="false" rot="0">
              <a:off x="0" y="0"/>
              <a:ext cx="10287000" cy="723900"/>
            </a:xfrm>
            <a:custGeom>
              <a:avLst/>
              <a:gdLst/>
              <a:ahLst/>
              <a:cxnLst/>
              <a:rect r="r" b="b" t="t" l="l"/>
              <a:pathLst>
                <a:path h="723900" w="10287000">
                  <a:moveTo>
                    <a:pt x="0" y="0"/>
                  </a:moveTo>
                  <a:lnTo>
                    <a:pt x="10287000" y="0"/>
                  </a:lnTo>
                  <a:lnTo>
                    <a:pt x="10287000" y="723900"/>
                  </a:lnTo>
                  <a:lnTo>
                    <a:pt x="0" y="723900"/>
                  </a:lnTo>
                  <a:close/>
                </a:path>
              </a:pathLst>
            </a:custGeom>
            <a:blipFill>
              <a:blip r:embed="rId4">
                <a:alphaModFix amt="0"/>
              </a:blip>
              <a:stretch>
                <a:fillRect l="0" t="-226892" r="0" b="-226892"/>
              </a:stretch>
            </a:blipFill>
          </p:spPr>
        </p:sp>
        <p:sp>
          <p:nvSpPr>
            <p:cNvPr name="TextBox 94" id="94"/>
            <p:cNvSpPr txBox="true"/>
            <p:nvPr/>
          </p:nvSpPr>
          <p:spPr>
            <a:xfrm>
              <a:off x="0" y="0"/>
              <a:ext cx="10287000" cy="723900"/>
            </a:xfrm>
            <a:prstGeom prst="rect">
              <a:avLst/>
            </a:prstGeom>
          </p:spPr>
          <p:txBody>
            <a:bodyPr anchor="ctr" rtlCol="false" tIns="0" lIns="0" bIns="0" rIns="0"/>
            <a:lstStyle/>
            <a:p>
              <a:pPr algn="l">
                <a:lnSpc>
                  <a:spcPts val="3510"/>
                </a:lnSpc>
              </a:pPr>
              <a:r>
                <a:rPr lang="en-US" sz="2925" b="true">
                  <a:solidFill>
                    <a:srgbClr val="567080"/>
                  </a:solidFill>
                  <a:latin typeface="Aptos Bold"/>
                  <a:ea typeface="Aptos Bold"/>
                  <a:cs typeface="Aptos Bold"/>
                  <a:sym typeface="Aptos Bold"/>
                </a:rPr>
                <a:t>B · QA rechazado</a:t>
              </a:r>
            </a:p>
          </p:txBody>
        </p:sp>
      </p:grpSp>
      <p:grpSp>
        <p:nvGrpSpPr>
          <p:cNvPr name="Group 95" id="95"/>
          <p:cNvGrpSpPr/>
          <p:nvPr/>
        </p:nvGrpSpPr>
        <p:grpSpPr>
          <a:xfrm rot="0">
            <a:off x="914400" y="8858250"/>
            <a:ext cx="16287750" cy="642938"/>
            <a:chOff x="0" y="0"/>
            <a:chExt cx="21717000" cy="857250"/>
          </a:xfrm>
        </p:grpSpPr>
        <p:sp>
          <p:nvSpPr>
            <p:cNvPr name="Freeform 96" id="96"/>
            <p:cNvSpPr/>
            <p:nvPr/>
          </p:nvSpPr>
          <p:spPr>
            <a:xfrm flipH="false" flipV="false" rot="0">
              <a:off x="0" y="0"/>
              <a:ext cx="21717000" cy="857250"/>
            </a:xfrm>
            <a:custGeom>
              <a:avLst/>
              <a:gdLst/>
              <a:ahLst/>
              <a:cxnLst/>
              <a:rect r="r" b="b" t="t" l="l"/>
              <a:pathLst>
                <a:path h="857250" w="21717000">
                  <a:moveTo>
                    <a:pt x="0" y="0"/>
                  </a:moveTo>
                  <a:lnTo>
                    <a:pt x="21717000" y="0"/>
                  </a:lnTo>
                  <a:lnTo>
                    <a:pt x="21717000" y="857250"/>
                  </a:lnTo>
                  <a:lnTo>
                    <a:pt x="0" y="857250"/>
                  </a:lnTo>
                  <a:close/>
                </a:path>
              </a:pathLst>
            </a:custGeom>
            <a:blipFill>
              <a:blip r:embed="rId4">
                <a:alphaModFix amt="0"/>
              </a:blip>
              <a:stretch>
                <a:fillRect l="0" t="-443620" r="0" b="-443620"/>
              </a:stretch>
            </a:blipFill>
          </p:spPr>
        </p:sp>
        <p:sp>
          <p:nvSpPr>
            <p:cNvPr name="TextBox 97" id="97"/>
            <p:cNvSpPr txBox="true"/>
            <p:nvPr/>
          </p:nvSpPr>
          <p:spPr>
            <a:xfrm>
              <a:off x="0" y="0"/>
              <a:ext cx="21717000" cy="857250"/>
            </a:xfrm>
            <a:prstGeom prst="rect">
              <a:avLst/>
            </a:prstGeom>
          </p:spPr>
          <p:txBody>
            <a:bodyPr anchor="ctr" rtlCol="false" tIns="0" lIns="0" bIns="0" rIns="0"/>
            <a:lstStyle/>
            <a:p>
              <a:pPr algn="l">
                <a:lnSpc>
                  <a:spcPts val="3779"/>
                </a:lnSpc>
              </a:pPr>
              <a:r>
                <a:rPr lang="en-US" sz="3150" b="true">
                  <a:solidFill>
                    <a:srgbClr val="1766C8"/>
                  </a:solidFill>
                  <a:latin typeface="Aptos Bold"/>
                  <a:ea typeface="Aptos Bold"/>
                  <a:cs typeface="Aptos Bold"/>
                  <a:sym typeface="Aptos Bold"/>
                </a:rPr>
                <a:t>Identidad del activo + custodia + intervención técnica + evidencia</a:t>
              </a:r>
            </a:p>
          </p:txBody>
        </p:sp>
      </p:grpSp>
      <p:grpSp>
        <p:nvGrpSpPr>
          <p:cNvPr name="Group 98" id="98"/>
          <p:cNvGrpSpPr/>
          <p:nvPr/>
        </p:nvGrpSpPr>
        <p:grpSpPr>
          <a:xfrm rot="0">
            <a:off x="14360804" y="430782"/>
            <a:ext cx="3069946" cy="852936"/>
            <a:chOff x="0" y="0"/>
            <a:chExt cx="2799232" cy="777723"/>
          </a:xfrm>
        </p:grpSpPr>
        <p:sp>
          <p:nvSpPr>
            <p:cNvPr name="Freeform 99" id="99"/>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Objetivo general</a:t>
              </a:r>
            </a:p>
          </p:txBody>
        </p:sp>
      </p:grpSp>
      <p:grpSp>
        <p:nvGrpSpPr>
          <p:cNvPr name="Group 6" id="6"/>
          <p:cNvGrpSpPr/>
          <p:nvPr/>
        </p:nvGrpSpPr>
        <p:grpSpPr>
          <a:xfrm rot="0">
            <a:off x="914400" y="1709738"/>
            <a:ext cx="1200150" cy="57150"/>
            <a:chOff x="0" y="0"/>
            <a:chExt cx="1600200" cy="76200"/>
          </a:xfrm>
        </p:grpSpPr>
        <p:sp>
          <p:nvSpPr>
            <p:cNvPr name="Freeform 7" id="7"/>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8" id="8"/>
          <p:cNvGrpSpPr/>
          <p:nvPr/>
        </p:nvGrpSpPr>
        <p:grpSpPr>
          <a:xfrm rot="0">
            <a:off x="16787812" y="9572625"/>
            <a:ext cx="642938" cy="357188"/>
            <a:chOff x="0" y="0"/>
            <a:chExt cx="857250" cy="476250"/>
          </a:xfrm>
        </p:grpSpPr>
        <p:sp>
          <p:nvSpPr>
            <p:cNvPr name="Freeform 9" id="9"/>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0" id="10"/>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06</a:t>
              </a:r>
            </a:p>
          </p:txBody>
        </p:sp>
      </p:grpSp>
      <p:grpSp>
        <p:nvGrpSpPr>
          <p:cNvPr name="Group 11" id="11"/>
          <p:cNvGrpSpPr/>
          <p:nvPr/>
        </p:nvGrpSpPr>
        <p:grpSpPr>
          <a:xfrm rot="0">
            <a:off x="914400" y="2487192"/>
            <a:ext cx="7157070" cy="1495930"/>
            <a:chOff x="0" y="0"/>
            <a:chExt cx="9542761" cy="1994573"/>
          </a:xfrm>
        </p:grpSpPr>
        <p:sp>
          <p:nvSpPr>
            <p:cNvPr name="Freeform 12" id="12"/>
            <p:cNvSpPr/>
            <p:nvPr/>
          </p:nvSpPr>
          <p:spPr>
            <a:xfrm flipH="false" flipV="false" rot="0">
              <a:off x="0" y="0"/>
              <a:ext cx="9542760" cy="1994573"/>
            </a:xfrm>
            <a:custGeom>
              <a:avLst/>
              <a:gdLst/>
              <a:ahLst/>
              <a:cxnLst/>
              <a:rect r="r" b="b" t="t" l="l"/>
              <a:pathLst>
                <a:path h="1994573" w="9542760">
                  <a:moveTo>
                    <a:pt x="0" y="0"/>
                  </a:moveTo>
                  <a:lnTo>
                    <a:pt x="9542760" y="0"/>
                  </a:lnTo>
                  <a:lnTo>
                    <a:pt x="9542760" y="1994573"/>
                  </a:lnTo>
                  <a:lnTo>
                    <a:pt x="0" y="1994573"/>
                  </a:lnTo>
                  <a:close/>
                </a:path>
              </a:pathLst>
            </a:custGeom>
            <a:blipFill>
              <a:blip r:embed="rId4">
                <a:alphaModFix amt="0"/>
              </a:blip>
              <a:stretch>
                <a:fillRect l="0" t="-167559" r="-115597" b="-134416"/>
              </a:stretch>
            </a:blipFill>
          </p:spPr>
        </p:sp>
        <p:sp>
          <p:nvSpPr>
            <p:cNvPr name="TextBox 13" id="13"/>
            <p:cNvSpPr txBox="true"/>
            <p:nvPr/>
          </p:nvSpPr>
          <p:spPr>
            <a:xfrm>
              <a:off x="0" y="9525"/>
              <a:ext cx="9542761" cy="1985048"/>
            </a:xfrm>
            <a:prstGeom prst="rect">
              <a:avLst/>
            </a:prstGeom>
          </p:spPr>
          <p:txBody>
            <a:bodyPr anchor="ctr" rtlCol="false" tIns="0" lIns="0" bIns="0" rIns="0"/>
            <a:lstStyle/>
            <a:p>
              <a:pPr algn="l">
                <a:lnSpc>
                  <a:spcPts val="5265"/>
                </a:lnSpc>
              </a:pPr>
              <a:r>
                <a:rPr lang="en-US" sz="4387" b="true">
                  <a:solidFill>
                    <a:srgbClr val="1766C8"/>
                  </a:solidFill>
                  <a:latin typeface="Aptos Bold"/>
                  <a:ea typeface="Aptos Bold"/>
                  <a:cs typeface="Aptos Bold"/>
                  <a:sym typeface="Aptos Bold"/>
                </a:rPr>
                <a:t>Desarrollar una plataforma web y móvil</a:t>
              </a:r>
            </a:p>
          </p:txBody>
        </p:sp>
      </p:grpSp>
      <p:grpSp>
        <p:nvGrpSpPr>
          <p:cNvPr name="Group 14" id="14"/>
          <p:cNvGrpSpPr/>
          <p:nvPr/>
        </p:nvGrpSpPr>
        <p:grpSpPr>
          <a:xfrm rot="0">
            <a:off x="857250" y="4687972"/>
            <a:ext cx="8443895" cy="4071265"/>
            <a:chOff x="0" y="0"/>
            <a:chExt cx="11258527" cy="5428354"/>
          </a:xfrm>
        </p:grpSpPr>
        <p:sp>
          <p:nvSpPr>
            <p:cNvPr name="Freeform 15" id="15"/>
            <p:cNvSpPr/>
            <p:nvPr/>
          </p:nvSpPr>
          <p:spPr>
            <a:xfrm flipH="false" flipV="false" rot="0">
              <a:off x="0" y="0"/>
              <a:ext cx="11258527" cy="5428354"/>
            </a:xfrm>
            <a:custGeom>
              <a:avLst/>
              <a:gdLst/>
              <a:ahLst/>
              <a:cxnLst/>
              <a:rect r="r" b="b" t="t" l="l"/>
              <a:pathLst>
                <a:path h="5428354" w="11258527">
                  <a:moveTo>
                    <a:pt x="0" y="0"/>
                  </a:moveTo>
                  <a:lnTo>
                    <a:pt x="11258527" y="0"/>
                  </a:lnTo>
                  <a:lnTo>
                    <a:pt x="11258527" y="5428354"/>
                  </a:lnTo>
                  <a:lnTo>
                    <a:pt x="0" y="5428354"/>
                  </a:lnTo>
                  <a:close/>
                </a:path>
              </a:pathLst>
            </a:custGeom>
            <a:blipFill>
              <a:blip r:embed="rId4">
                <a:alphaModFix amt="0"/>
              </a:blip>
              <a:stretch>
                <a:fillRect l="0" t="-37789" r="-91201" b="-16749"/>
              </a:stretch>
            </a:blipFill>
          </p:spPr>
        </p:sp>
        <p:sp>
          <p:nvSpPr>
            <p:cNvPr name="TextBox 16" id="16"/>
            <p:cNvSpPr txBox="true"/>
            <p:nvPr/>
          </p:nvSpPr>
          <p:spPr>
            <a:xfrm>
              <a:off x="0" y="0"/>
              <a:ext cx="11258527" cy="5428354"/>
            </a:xfrm>
            <a:prstGeom prst="rect">
              <a:avLst/>
            </a:prstGeom>
          </p:spPr>
          <p:txBody>
            <a:bodyPr anchor="ctr" rtlCol="false" tIns="0" lIns="0" bIns="0" rIns="0"/>
            <a:lstStyle/>
            <a:p>
              <a:pPr algn="just">
                <a:lnSpc>
                  <a:spcPts val="4455"/>
                </a:lnSpc>
              </a:pPr>
              <a:r>
                <a:rPr lang="en-US" sz="3712">
                  <a:solidFill>
                    <a:srgbClr val="153044"/>
                  </a:solidFill>
                  <a:latin typeface="Aptos"/>
                  <a:ea typeface="Aptos"/>
                  <a:cs typeface="Aptos"/>
                  <a:sym typeface="Aptos"/>
                </a:rPr>
                <a:t>Que centralice la gestión y trazabilidad del ciclo de mantenimiento</a:t>
              </a:r>
            </a:p>
            <a:p>
              <a:pPr algn="just">
                <a:lnSpc>
                  <a:spcPts val="4455"/>
                </a:lnSpc>
              </a:pPr>
              <a:r>
                <a:rPr lang="en-US" sz="3712">
                  <a:solidFill>
                    <a:srgbClr val="153044"/>
                  </a:solidFill>
                  <a:latin typeface="Aptos"/>
                  <a:ea typeface="Aptos"/>
                  <a:cs typeface="Aptos"/>
                  <a:sym typeface="Aptos"/>
                </a:rPr>
                <a:t>de validadores y consolas, vinculando la identidad del activo,</a:t>
              </a:r>
            </a:p>
            <a:p>
              <a:pPr algn="just">
                <a:lnSpc>
                  <a:spcPts val="4455"/>
                </a:lnSpc>
              </a:pPr>
              <a:r>
                <a:rPr lang="en-US" sz="3712">
                  <a:solidFill>
                    <a:srgbClr val="153044"/>
                  </a:solidFill>
                  <a:latin typeface="Aptos"/>
                  <a:ea typeface="Aptos"/>
                  <a:cs typeface="Aptos"/>
                  <a:sym typeface="Aptos"/>
                </a:rPr>
                <a:t>su custodia, las intervenciones técnicas y las evidencias</a:t>
              </a:r>
            </a:p>
            <a:p>
              <a:pPr algn="just">
                <a:lnSpc>
                  <a:spcPts val="4455"/>
                </a:lnSpc>
              </a:pPr>
              <a:r>
                <a:rPr lang="en-US" sz="3712">
                  <a:solidFill>
                    <a:srgbClr val="153044"/>
                  </a:solidFill>
                  <a:latin typeface="Aptos"/>
                  <a:ea typeface="Aptos"/>
                  <a:cs typeface="Aptos"/>
                  <a:sym typeface="Aptos"/>
                </a:rPr>
                <a:t>de cada etapa.</a:t>
              </a:r>
            </a:p>
          </p:txBody>
        </p:sp>
      </p:grpSp>
      <p:sp>
        <p:nvSpPr>
          <p:cNvPr name="Freeform 17" id="17"/>
          <p:cNvSpPr/>
          <p:nvPr/>
        </p:nvSpPr>
        <p:spPr>
          <a:xfrm flipH="false" flipV="false" rot="0">
            <a:off x="10574665" y="2534360"/>
            <a:ext cx="1963522" cy="1432046"/>
          </a:xfrm>
          <a:custGeom>
            <a:avLst/>
            <a:gdLst/>
            <a:ahLst/>
            <a:cxnLst/>
            <a:rect r="r" b="b" t="t" l="l"/>
            <a:pathLst>
              <a:path h="1432046" w="1963522">
                <a:moveTo>
                  <a:pt x="0" y="0"/>
                </a:moveTo>
                <a:lnTo>
                  <a:pt x="1963521" y="0"/>
                </a:lnTo>
                <a:lnTo>
                  <a:pt x="1963521" y="1432045"/>
                </a:lnTo>
                <a:lnTo>
                  <a:pt x="0" y="14320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1986308" y="3414517"/>
            <a:ext cx="1432046" cy="1963522"/>
          </a:xfrm>
          <a:custGeom>
            <a:avLst/>
            <a:gdLst/>
            <a:ahLst/>
            <a:cxnLst/>
            <a:rect r="r" b="b" t="t" l="l"/>
            <a:pathLst>
              <a:path h="1963522" w="1432046">
                <a:moveTo>
                  <a:pt x="0" y="0"/>
                </a:moveTo>
                <a:lnTo>
                  <a:pt x="1432045" y="0"/>
                </a:lnTo>
                <a:lnTo>
                  <a:pt x="1432045" y="1963522"/>
                </a:lnTo>
                <a:lnTo>
                  <a:pt x="0" y="19635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1986308" y="5450457"/>
            <a:ext cx="1432046" cy="1963522"/>
          </a:xfrm>
          <a:custGeom>
            <a:avLst/>
            <a:gdLst/>
            <a:ahLst/>
            <a:cxnLst/>
            <a:rect r="r" b="b" t="t" l="l"/>
            <a:pathLst>
              <a:path h="1963522" w="1432046">
                <a:moveTo>
                  <a:pt x="0" y="0"/>
                </a:moveTo>
                <a:lnTo>
                  <a:pt x="1432045" y="0"/>
                </a:lnTo>
                <a:lnTo>
                  <a:pt x="1432045" y="1963522"/>
                </a:lnTo>
                <a:lnTo>
                  <a:pt x="0" y="19635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0574665" y="6862101"/>
            <a:ext cx="1963522" cy="1432046"/>
          </a:xfrm>
          <a:custGeom>
            <a:avLst/>
            <a:gdLst/>
            <a:ahLst/>
            <a:cxnLst/>
            <a:rect r="r" b="b" t="t" l="l"/>
            <a:pathLst>
              <a:path h="1432046" w="1963522">
                <a:moveTo>
                  <a:pt x="0" y="0"/>
                </a:moveTo>
                <a:lnTo>
                  <a:pt x="1963521" y="0"/>
                </a:lnTo>
                <a:lnTo>
                  <a:pt x="1963521" y="1432045"/>
                </a:lnTo>
                <a:lnTo>
                  <a:pt x="0" y="14320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9315450" y="4890378"/>
            <a:ext cx="3166110" cy="1083945"/>
          </a:xfrm>
          <a:prstGeom prst="rect">
            <a:avLst/>
          </a:prstGeom>
        </p:spPr>
        <p:txBody>
          <a:bodyPr anchor="t" rtlCol="false" tIns="0" lIns="0" bIns="0" rIns="0">
            <a:spAutoFit/>
          </a:bodyPr>
          <a:lstStyle/>
          <a:p>
            <a:pPr algn="ctr">
              <a:lnSpc>
                <a:spcPts val="3240"/>
              </a:lnSpc>
            </a:pPr>
            <a:r>
              <a:rPr lang="en-US" sz="2700" b="true">
                <a:solidFill>
                  <a:srgbClr val="122A3D"/>
                </a:solidFill>
                <a:latin typeface="Open Sans Bold"/>
                <a:ea typeface="Open Sans Bold"/>
                <a:cs typeface="Open Sans Bold"/>
                <a:sym typeface="Open Sans Bold"/>
              </a:rPr>
              <a:t>Resultado</a:t>
            </a:r>
          </a:p>
          <a:p>
            <a:pPr algn="ctr">
              <a:lnSpc>
                <a:spcPts val="3240"/>
              </a:lnSpc>
            </a:pPr>
            <a:r>
              <a:rPr lang="en-US" sz="2700" b="true">
                <a:solidFill>
                  <a:srgbClr val="122A3D"/>
                </a:solidFill>
                <a:latin typeface="Open Sans Bold"/>
                <a:ea typeface="Open Sans Bold"/>
                <a:cs typeface="Open Sans Bold"/>
                <a:sym typeface="Open Sans Bold"/>
              </a:rPr>
              <a:t>esperado</a:t>
            </a:r>
          </a:p>
        </p:txBody>
      </p:sp>
      <p:grpSp>
        <p:nvGrpSpPr>
          <p:cNvPr name="Group 22" id="22"/>
          <p:cNvGrpSpPr/>
          <p:nvPr/>
        </p:nvGrpSpPr>
        <p:grpSpPr>
          <a:xfrm rot="0">
            <a:off x="13681710" y="2693913"/>
            <a:ext cx="3691890" cy="1074420"/>
            <a:chOff x="0" y="0"/>
            <a:chExt cx="4922520" cy="1432560"/>
          </a:xfrm>
        </p:grpSpPr>
        <p:sp>
          <p:nvSpPr>
            <p:cNvPr name="Freeform 23" id="23"/>
            <p:cNvSpPr/>
            <p:nvPr/>
          </p:nvSpPr>
          <p:spPr>
            <a:xfrm flipH="false" flipV="false" rot="0">
              <a:off x="0" y="0"/>
              <a:ext cx="4922520" cy="1432560"/>
            </a:xfrm>
            <a:custGeom>
              <a:avLst/>
              <a:gdLst/>
              <a:ahLst/>
              <a:cxnLst/>
              <a:rect r="r" b="b" t="t" l="l"/>
              <a:pathLst>
                <a:path h="1432560" w="4922520">
                  <a:moveTo>
                    <a:pt x="0" y="320040"/>
                  </a:moveTo>
                  <a:cubicBezTo>
                    <a:pt x="0" y="143256"/>
                    <a:pt x="143256" y="0"/>
                    <a:pt x="320040" y="0"/>
                  </a:cubicBezTo>
                  <a:lnTo>
                    <a:pt x="4602480" y="0"/>
                  </a:lnTo>
                  <a:cubicBezTo>
                    <a:pt x="4779264" y="0"/>
                    <a:pt x="4922520" y="143256"/>
                    <a:pt x="4922520" y="320040"/>
                  </a:cubicBezTo>
                  <a:lnTo>
                    <a:pt x="4922520" y="1112520"/>
                  </a:lnTo>
                  <a:cubicBezTo>
                    <a:pt x="4922520" y="1289304"/>
                    <a:pt x="4779264" y="1432560"/>
                    <a:pt x="4602480" y="1432560"/>
                  </a:cubicBezTo>
                  <a:lnTo>
                    <a:pt x="320040" y="1432560"/>
                  </a:lnTo>
                  <a:cubicBezTo>
                    <a:pt x="143256" y="1432560"/>
                    <a:pt x="0" y="1289304"/>
                    <a:pt x="0" y="1112520"/>
                  </a:cubicBezTo>
                  <a:close/>
                </a:path>
              </a:pathLst>
            </a:custGeom>
            <a:solidFill>
              <a:srgbClr val="F5F8FA"/>
            </a:solidFill>
          </p:spPr>
        </p:sp>
      </p:grpSp>
      <p:grpSp>
        <p:nvGrpSpPr>
          <p:cNvPr name="Group 24" id="24"/>
          <p:cNvGrpSpPr/>
          <p:nvPr/>
        </p:nvGrpSpPr>
        <p:grpSpPr>
          <a:xfrm rot="0">
            <a:off x="13681710" y="2853933"/>
            <a:ext cx="68580" cy="754380"/>
            <a:chOff x="0" y="0"/>
            <a:chExt cx="91440" cy="1005840"/>
          </a:xfrm>
        </p:grpSpPr>
        <p:sp>
          <p:nvSpPr>
            <p:cNvPr name="Freeform 25" id="25"/>
            <p:cNvSpPr/>
            <p:nvPr/>
          </p:nvSpPr>
          <p:spPr>
            <a:xfrm flipH="false" flipV="false" rot="0">
              <a:off x="0" y="0"/>
              <a:ext cx="91440" cy="1005840"/>
            </a:xfrm>
            <a:custGeom>
              <a:avLst/>
              <a:gdLst/>
              <a:ahLst/>
              <a:cxnLst/>
              <a:rect r="r" b="b" t="t" l="l"/>
              <a:pathLst>
                <a:path h="1005840" w="91440">
                  <a:moveTo>
                    <a:pt x="0" y="0"/>
                  </a:moveTo>
                  <a:lnTo>
                    <a:pt x="91440" y="0"/>
                  </a:lnTo>
                  <a:lnTo>
                    <a:pt x="91440" y="1005840"/>
                  </a:lnTo>
                  <a:lnTo>
                    <a:pt x="0" y="1005840"/>
                  </a:lnTo>
                  <a:close/>
                </a:path>
              </a:pathLst>
            </a:custGeom>
            <a:solidFill>
              <a:srgbClr val="0D1B2A"/>
            </a:solidFill>
          </p:spPr>
        </p:sp>
      </p:grpSp>
      <p:sp>
        <p:nvSpPr>
          <p:cNvPr name="TextBox 26" id="26"/>
          <p:cNvSpPr txBox="true"/>
          <p:nvPr/>
        </p:nvSpPr>
        <p:spPr>
          <a:xfrm rot="0">
            <a:off x="13956030" y="3015858"/>
            <a:ext cx="3143250" cy="54673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Funcional</a:t>
            </a:r>
          </a:p>
        </p:txBody>
      </p:sp>
      <p:grpSp>
        <p:nvGrpSpPr>
          <p:cNvPr name="Group 27" id="27"/>
          <p:cNvGrpSpPr/>
          <p:nvPr/>
        </p:nvGrpSpPr>
        <p:grpSpPr>
          <a:xfrm rot="0">
            <a:off x="13681710" y="4328403"/>
            <a:ext cx="3691890" cy="1074420"/>
            <a:chOff x="0" y="0"/>
            <a:chExt cx="4922520" cy="1432560"/>
          </a:xfrm>
        </p:grpSpPr>
        <p:sp>
          <p:nvSpPr>
            <p:cNvPr name="Freeform 28" id="28"/>
            <p:cNvSpPr/>
            <p:nvPr/>
          </p:nvSpPr>
          <p:spPr>
            <a:xfrm flipH="false" flipV="false" rot="0">
              <a:off x="0" y="0"/>
              <a:ext cx="4922520" cy="1432560"/>
            </a:xfrm>
            <a:custGeom>
              <a:avLst/>
              <a:gdLst/>
              <a:ahLst/>
              <a:cxnLst/>
              <a:rect r="r" b="b" t="t" l="l"/>
              <a:pathLst>
                <a:path h="1432560" w="4922520">
                  <a:moveTo>
                    <a:pt x="0" y="320040"/>
                  </a:moveTo>
                  <a:cubicBezTo>
                    <a:pt x="0" y="143256"/>
                    <a:pt x="143256" y="0"/>
                    <a:pt x="320040" y="0"/>
                  </a:cubicBezTo>
                  <a:lnTo>
                    <a:pt x="4602480" y="0"/>
                  </a:lnTo>
                  <a:cubicBezTo>
                    <a:pt x="4779264" y="0"/>
                    <a:pt x="4922520" y="143256"/>
                    <a:pt x="4922520" y="320040"/>
                  </a:cubicBezTo>
                  <a:lnTo>
                    <a:pt x="4922520" y="1112520"/>
                  </a:lnTo>
                  <a:cubicBezTo>
                    <a:pt x="4922520" y="1289304"/>
                    <a:pt x="4779264" y="1432560"/>
                    <a:pt x="4602480" y="1432560"/>
                  </a:cubicBezTo>
                  <a:lnTo>
                    <a:pt x="320040" y="1432560"/>
                  </a:lnTo>
                  <a:cubicBezTo>
                    <a:pt x="143256" y="1432560"/>
                    <a:pt x="0" y="1289304"/>
                    <a:pt x="0" y="1112520"/>
                  </a:cubicBezTo>
                  <a:close/>
                </a:path>
              </a:pathLst>
            </a:custGeom>
            <a:solidFill>
              <a:srgbClr val="F5F8FA"/>
            </a:solidFill>
          </p:spPr>
        </p:sp>
      </p:grpSp>
      <p:grpSp>
        <p:nvGrpSpPr>
          <p:cNvPr name="Group 29" id="29"/>
          <p:cNvGrpSpPr/>
          <p:nvPr/>
        </p:nvGrpSpPr>
        <p:grpSpPr>
          <a:xfrm rot="0">
            <a:off x="13681710" y="4488423"/>
            <a:ext cx="68580" cy="754380"/>
            <a:chOff x="0" y="0"/>
            <a:chExt cx="91440" cy="1005840"/>
          </a:xfrm>
        </p:grpSpPr>
        <p:sp>
          <p:nvSpPr>
            <p:cNvPr name="Freeform 30" id="30"/>
            <p:cNvSpPr/>
            <p:nvPr/>
          </p:nvSpPr>
          <p:spPr>
            <a:xfrm flipH="false" flipV="false" rot="0">
              <a:off x="0" y="0"/>
              <a:ext cx="91440" cy="1005840"/>
            </a:xfrm>
            <a:custGeom>
              <a:avLst/>
              <a:gdLst/>
              <a:ahLst/>
              <a:cxnLst/>
              <a:rect r="r" b="b" t="t" l="l"/>
              <a:pathLst>
                <a:path h="1005840" w="91440">
                  <a:moveTo>
                    <a:pt x="0" y="0"/>
                  </a:moveTo>
                  <a:lnTo>
                    <a:pt x="91440" y="0"/>
                  </a:lnTo>
                  <a:lnTo>
                    <a:pt x="91440" y="1005840"/>
                  </a:lnTo>
                  <a:lnTo>
                    <a:pt x="0" y="1005840"/>
                  </a:lnTo>
                  <a:close/>
                </a:path>
              </a:pathLst>
            </a:custGeom>
            <a:solidFill>
              <a:srgbClr val="1765C1"/>
            </a:solidFill>
          </p:spPr>
        </p:sp>
      </p:grpSp>
      <p:sp>
        <p:nvSpPr>
          <p:cNvPr name="TextBox 31" id="31"/>
          <p:cNvSpPr txBox="true"/>
          <p:nvPr/>
        </p:nvSpPr>
        <p:spPr>
          <a:xfrm rot="0">
            <a:off x="13956030" y="4650348"/>
            <a:ext cx="3143250" cy="54673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Integrada</a:t>
            </a:r>
          </a:p>
        </p:txBody>
      </p:sp>
      <p:grpSp>
        <p:nvGrpSpPr>
          <p:cNvPr name="Group 32" id="32"/>
          <p:cNvGrpSpPr/>
          <p:nvPr/>
        </p:nvGrpSpPr>
        <p:grpSpPr>
          <a:xfrm rot="0">
            <a:off x="13681710" y="5962893"/>
            <a:ext cx="3691890" cy="1074420"/>
            <a:chOff x="0" y="0"/>
            <a:chExt cx="4922520" cy="1432560"/>
          </a:xfrm>
        </p:grpSpPr>
        <p:sp>
          <p:nvSpPr>
            <p:cNvPr name="Freeform 33" id="33"/>
            <p:cNvSpPr/>
            <p:nvPr/>
          </p:nvSpPr>
          <p:spPr>
            <a:xfrm flipH="false" flipV="false" rot="0">
              <a:off x="0" y="0"/>
              <a:ext cx="4922520" cy="1432560"/>
            </a:xfrm>
            <a:custGeom>
              <a:avLst/>
              <a:gdLst/>
              <a:ahLst/>
              <a:cxnLst/>
              <a:rect r="r" b="b" t="t" l="l"/>
              <a:pathLst>
                <a:path h="1432560" w="4922520">
                  <a:moveTo>
                    <a:pt x="0" y="320040"/>
                  </a:moveTo>
                  <a:cubicBezTo>
                    <a:pt x="0" y="143256"/>
                    <a:pt x="143256" y="0"/>
                    <a:pt x="320040" y="0"/>
                  </a:cubicBezTo>
                  <a:lnTo>
                    <a:pt x="4602480" y="0"/>
                  </a:lnTo>
                  <a:cubicBezTo>
                    <a:pt x="4779264" y="0"/>
                    <a:pt x="4922520" y="143256"/>
                    <a:pt x="4922520" y="320040"/>
                  </a:cubicBezTo>
                  <a:lnTo>
                    <a:pt x="4922520" y="1112520"/>
                  </a:lnTo>
                  <a:cubicBezTo>
                    <a:pt x="4922520" y="1289304"/>
                    <a:pt x="4779264" y="1432560"/>
                    <a:pt x="4602480" y="1432560"/>
                  </a:cubicBezTo>
                  <a:lnTo>
                    <a:pt x="320040" y="1432560"/>
                  </a:lnTo>
                  <a:cubicBezTo>
                    <a:pt x="143256" y="1432560"/>
                    <a:pt x="0" y="1289304"/>
                    <a:pt x="0" y="1112520"/>
                  </a:cubicBezTo>
                  <a:close/>
                </a:path>
              </a:pathLst>
            </a:custGeom>
            <a:solidFill>
              <a:srgbClr val="F5F8FA"/>
            </a:solidFill>
          </p:spPr>
        </p:sp>
      </p:grpSp>
      <p:grpSp>
        <p:nvGrpSpPr>
          <p:cNvPr name="Group 34" id="34"/>
          <p:cNvGrpSpPr/>
          <p:nvPr/>
        </p:nvGrpSpPr>
        <p:grpSpPr>
          <a:xfrm rot="0">
            <a:off x="13681710" y="6122913"/>
            <a:ext cx="68580" cy="754380"/>
            <a:chOff x="0" y="0"/>
            <a:chExt cx="91440" cy="1005840"/>
          </a:xfrm>
        </p:grpSpPr>
        <p:sp>
          <p:nvSpPr>
            <p:cNvPr name="Freeform 35" id="35"/>
            <p:cNvSpPr/>
            <p:nvPr/>
          </p:nvSpPr>
          <p:spPr>
            <a:xfrm flipH="false" flipV="false" rot="0">
              <a:off x="0" y="0"/>
              <a:ext cx="91440" cy="1005840"/>
            </a:xfrm>
            <a:custGeom>
              <a:avLst/>
              <a:gdLst/>
              <a:ahLst/>
              <a:cxnLst/>
              <a:rect r="r" b="b" t="t" l="l"/>
              <a:pathLst>
                <a:path h="1005840" w="91440">
                  <a:moveTo>
                    <a:pt x="0" y="0"/>
                  </a:moveTo>
                  <a:lnTo>
                    <a:pt x="91440" y="0"/>
                  </a:lnTo>
                  <a:lnTo>
                    <a:pt x="91440" y="1005840"/>
                  </a:lnTo>
                  <a:lnTo>
                    <a:pt x="0" y="1005840"/>
                  </a:lnTo>
                  <a:close/>
                </a:path>
              </a:pathLst>
            </a:custGeom>
            <a:solidFill>
              <a:srgbClr val="00B3B5"/>
            </a:solidFill>
          </p:spPr>
        </p:sp>
      </p:grpSp>
      <p:sp>
        <p:nvSpPr>
          <p:cNvPr name="TextBox 36" id="36"/>
          <p:cNvSpPr txBox="true"/>
          <p:nvPr/>
        </p:nvSpPr>
        <p:spPr>
          <a:xfrm rot="0">
            <a:off x="13956030" y="6284838"/>
            <a:ext cx="3143250" cy="54673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Demostrable</a:t>
            </a:r>
          </a:p>
        </p:txBody>
      </p:sp>
      <p:grpSp>
        <p:nvGrpSpPr>
          <p:cNvPr name="Group 37" id="37"/>
          <p:cNvGrpSpPr/>
          <p:nvPr/>
        </p:nvGrpSpPr>
        <p:grpSpPr>
          <a:xfrm rot="0">
            <a:off x="13681710" y="7597383"/>
            <a:ext cx="3691890" cy="1074420"/>
            <a:chOff x="0" y="0"/>
            <a:chExt cx="4922520" cy="1432560"/>
          </a:xfrm>
        </p:grpSpPr>
        <p:sp>
          <p:nvSpPr>
            <p:cNvPr name="Freeform 38" id="38"/>
            <p:cNvSpPr/>
            <p:nvPr/>
          </p:nvSpPr>
          <p:spPr>
            <a:xfrm flipH="false" flipV="false" rot="0">
              <a:off x="0" y="0"/>
              <a:ext cx="4922520" cy="1432560"/>
            </a:xfrm>
            <a:custGeom>
              <a:avLst/>
              <a:gdLst/>
              <a:ahLst/>
              <a:cxnLst/>
              <a:rect r="r" b="b" t="t" l="l"/>
              <a:pathLst>
                <a:path h="1432560" w="4922520">
                  <a:moveTo>
                    <a:pt x="0" y="320040"/>
                  </a:moveTo>
                  <a:cubicBezTo>
                    <a:pt x="0" y="143256"/>
                    <a:pt x="143256" y="0"/>
                    <a:pt x="320040" y="0"/>
                  </a:cubicBezTo>
                  <a:lnTo>
                    <a:pt x="4602480" y="0"/>
                  </a:lnTo>
                  <a:cubicBezTo>
                    <a:pt x="4779264" y="0"/>
                    <a:pt x="4922520" y="143256"/>
                    <a:pt x="4922520" y="320040"/>
                  </a:cubicBezTo>
                  <a:lnTo>
                    <a:pt x="4922520" y="1112520"/>
                  </a:lnTo>
                  <a:cubicBezTo>
                    <a:pt x="4922520" y="1289304"/>
                    <a:pt x="4779264" y="1432560"/>
                    <a:pt x="4602480" y="1432560"/>
                  </a:cubicBezTo>
                  <a:lnTo>
                    <a:pt x="320040" y="1432560"/>
                  </a:lnTo>
                  <a:cubicBezTo>
                    <a:pt x="143256" y="1432560"/>
                    <a:pt x="0" y="1289304"/>
                    <a:pt x="0" y="1112520"/>
                  </a:cubicBezTo>
                  <a:close/>
                </a:path>
              </a:pathLst>
            </a:custGeom>
            <a:solidFill>
              <a:srgbClr val="F5F8FA"/>
            </a:solidFill>
          </p:spPr>
        </p:sp>
      </p:grpSp>
      <p:grpSp>
        <p:nvGrpSpPr>
          <p:cNvPr name="Group 39" id="39"/>
          <p:cNvGrpSpPr/>
          <p:nvPr/>
        </p:nvGrpSpPr>
        <p:grpSpPr>
          <a:xfrm rot="0">
            <a:off x="13681710" y="7757403"/>
            <a:ext cx="68580" cy="754380"/>
            <a:chOff x="0" y="0"/>
            <a:chExt cx="91440" cy="1005840"/>
          </a:xfrm>
        </p:grpSpPr>
        <p:sp>
          <p:nvSpPr>
            <p:cNvPr name="Freeform 40" id="40"/>
            <p:cNvSpPr/>
            <p:nvPr/>
          </p:nvSpPr>
          <p:spPr>
            <a:xfrm flipH="false" flipV="false" rot="0">
              <a:off x="0" y="0"/>
              <a:ext cx="91440" cy="1005840"/>
            </a:xfrm>
            <a:custGeom>
              <a:avLst/>
              <a:gdLst/>
              <a:ahLst/>
              <a:cxnLst/>
              <a:rect r="r" b="b" t="t" l="l"/>
              <a:pathLst>
                <a:path h="1005840" w="91440">
                  <a:moveTo>
                    <a:pt x="0" y="0"/>
                  </a:moveTo>
                  <a:lnTo>
                    <a:pt x="91440" y="0"/>
                  </a:lnTo>
                  <a:lnTo>
                    <a:pt x="91440" y="1005840"/>
                  </a:lnTo>
                  <a:lnTo>
                    <a:pt x="0" y="1005840"/>
                  </a:lnTo>
                  <a:close/>
                </a:path>
              </a:pathLst>
            </a:custGeom>
            <a:solidFill>
              <a:srgbClr val="007D86"/>
            </a:solidFill>
          </p:spPr>
        </p:sp>
      </p:grpSp>
      <p:sp>
        <p:nvSpPr>
          <p:cNvPr name="TextBox 41" id="41"/>
          <p:cNvSpPr txBox="true"/>
          <p:nvPr/>
        </p:nvSpPr>
        <p:spPr>
          <a:xfrm rot="0">
            <a:off x="13956030" y="7919328"/>
            <a:ext cx="3143250" cy="54673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Documentada</a:t>
            </a:r>
          </a:p>
        </p:txBody>
      </p:sp>
      <p:grpSp>
        <p:nvGrpSpPr>
          <p:cNvPr name="Group 42" id="42"/>
          <p:cNvGrpSpPr/>
          <p:nvPr/>
        </p:nvGrpSpPr>
        <p:grpSpPr>
          <a:xfrm rot="0">
            <a:off x="14360804" y="430782"/>
            <a:ext cx="3069946" cy="852936"/>
            <a:chOff x="0" y="0"/>
            <a:chExt cx="2799232" cy="777723"/>
          </a:xfrm>
        </p:grpSpPr>
        <p:sp>
          <p:nvSpPr>
            <p:cNvPr name="Freeform 43" id="43"/>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13"/>
              <a:stretch>
                <a:fillRect l="0" t="0" r="0" b="3"/>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86" t="0" r="-386" b="0"/>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Objetivos específicos</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Etapas de ingeniería para alcanzar el objetivo general</a:t>
              </a:r>
            </a:p>
          </p:txBody>
        </p:sp>
      </p:grpSp>
      <p:grpSp>
        <p:nvGrpSpPr>
          <p:cNvPr name="Group 9" id="9"/>
          <p:cNvGrpSpPr/>
          <p:nvPr/>
        </p:nvGrpSpPr>
        <p:grpSpPr>
          <a:xfrm rot="0">
            <a:off x="914400" y="2886075"/>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07</a:t>
              </a:r>
            </a:p>
          </p:txBody>
        </p:sp>
      </p:grpSp>
      <p:grpSp>
        <p:nvGrpSpPr>
          <p:cNvPr name="Group 14" id="14"/>
          <p:cNvGrpSpPr/>
          <p:nvPr/>
        </p:nvGrpSpPr>
        <p:grpSpPr>
          <a:xfrm rot="0">
            <a:off x="914400" y="3474720"/>
            <a:ext cx="3108960" cy="5520690"/>
            <a:chOff x="0" y="0"/>
            <a:chExt cx="4145280" cy="7360920"/>
          </a:xfrm>
        </p:grpSpPr>
        <p:sp>
          <p:nvSpPr>
            <p:cNvPr name="Freeform 15" id="15"/>
            <p:cNvSpPr/>
            <p:nvPr/>
          </p:nvSpPr>
          <p:spPr>
            <a:xfrm flipH="false" flipV="false" rot="0">
              <a:off x="0" y="0"/>
              <a:ext cx="4145280" cy="7360920"/>
            </a:xfrm>
            <a:custGeom>
              <a:avLst/>
              <a:gdLst/>
              <a:ahLst/>
              <a:cxnLst/>
              <a:rect r="r" b="b" t="t" l="l"/>
              <a:pathLst>
                <a:path h="7360920" w="4145280">
                  <a:moveTo>
                    <a:pt x="0" y="1706880"/>
                  </a:moveTo>
                  <a:cubicBezTo>
                    <a:pt x="0" y="764159"/>
                    <a:pt x="764159" y="0"/>
                    <a:pt x="1706880" y="0"/>
                  </a:cubicBezTo>
                  <a:lnTo>
                    <a:pt x="2438400" y="0"/>
                  </a:lnTo>
                  <a:cubicBezTo>
                    <a:pt x="3381121" y="0"/>
                    <a:pt x="4145280" y="764159"/>
                    <a:pt x="4145280" y="1706880"/>
                  </a:cubicBezTo>
                  <a:lnTo>
                    <a:pt x="4145280" y="5654040"/>
                  </a:lnTo>
                  <a:cubicBezTo>
                    <a:pt x="4145280" y="6596761"/>
                    <a:pt x="3381121" y="7360920"/>
                    <a:pt x="2438400" y="7360920"/>
                  </a:cubicBezTo>
                  <a:lnTo>
                    <a:pt x="1706880" y="7360920"/>
                  </a:lnTo>
                  <a:cubicBezTo>
                    <a:pt x="764159" y="7360920"/>
                    <a:pt x="0" y="6596761"/>
                    <a:pt x="0" y="5654040"/>
                  </a:cubicBezTo>
                  <a:close/>
                </a:path>
              </a:pathLst>
            </a:custGeom>
            <a:solidFill>
              <a:srgbClr val="FFFFFF"/>
            </a:solidFill>
          </p:spPr>
        </p:sp>
      </p:grpSp>
      <p:grpSp>
        <p:nvGrpSpPr>
          <p:cNvPr name="Group 16" id="16"/>
          <p:cNvGrpSpPr/>
          <p:nvPr/>
        </p:nvGrpSpPr>
        <p:grpSpPr>
          <a:xfrm rot="0">
            <a:off x="914400" y="3474720"/>
            <a:ext cx="3108960" cy="2834640"/>
            <a:chOff x="0" y="0"/>
            <a:chExt cx="4145280" cy="3779520"/>
          </a:xfrm>
        </p:grpSpPr>
        <p:sp>
          <p:nvSpPr>
            <p:cNvPr name="Freeform 17" id="17"/>
            <p:cNvSpPr/>
            <p:nvPr/>
          </p:nvSpPr>
          <p:spPr>
            <a:xfrm flipH="false" flipV="false" rot="0">
              <a:off x="0" y="0"/>
              <a:ext cx="4145280" cy="3779520"/>
            </a:xfrm>
            <a:custGeom>
              <a:avLst/>
              <a:gdLst/>
              <a:ahLst/>
              <a:cxnLst/>
              <a:rect r="r" b="b" t="t" l="l"/>
              <a:pathLst>
                <a:path h="3779520" w="4145280">
                  <a:moveTo>
                    <a:pt x="0" y="0"/>
                  </a:moveTo>
                  <a:lnTo>
                    <a:pt x="4145280" y="0"/>
                  </a:lnTo>
                  <a:lnTo>
                    <a:pt x="4145280" y="3779520"/>
                  </a:lnTo>
                  <a:lnTo>
                    <a:pt x="0" y="3779520"/>
                  </a:lnTo>
                  <a:close/>
                </a:path>
              </a:pathLst>
            </a:custGeom>
            <a:solidFill>
              <a:srgbClr val="FFFFFF"/>
            </a:solidFill>
          </p:spPr>
        </p:sp>
      </p:grpSp>
      <p:grpSp>
        <p:nvGrpSpPr>
          <p:cNvPr name="Group 18" id="18"/>
          <p:cNvGrpSpPr/>
          <p:nvPr/>
        </p:nvGrpSpPr>
        <p:grpSpPr>
          <a:xfrm rot="0">
            <a:off x="1074420" y="3040380"/>
            <a:ext cx="205740" cy="457200"/>
            <a:chOff x="0" y="0"/>
            <a:chExt cx="274320" cy="609600"/>
          </a:xfrm>
        </p:grpSpPr>
        <p:sp>
          <p:nvSpPr>
            <p:cNvPr name="Freeform 19" id="19"/>
            <p:cNvSpPr/>
            <p:nvPr/>
          </p:nvSpPr>
          <p:spPr>
            <a:xfrm flipH="false" flipV="false" rot="0">
              <a:off x="0" y="0"/>
              <a:ext cx="274320" cy="609600"/>
            </a:xfrm>
            <a:custGeom>
              <a:avLst/>
              <a:gdLst/>
              <a:ahLst/>
              <a:cxnLst/>
              <a:rect r="r" b="b" t="t" l="l"/>
              <a:pathLst>
                <a:path h="609600" w="274320">
                  <a:moveTo>
                    <a:pt x="0" y="304800"/>
                  </a:moveTo>
                  <a:lnTo>
                    <a:pt x="274320" y="0"/>
                  </a:lnTo>
                  <a:lnTo>
                    <a:pt x="274320" y="609600"/>
                  </a:lnTo>
                  <a:close/>
                </a:path>
              </a:pathLst>
            </a:custGeom>
            <a:solidFill>
              <a:srgbClr val="0D1B2A"/>
            </a:solidFill>
          </p:spPr>
        </p:sp>
      </p:grpSp>
      <p:grpSp>
        <p:nvGrpSpPr>
          <p:cNvPr name="Group 20" id="20"/>
          <p:cNvGrpSpPr/>
          <p:nvPr/>
        </p:nvGrpSpPr>
        <p:grpSpPr>
          <a:xfrm rot="0">
            <a:off x="3657600" y="3040380"/>
            <a:ext cx="205740" cy="457200"/>
            <a:chOff x="0" y="0"/>
            <a:chExt cx="274320" cy="609600"/>
          </a:xfrm>
        </p:grpSpPr>
        <p:sp>
          <p:nvSpPr>
            <p:cNvPr name="Freeform 21" id="21"/>
            <p:cNvSpPr/>
            <p:nvPr/>
          </p:nvSpPr>
          <p:spPr>
            <a:xfrm flipH="false" flipV="false" rot="0">
              <a:off x="0" y="0"/>
              <a:ext cx="274320" cy="609600"/>
            </a:xfrm>
            <a:custGeom>
              <a:avLst/>
              <a:gdLst/>
              <a:ahLst/>
              <a:cxnLst/>
              <a:rect r="r" b="b" t="t" l="l"/>
              <a:pathLst>
                <a:path h="609600" w="274320">
                  <a:moveTo>
                    <a:pt x="274320" y="304800"/>
                  </a:moveTo>
                  <a:lnTo>
                    <a:pt x="0" y="0"/>
                  </a:lnTo>
                  <a:lnTo>
                    <a:pt x="0" y="609600"/>
                  </a:lnTo>
                  <a:close/>
                </a:path>
              </a:pathLst>
            </a:custGeom>
            <a:solidFill>
              <a:srgbClr val="0D1B2A"/>
            </a:solidFill>
          </p:spPr>
        </p:sp>
      </p:grpSp>
      <p:grpSp>
        <p:nvGrpSpPr>
          <p:cNvPr name="Group 22" id="22"/>
          <p:cNvGrpSpPr/>
          <p:nvPr/>
        </p:nvGrpSpPr>
        <p:grpSpPr>
          <a:xfrm rot="0">
            <a:off x="1280160" y="3040380"/>
            <a:ext cx="2377440" cy="937260"/>
            <a:chOff x="0" y="0"/>
            <a:chExt cx="3169920" cy="1249680"/>
          </a:xfrm>
        </p:grpSpPr>
        <p:sp>
          <p:nvSpPr>
            <p:cNvPr name="Freeform 23" id="23"/>
            <p:cNvSpPr/>
            <p:nvPr/>
          </p:nvSpPr>
          <p:spPr>
            <a:xfrm flipH="false" flipV="false" rot="0">
              <a:off x="0" y="0"/>
              <a:ext cx="3169920" cy="1249680"/>
            </a:xfrm>
            <a:custGeom>
              <a:avLst/>
              <a:gdLst/>
              <a:ahLst/>
              <a:cxnLst/>
              <a:rect r="r" b="b" t="t" l="l"/>
              <a:pathLst>
                <a:path h="1249680" w="3169920">
                  <a:moveTo>
                    <a:pt x="0" y="0"/>
                  </a:moveTo>
                  <a:lnTo>
                    <a:pt x="3169920" y="0"/>
                  </a:lnTo>
                  <a:lnTo>
                    <a:pt x="2758440" y="1249680"/>
                  </a:lnTo>
                  <a:lnTo>
                    <a:pt x="411480" y="1249680"/>
                  </a:lnTo>
                  <a:close/>
                </a:path>
              </a:pathLst>
            </a:custGeom>
            <a:solidFill>
              <a:srgbClr val="0D1B2A"/>
            </a:solidFill>
          </p:spPr>
        </p:sp>
      </p:grpSp>
      <p:sp>
        <p:nvSpPr>
          <p:cNvPr name="TextBox 24" id="24"/>
          <p:cNvSpPr txBox="true"/>
          <p:nvPr/>
        </p:nvSpPr>
        <p:spPr>
          <a:xfrm rot="0">
            <a:off x="1463040" y="3177540"/>
            <a:ext cx="2011680" cy="651510"/>
          </a:xfrm>
          <a:prstGeom prst="rect">
            <a:avLst/>
          </a:prstGeom>
        </p:spPr>
        <p:txBody>
          <a:bodyPr anchor="t" rtlCol="false" tIns="0" lIns="0" bIns="0" rIns="0">
            <a:spAutoFit/>
          </a:bodyPr>
          <a:lstStyle/>
          <a:p>
            <a:pPr algn="ctr">
              <a:lnSpc>
                <a:spcPts val="4644"/>
              </a:lnSpc>
            </a:pPr>
            <a:r>
              <a:rPr lang="en-US" sz="3870" b="true">
                <a:solidFill>
                  <a:srgbClr val="FFFFFF"/>
                </a:solidFill>
                <a:latin typeface="Open Sans Bold"/>
                <a:ea typeface="Open Sans Bold"/>
                <a:cs typeface="Open Sans Bold"/>
                <a:sym typeface="Open Sans Bold"/>
              </a:rPr>
              <a:t>01</a:t>
            </a:r>
          </a:p>
        </p:txBody>
      </p:sp>
      <p:sp>
        <p:nvSpPr>
          <p:cNvPr name="TextBox 25" id="25"/>
          <p:cNvSpPr txBox="true"/>
          <p:nvPr/>
        </p:nvSpPr>
        <p:spPr>
          <a:xfrm rot="0">
            <a:off x="1188720" y="4573905"/>
            <a:ext cx="2560320" cy="1129665"/>
          </a:xfrm>
          <a:prstGeom prst="rect">
            <a:avLst/>
          </a:prstGeom>
        </p:spPr>
        <p:txBody>
          <a:bodyPr anchor="t" rtlCol="false" tIns="0" lIns="0" bIns="0" rIns="0">
            <a:spAutoFit/>
          </a:bodyPr>
          <a:lstStyle/>
          <a:p>
            <a:pPr algn="ctr">
              <a:lnSpc>
                <a:spcPts val="3240"/>
              </a:lnSpc>
            </a:pPr>
            <a:r>
              <a:rPr lang="en-US" sz="2700" b="true">
                <a:solidFill>
                  <a:srgbClr val="122A3D"/>
                </a:solidFill>
                <a:latin typeface="Open Sans Bold"/>
                <a:ea typeface="Open Sans Bold"/>
                <a:cs typeface="Open Sans Bold"/>
                <a:sym typeface="Open Sans Bold"/>
              </a:rPr>
              <a:t>Analizar y</a:t>
            </a:r>
          </a:p>
          <a:p>
            <a:pPr algn="ctr">
              <a:lnSpc>
                <a:spcPts val="3240"/>
              </a:lnSpc>
            </a:pPr>
            <a:r>
              <a:rPr lang="en-US" sz="2700" b="true">
                <a:solidFill>
                  <a:srgbClr val="122A3D"/>
                </a:solidFill>
                <a:latin typeface="Open Sans Bold"/>
                <a:ea typeface="Open Sans Bold"/>
                <a:cs typeface="Open Sans Bold"/>
                <a:sym typeface="Open Sans Bold"/>
              </a:rPr>
              <a:t>documentar</a:t>
            </a:r>
          </a:p>
        </p:txBody>
      </p:sp>
      <p:sp>
        <p:nvSpPr>
          <p:cNvPr name="TextBox 26" id="26"/>
          <p:cNvSpPr txBox="true"/>
          <p:nvPr/>
        </p:nvSpPr>
        <p:spPr>
          <a:xfrm rot="0">
            <a:off x="1200150" y="5966460"/>
            <a:ext cx="2537460" cy="2446020"/>
          </a:xfrm>
          <a:prstGeom prst="rect">
            <a:avLst/>
          </a:prstGeom>
        </p:spPr>
        <p:txBody>
          <a:bodyPr anchor="t" rtlCol="false" tIns="0" lIns="0" bIns="0" rIns="0">
            <a:spAutoFit/>
          </a:bodyPr>
          <a:lstStyle/>
          <a:p>
            <a:pPr algn="ctr">
              <a:lnSpc>
                <a:spcPts val="2808"/>
              </a:lnSpc>
            </a:pPr>
            <a:r>
              <a:rPr lang="en-US" sz="2340">
                <a:solidFill>
                  <a:srgbClr val="506A7C"/>
                </a:solidFill>
                <a:latin typeface="Open Sans"/>
                <a:ea typeface="Open Sans"/>
                <a:cs typeface="Open Sans"/>
                <a:sym typeface="Open Sans"/>
              </a:rPr>
              <a:t>Problema, actores,</a:t>
            </a:r>
          </a:p>
          <a:p>
            <a:pPr algn="ctr">
              <a:lnSpc>
                <a:spcPts val="2808"/>
              </a:lnSpc>
            </a:pPr>
            <a:r>
              <a:rPr lang="en-US" sz="2340">
                <a:solidFill>
                  <a:srgbClr val="506A7C"/>
                </a:solidFill>
                <a:latin typeface="Open Sans"/>
                <a:ea typeface="Open Sans"/>
                <a:cs typeface="Open Sans"/>
                <a:sym typeface="Open Sans"/>
              </a:rPr>
              <a:t>requisitos y reglas</a:t>
            </a:r>
          </a:p>
          <a:p>
            <a:pPr algn="ctr">
              <a:lnSpc>
                <a:spcPts val="2808"/>
              </a:lnSpc>
            </a:pPr>
            <a:r>
              <a:rPr lang="en-US" sz="2340">
                <a:solidFill>
                  <a:srgbClr val="506A7C"/>
                </a:solidFill>
                <a:latin typeface="Open Sans"/>
                <a:ea typeface="Open Sans"/>
                <a:cs typeface="Open Sans"/>
                <a:sym typeface="Open Sans"/>
              </a:rPr>
              <a:t>de negocio.</a:t>
            </a:r>
          </a:p>
        </p:txBody>
      </p:sp>
      <p:grpSp>
        <p:nvGrpSpPr>
          <p:cNvPr name="Group 27" id="27"/>
          <p:cNvGrpSpPr/>
          <p:nvPr/>
        </p:nvGrpSpPr>
        <p:grpSpPr>
          <a:xfrm rot="0">
            <a:off x="4251960" y="3474720"/>
            <a:ext cx="3108960" cy="5520690"/>
            <a:chOff x="0" y="0"/>
            <a:chExt cx="4145280" cy="7360920"/>
          </a:xfrm>
        </p:grpSpPr>
        <p:sp>
          <p:nvSpPr>
            <p:cNvPr name="Freeform 28" id="28"/>
            <p:cNvSpPr/>
            <p:nvPr/>
          </p:nvSpPr>
          <p:spPr>
            <a:xfrm flipH="false" flipV="false" rot="0">
              <a:off x="0" y="0"/>
              <a:ext cx="4145280" cy="7360920"/>
            </a:xfrm>
            <a:custGeom>
              <a:avLst/>
              <a:gdLst/>
              <a:ahLst/>
              <a:cxnLst/>
              <a:rect r="r" b="b" t="t" l="l"/>
              <a:pathLst>
                <a:path h="7360920" w="4145280">
                  <a:moveTo>
                    <a:pt x="0" y="1706880"/>
                  </a:moveTo>
                  <a:cubicBezTo>
                    <a:pt x="0" y="764159"/>
                    <a:pt x="764159" y="0"/>
                    <a:pt x="1706880" y="0"/>
                  </a:cubicBezTo>
                  <a:lnTo>
                    <a:pt x="2438400" y="0"/>
                  </a:lnTo>
                  <a:cubicBezTo>
                    <a:pt x="3381121" y="0"/>
                    <a:pt x="4145280" y="764159"/>
                    <a:pt x="4145280" y="1706880"/>
                  </a:cubicBezTo>
                  <a:lnTo>
                    <a:pt x="4145280" y="5654040"/>
                  </a:lnTo>
                  <a:cubicBezTo>
                    <a:pt x="4145280" y="6596761"/>
                    <a:pt x="3381121" y="7360920"/>
                    <a:pt x="2438400" y="7360920"/>
                  </a:cubicBezTo>
                  <a:lnTo>
                    <a:pt x="1706880" y="7360920"/>
                  </a:lnTo>
                  <a:cubicBezTo>
                    <a:pt x="764159" y="7360920"/>
                    <a:pt x="0" y="6596761"/>
                    <a:pt x="0" y="5654040"/>
                  </a:cubicBezTo>
                  <a:close/>
                </a:path>
              </a:pathLst>
            </a:custGeom>
            <a:solidFill>
              <a:srgbClr val="FFFFFF"/>
            </a:solidFill>
          </p:spPr>
        </p:sp>
      </p:grpSp>
      <p:grpSp>
        <p:nvGrpSpPr>
          <p:cNvPr name="Group 29" id="29"/>
          <p:cNvGrpSpPr/>
          <p:nvPr/>
        </p:nvGrpSpPr>
        <p:grpSpPr>
          <a:xfrm rot="0">
            <a:off x="4251960" y="3474720"/>
            <a:ext cx="3108960" cy="2834640"/>
            <a:chOff x="0" y="0"/>
            <a:chExt cx="4145280" cy="3779520"/>
          </a:xfrm>
        </p:grpSpPr>
        <p:sp>
          <p:nvSpPr>
            <p:cNvPr name="Freeform 30" id="30"/>
            <p:cNvSpPr/>
            <p:nvPr/>
          </p:nvSpPr>
          <p:spPr>
            <a:xfrm flipH="false" flipV="false" rot="0">
              <a:off x="0" y="0"/>
              <a:ext cx="4145280" cy="3779520"/>
            </a:xfrm>
            <a:custGeom>
              <a:avLst/>
              <a:gdLst/>
              <a:ahLst/>
              <a:cxnLst/>
              <a:rect r="r" b="b" t="t" l="l"/>
              <a:pathLst>
                <a:path h="3779520" w="4145280">
                  <a:moveTo>
                    <a:pt x="0" y="0"/>
                  </a:moveTo>
                  <a:lnTo>
                    <a:pt x="4145280" y="0"/>
                  </a:lnTo>
                  <a:lnTo>
                    <a:pt x="4145280" y="3779520"/>
                  </a:lnTo>
                  <a:lnTo>
                    <a:pt x="0" y="3779520"/>
                  </a:lnTo>
                  <a:close/>
                </a:path>
              </a:pathLst>
            </a:custGeom>
            <a:solidFill>
              <a:srgbClr val="FFFFFF"/>
            </a:solidFill>
          </p:spPr>
        </p:sp>
      </p:grpSp>
      <p:grpSp>
        <p:nvGrpSpPr>
          <p:cNvPr name="Group 31" id="31"/>
          <p:cNvGrpSpPr/>
          <p:nvPr/>
        </p:nvGrpSpPr>
        <p:grpSpPr>
          <a:xfrm rot="0">
            <a:off x="4411980" y="3040380"/>
            <a:ext cx="205740" cy="457200"/>
            <a:chOff x="0" y="0"/>
            <a:chExt cx="274320" cy="609600"/>
          </a:xfrm>
        </p:grpSpPr>
        <p:sp>
          <p:nvSpPr>
            <p:cNvPr name="Freeform 32" id="32"/>
            <p:cNvSpPr/>
            <p:nvPr/>
          </p:nvSpPr>
          <p:spPr>
            <a:xfrm flipH="false" flipV="false" rot="0">
              <a:off x="0" y="0"/>
              <a:ext cx="274320" cy="609600"/>
            </a:xfrm>
            <a:custGeom>
              <a:avLst/>
              <a:gdLst/>
              <a:ahLst/>
              <a:cxnLst/>
              <a:rect r="r" b="b" t="t" l="l"/>
              <a:pathLst>
                <a:path h="609600" w="274320">
                  <a:moveTo>
                    <a:pt x="0" y="304800"/>
                  </a:moveTo>
                  <a:lnTo>
                    <a:pt x="274320" y="0"/>
                  </a:lnTo>
                  <a:lnTo>
                    <a:pt x="274320" y="609600"/>
                  </a:lnTo>
                  <a:close/>
                </a:path>
              </a:pathLst>
            </a:custGeom>
            <a:solidFill>
              <a:srgbClr val="0D1B2A"/>
            </a:solidFill>
          </p:spPr>
        </p:sp>
      </p:grpSp>
      <p:grpSp>
        <p:nvGrpSpPr>
          <p:cNvPr name="Group 33" id="33"/>
          <p:cNvGrpSpPr/>
          <p:nvPr/>
        </p:nvGrpSpPr>
        <p:grpSpPr>
          <a:xfrm rot="0">
            <a:off x="6995160" y="3040380"/>
            <a:ext cx="205740" cy="457200"/>
            <a:chOff x="0" y="0"/>
            <a:chExt cx="274320" cy="609600"/>
          </a:xfrm>
        </p:grpSpPr>
        <p:sp>
          <p:nvSpPr>
            <p:cNvPr name="Freeform 34" id="34"/>
            <p:cNvSpPr/>
            <p:nvPr/>
          </p:nvSpPr>
          <p:spPr>
            <a:xfrm flipH="false" flipV="false" rot="0">
              <a:off x="0" y="0"/>
              <a:ext cx="274320" cy="609600"/>
            </a:xfrm>
            <a:custGeom>
              <a:avLst/>
              <a:gdLst/>
              <a:ahLst/>
              <a:cxnLst/>
              <a:rect r="r" b="b" t="t" l="l"/>
              <a:pathLst>
                <a:path h="609600" w="274320">
                  <a:moveTo>
                    <a:pt x="274320" y="304800"/>
                  </a:moveTo>
                  <a:lnTo>
                    <a:pt x="0" y="0"/>
                  </a:lnTo>
                  <a:lnTo>
                    <a:pt x="0" y="609600"/>
                  </a:lnTo>
                  <a:close/>
                </a:path>
              </a:pathLst>
            </a:custGeom>
            <a:solidFill>
              <a:srgbClr val="0D1B2A"/>
            </a:solidFill>
          </p:spPr>
        </p:sp>
      </p:grpSp>
      <p:grpSp>
        <p:nvGrpSpPr>
          <p:cNvPr name="Group 35" id="35"/>
          <p:cNvGrpSpPr/>
          <p:nvPr/>
        </p:nvGrpSpPr>
        <p:grpSpPr>
          <a:xfrm rot="0">
            <a:off x="4617720" y="3040380"/>
            <a:ext cx="2377440" cy="937260"/>
            <a:chOff x="0" y="0"/>
            <a:chExt cx="3169920" cy="1249680"/>
          </a:xfrm>
        </p:grpSpPr>
        <p:sp>
          <p:nvSpPr>
            <p:cNvPr name="Freeform 36" id="36"/>
            <p:cNvSpPr/>
            <p:nvPr/>
          </p:nvSpPr>
          <p:spPr>
            <a:xfrm flipH="false" flipV="false" rot="0">
              <a:off x="0" y="0"/>
              <a:ext cx="3169920" cy="1249680"/>
            </a:xfrm>
            <a:custGeom>
              <a:avLst/>
              <a:gdLst/>
              <a:ahLst/>
              <a:cxnLst/>
              <a:rect r="r" b="b" t="t" l="l"/>
              <a:pathLst>
                <a:path h="1249680" w="3169920">
                  <a:moveTo>
                    <a:pt x="0" y="0"/>
                  </a:moveTo>
                  <a:lnTo>
                    <a:pt x="3169920" y="0"/>
                  </a:lnTo>
                  <a:lnTo>
                    <a:pt x="2758440" y="1249680"/>
                  </a:lnTo>
                  <a:lnTo>
                    <a:pt x="411480" y="1249680"/>
                  </a:lnTo>
                  <a:close/>
                </a:path>
              </a:pathLst>
            </a:custGeom>
            <a:solidFill>
              <a:srgbClr val="144A74"/>
            </a:solidFill>
          </p:spPr>
        </p:sp>
      </p:grpSp>
      <p:sp>
        <p:nvSpPr>
          <p:cNvPr name="TextBox 37" id="37"/>
          <p:cNvSpPr txBox="true"/>
          <p:nvPr/>
        </p:nvSpPr>
        <p:spPr>
          <a:xfrm rot="0">
            <a:off x="4800600" y="3177540"/>
            <a:ext cx="2011680" cy="651510"/>
          </a:xfrm>
          <a:prstGeom prst="rect">
            <a:avLst/>
          </a:prstGeom>
        </p:spPr>
        <p:txBody>
          <a:bodyPr anchor="t" rtlCol="false" tIns="0" lIns="0" bIns="0" rIns="0">
            <a:spAutoFit/>
          </a:bodyPr>
          <a:lstStyle/>
          <a:p>
            <a:pPr algn="ctr">
              <a:lnSpc>
                <a:spcPts val="4644"/>
              </a:lnSpc>
            </a:pPr>
            <a:r>
              <a:rPr lang="en-US" sz="3870" b="true">
                <a:solidFill>
                  <a:srgbClr val="FFFFFF"/>
                </a:solidFill>
                <a:latin typeface="Open Sans Bold"/>
                <a:ea typeface="Open Sans Bold"/>
                <a:cs typeface="Open Sans Bold"/>
                <a:sym typeface="Open Sans Bold"/>
              </a:rPr>
              <a:t>02</a:t>
            </a:r>
          </a:p>
        </p:txBody>
      </p:sp>
      <p:sp>
        <p:nvSpPr>
          <p:cNvPr name="TextBox 38" id="38"/>
          <p:cNvSpPr txBox="true"/>
          <p:nvPr/>
        </p:nvSpPr>
        <p:spPr>
          <a:xfrm rot="0">
            <a:off x="4526280" y="4573905"/>
            <a:ext cx="2560320" cy="1129665"/>
          </a:xfrm>
          <a:prstGeom prst="rect">
            <a:avLst/>
          </a:prstGeom>
        </p:spPr>
        <p:txBody>
          <a:bodyPr anchor="t" rtlCol="false" tIns="0" lIns="0" bIns="0" rIns="0">
            <a:spAutoFit/>
          </a:bodyPr>
          <a:lstStyle/>
          <a:p>
            <a:pPr algn="ctr">
              <a:lnSpc>
                <a:spcPts val="3240"/>
              </a:lnSpc>
            </a:pPr>
            <a:r>
              <a:rPr lang="en-US" sz="2700" b="true">
                <a:solidFill>
                  <a:srgbClr val="122A3D"/>
                </a:solidFill>
                <a:latin typeface="Open Sans Bold"/>
                <a:ea typeface="Open Sans Bold"/>
                <a:cs typeface="Open Sans Bold"/>
                <a:sym typeface="Open Sans Bold"/>
              </a:rPr>
              <a:t>Diseñar</a:t>
            </a:r>
          </a:p>
        </p:txBody>
      </p:sp>
      <p:sp>
        <p:nvSpPr>
          <p:cNvPr name="TextBox 39" id="39"/>
          <p:cNvSpPr txBox="true"/>
          <p:nvPr/>
        </p:nvSpPr>
        <p:spPr>
          <a:xfrm rot="0">
            <a:off x="4537710" y="5966460"/>
            <a:ext cx="2537460" cy="2446020"/>
          </a:xfrm>
          <a:prstGeom prst="rect">
            <a:avLst/>
          </a:prstGeom>
        </p:spPr>
        <p:txBody>
          <a:bodyPr anchor="t" rtlCol="false" tIns="0" lIns="0" bIns="0" rIns="0">
            <a:spAutoFit/>
          </a:bodyPr>
          <a:lstStyle/>
          <a:p>
            <a:pPr algn="ctr">
              <a:lnSpc>
                <a:spcPts val="2808"/>
              </a:lnSpc>
            </a:pPr>
            <a:r>
              <a:rPr lang="en-US" sz="2340">
                <a:solidFill>
                  <a:srgbClr val="506A7C"/>
                </a:solidFill>
                <a:latin typeface="Open Sans"/>
                <a:ea typeface="Open Sans"/>
                <a:cs typeface="Open Sans"/>
                <a:sym typeface="Open Sans"/>
              </a:rPr>
              <a:t>Arquitectura y</a:t>
            </a:r>
          </a:p>
          <a:p>
            <a:pPr algn="ctr">
              <a:lnSpc>
                <a:spcPts val="2808"/>
              </a:lnSpc>
            </a:pPr>
            <a:r>
              <a:rPr lang="en-US" sz="2340">
                <a:solidFill>
                  <a:srgbClr val="506A7C"/>
                </a:solidFill>
                <a:latin typeface="Open Sans"/>
                <a:ea typeface="Open Sans"/>
                <a:cs typeface="Open Sans"/>
                <a:sym typeface="Open Sans"/>
              </a:rPr>
              <a:t>modelo relacional</a:t>
            </a:r>
          </a:p>
          <a:p>
            <a:pPr algn="ctr">
              <a:lnSpc>
                <a:spcPts val="2808"/>
              </a:lnSpc>
            </a:pPr>
            <a:r>
              <a:rPr lang="en-US" sz="2340">
                <a:solidFill>
                  <a:srgbClr val="506A7C"/>
                </a:solidFill>
                <a:latin typeface="Open Sans"/>
                <a:ea typeface="Open Sans"/>
                <a:cs typeface="Open Sans"/>
                <a:sym typeface="Open Sans"/>
              </a:rPr>
              <a:t>con integridad</a:t>
            </a:r>
          </a:p>
          <a:p>
            <a:pPr algn="ctr">
              <a:lnSpc>
                <a:spcPts val="2808"/>
              </a:lnSpc>
            </a:pPr>
            <a:r>
              <a:rPr lang="en-US" sz="2340">
                <a:solidFill>
                  <a:srgbClr val="506A7C"/>
                </a:solidFill>
                <a:latin typeface="Open Sans"/>
                <a:ea typeface="Open Sans"/>
                <a:cs typeface="Open Sans"/>
                <a:sym typeface="Open Sans"/>
              </a:rPr>
              <a:t>y trazabilidad.</a:t>
            </a:r>
          </a:p>
        </p:txBody>
      </p:sp>
      <p:grpSp>
        <p:nvGrpSpPr>
          <p:cNvPr name="Group 40" id="40"/>
          <p:cNvGrpSpPr/>
          <p:nvPr/>
        </p:nvGrpSpPr>
        <p:grpSpPr>
          <a:xfrm rot="0">
            <a:off x="7589520" y="3474720"/>
            <a:ext cx="3108960" cy="5520690"/>
            <a:chOff x="0" y="0"/>
            <a:chExt cx="4145280" cy="7360920"/>
          </a:xfrm>
        </p:grpSpPr>
        <p:sp>
          <p:nvSpPr>
            <p:cNvPr name="Freeform 41" id="41"/>
            <p:cNvSpPr/>
            <p:nvPr/>
          </p:nvSpPr>
          <p:spPr>
            <a:xfrm flipH="false" flipV="false" rot="0">
              <a:off x="0" y="0"/>
              <a:ext cx="4145280" cy="7360920"/>
            </a:xfrm>
            <a:custGeom>
              <a:avLst/>
              <a:gdLst/>
              <a:ahLst/>
              <a:cxnLst/>
              <a:rect r="r" b="b" t="t" l="l"/>
              <a:pathLst>
                <a:path h="7360920" w="4145280">
                  <a:moveTo>
                    <a:pt x="0" y="1706880"/>
                  </a:moveTo>
                  <a:cubicBezTo>
                    <a:pt x="0" y="764159"/>
                    <a:pt x="764159" y="0"/>
                    <a:pt x="1706880" y="0"/>
                  </a:cubicBezTo>
                  <a:lnTo>
                    <a:pt x="2438400" y="0"/>
                  </a:lnTo>
                  <a:cubicBezTo>
                    <a:pt x="3381121" y="0"/>
                    <a:pt x="4145280" y="764159"/>
                    <a:pt x="4145280" y="1706880"/>
                  </a:cubicBezTo>
                  <a:lnTo>
                    <a:pt x="4145280" y="5654040"/>
                  </a:lnTo>
                  <a:cubicBezTo>
                    <a:pt x="4145280" y="6596761"/>
                    <a:pt x="3381121" y="7360920"/>
                    <a:pt x="2438400" y="7360920"/>
                  </a:cubicBezTo>
                  <a:lnTo>
                    <a:pt x="1706880" y="7360920"/>
                  </a:lnTo>
                  <a:cubicBezTo>
                    <a:pt x="764159" y="7360920"/>
                    <a:pt x="0" y="6596761"/>
                    <a:pt x="0" y="5654040"/>
                  </a:cubicBezTo>
                  <a:close/>
                </a:path>
              </a:pathLst>
            </a:custGeom>
            <a:solidFill>
              <a:srgbClr val="FFFFFF"/>
            </a:solidFill>
          </p:spPr>
        </p:sp>
      </p:grpSp>
      <p:grpSp>
        <p:nvGrpSpPr>
          <p:cNvPr name="Group 42" id="42"/>
          <p:cNvGrpSpPr/>
          <p:nvPr/>
        </p:nvGrpSpPr>
        <p:grpSpPr>
          <a:xfrm rot="0">
            <a:off x="7589520" y="3474720"/>
            <a:ext cx="3108960" cy="2834640"/>
            <a:chOff x="0" y="0"/>
            <a:chExt cx="4145280" cy="3779520"/>
          </a:xfrm>
        </p:grpSpPr>
        <p:sp>
          <p:nvSpPr>
            <p:cNvPr name="Freeform 43" id="43"/>
            <p:cNvSpPr/>
            <p:nvPr/>
          </p:nvSpPr>
          <p:spPr>
            <a:xfrm flipH="false" flipV="false" rot="0">
              <a:off x="0" y="0"/>
              <a:ext cx="4145280" cy="3779520"/>
            </a:xfrm>
            <a:custGeom>
              <a:avLst/>
              <a:gdLst/>
              <a:ahLst/>
              <a:cxnLst/>
              <a:rect r="r" b="b" t="t" l="l"/>
              <a:pathLst>
                <a:path h="3779520" w="4145280">
                  <a:moveTo>
                    <a:pt x="0" y="0"/>
                  </a:moveTo>
                  <a:lnTo>
                    <a:pt x="4145280" y="0"/>
                  </a:lnTo>
                  <a:lnTo>
                    <a:pt x="4145280" y="3779520"/>
                  </a:lnTo>
                  <a:lnTo>
                    <a:pt x="0" y="3779520"/>
                  </a:lnTo>
                  <a:close/>
                </a:path>
              </a:pathLst>
            </a:custGeom>
            <a:solidFill>
              <a:srgbClr val="FFFFFF"/>
            </a:solidFill>
          </p:spPr>
        </p:sp>
      </p:grpSp>
      <p:grpSp>
        <p:nvGrpSpPr>
          <p:cNvPr name="Group 44" id="44"/>
          <p:cNvGrpSpPr/>
          <p:nvPr/>
        </p:nvGrpSpPr>
        <p:grpSpPr>
          <a:xfrm rot="0">
            <a:off x="7749540" y="3040380"/>
            <a:ext cx="205740" cy="457200"/>
            <a:chOff x="0" y="0"/>
            <a:chExt cx="274320" cy="609600"/>
          </a:xfrm>
        </p:grpSpPr>
        <p:sp>
          <p:nvSpPr>
            <p:cNvPr name="Freeform 45" id="45"/>
            <p:cNvSpPr/>
            <p:nvPr/>
          </p:nvSpPr>
          <p:spPr>
            <a:xfrm flipH="false" flipV="false" rot="0">
              <a:off x="0" y="0"/>
              <a:ext cx="274320" cy="609600"/>
            </a:xfrm>
            <a:custGeom>
              <a:avLst/>
              <a:gdLst/>
              <a:ahLst/>
              <a:cxnLst/>
              <a:rect r="r" b="b" t="t" l="l"/>
              <a:pathLst>
                <a:path h="609600" w="274320">
                  <a:moveTo>
                    <a:pt x="0" y="304800"/>
                  </a:moveTo>
                  <a:lnTo>
                    <a:pt x="274320" y="0"/>
                  </a:lnTo>
                  <a:lnTo>
                    <a:pt x="274320" y="609600"/>
                  </a:lnTo>
                  <a:close/>
                </a:path>
              </a:pathLst>
            </a:custGeom>
            <a:solidFill>
              <a:srgbClr val="0D1B2A"/>
            </a:solidFill>
          </p:spPr>
        </p:sp>
      </p:grpSp>
      <p:grpSp>
        <p:nvGrpSpPr>
          <p:cNvPr name="Group 46" id="46"/>
          <p:cNvGrpSpPr/>
          <p:nvPr/>
        </p:nvGrpSpPr>
        <p:grpSpPr>
          <a:xfrm rot="0">
            <a:off x="10332720" y="3040380"/>
            <a:ext cx="205740" cy="457200"/>
            <a:chOff x="0" y="0"/>
            <a:chExt cx="274320" cy="609600"/>
          </a:xfrm>
        </p:grpSpPr>
        <p:sp>
          <p:nvSpPr>
            <p:cNvPr name="Freeform 47" id="47"/>
            <p:cNvSpPr/>
            <p:nvPr/>
          </p:nvSpPr>
          <p:spPr>
            <a:xfrm flipH="false" flipV="false" rot="0">
              <a:off x="0" y="0"/>
              <a:ext cx="274320" cy="609600"/>
            </a:xfrm>
            <a:custGeom>
              <a:avLst/>
              <a:gdLst/>
              <a:ahLst/>
              <a:cxnLst/>
              <a:rect r="r" b="b" t="t" l="l"/>
              <a:pathLst>
                <a:path h="609600" w="274320">
                  <a:moveTo>
                    <a:pt x="274320" y="304800"/>
                  </a:moveTo>
                  <a:lnTo>
                    <a:pt x="0" y="0"/>
                  </a:lnTo>
                  <a:lnTo>
                    <a:pt x="0" y="609600"/>
                  </a:lnTo>
                  <a:close/>
                </a:path>
              </a:pathLst>
            </a:custGeom>
            <a:solidFill>
              <a:srgbClr val="0D1B2A"/>
            </a:solidFill>
          </p:spPr>
        </p:sp>
      </p:grpSp>
      <p:grpSp>
        <p:nvGrpSpPr>
          <p:cNvPr name="Group 48" id="48"/>
          <p:cNvGrpSpPr/>
          <p:nvPr/>
        </p:nvGrpSpPr>
        <p:grpSpPr>
          <a:xfrm rot="0">
            <a:off x="7955280" y="3040380"/>
            <a:ext cx="2377440" cy="937260"/>
            <a:chOff x="0" y="0"/>
            <a:chExt cx="3169920" cy="1249680"/>
          </a:xfrm>
        </p:grpSpPr>
        <p:sp>
          <p:nvSpPr>
            <p:cNvPr name="Freeform 49" id="49"/>
            <p:cNvSpPr/>
            <p:nvPr/>
          </p:nvSpPr>
          <p:spPr>
            <a:xfrm flipH="false" flipV="false" rot="0">
              <a:off x="0" y="0"/>
              <a:ext cx="3169920" cy="1249680"/>
            </a:xfrm>
            <a:custGeom>
              <a:avLst/>
              <a:gdLst/>
              <a:ahLst/>
              <a:cxnLst/>
              <a:rect r="r" b="b" t="t" l="l"/>
              <a:pathLst>
                <a:path h="1249680" w="3169920">
                  <a:moveTo>
                    <a:pt x="0" y="0"/>
                  </a:moveTo>
                  <a:lnTo>
                    <a:pt x="3169920" y="0"/>
                  </a:lnTo>
                  <a:lnTo>
                    <a:pt x="2758440" y="1249680"/>
                  </a:lnTo>
                  <a:lnTo>
                    <a:pt x="411480" y="1249680"/>
                  </a:lnTo>
                  <a:close/>
                </a:path>
              </a:pathLst>
            </a:custGeom>
            <a:solidFill>
              <a:srgbClr val="1765C1"/>
            </a:solidFill>
          </p:spPr>
        </p:sp>
      </p:grpSp>
      <p:sp>
        <p:nvSpPr>
          <p:cNvPr name="TextBox 50" id="50"/>
          <p:cNvSpPr txBox="true"/>
          <p:nvPr/>
        </p:nvSpPr>
        <p:spPr>
          <a:xfrm rot="0">
            <a:off x="8138160" y="3177540"/>
            <a:ext cx="2011680" cy="651510"/>
          </a:xfrm>
          <a:prstGeom prst="rect">
            <a:avLst/>
          </a:prstGeom>
        </p:spPr>
        <p:txBody>
          <a:bodyPr anchor="t" rtlCol="false" tIns="0" lIns="0" bIns="0" rIns="0">
            <a:spAutoFit/>
          </a:bodyPr>
          <a:lstStyle/>
          <a:p>
            <a:pPr algn="ctr">
              <a:lnSpc>
                <a:spcPts val="4644"/>
              </a:lnSpc>
            </a:pPr>
            <a:r>
              <a:rPr lang="en-US" sz="3870" b="true">
                <a:solidFill>
                  <a:srgbClr val="FFFFFF"/>
                </a:solidFill>
                <a:latin typeface="Open Sans Bold"/>
                <a:ea typeface="Open Sans Bold"/>
                <a:cs typeface="Open Sans Bold"/>
                <a:sym typeface="Open Sans Bold"/>
              </a:rPr>
              <a:t>03</a:t>
            </a:r>
          </a:p>
        </p:txBody>
      </p:sp>
      <p:sp>
        <p:nvSpPr>
          <p:cNvPr name="TextBox 51" id="51"/>
          <p:cNvSpPr txBox="true"/>
          <p:nvPr/>
        </p:nvSpPr>
        <p:spPr>
          <a:xfrm rot="0">
            <a:off x="7863840" y="4573905"/>
            <a:ext cx="2560320" cy="1129665"/>
          </a:xfrm>
          <a:prstGeom prst="rect">
            <a:avLst/>
          </a:prstGeom>
        </p:spPr>
        <p:txBody>
          <a:bodyPr anchor="t" rtlCol="false" tIns="0" lIns="0" bIns="0" rIns="0">
            <a:spAutoFit/>
          </a:bodyPr>
          <a:lstStyle/>
          <a:p>
            <a:pPr algn="ctr">
              <a:lnSpc>
                <a:spcPts val="3240"/>
              </a:lnSpc>
            </a:pPr>
            <a:r>
              <a:rPr lang="en-US" sz="2700" b="true">
                <a:solidFill>
                  <a:srgbClr val="122A3D"/>
                </a:solidFill>
                <a:latin typeface="Open Sans Bold"/>
                <a:ea typeface="Open Sans Bold"/>
                <a:cs typeface="Open Sans Bold"/>
                <a:sym typeface="Open Sans Bold"/>
              </a:rPr>
              <a:t>Desarrollar</a:t>
            </a:r>
          </a:p>
          <a:p>
            <a:pPr algn="ctr">
              <a:lnSpc>
                <a:spcPts val="3240"/>
              </a:lnSpc>
            </a:pPr>
            <a:r>
              <a:rPr lang="en-US" sz="2700" b="true">
                <a:solidFill>
                  <a:srgbClr val="122A3D"/>
                </a:solidFill>
                <a:latin typeface="Open Sans Bold"/>
                <a:ea typeface="Open Sans Bold"/>
                <a:cs typeface="Open Sans Bold"/>
                <a:sym typeface="Open Sans Bold"/>
              </a:rPr>
              <a:t>e integrar</a:t>
            </a:r>
          </a:p>
        </p:txBody>
      </p:sp>
      <p:sp>
        <p:nvSpPr>
          <p:cNvPr name="TextBox 52" id="52"/>
          <p:cNvSpPr txBox="true"/>
          <p:nvPr/>
        </p:nvSpPr>
        <p:spPr>
          <a:xfrm rot="0">
            <a:off x="7875270" y="5966460"/>
            <a:ext cx="2537460" cy="2446020"/>
          </a:xfrm>
          <a:prstGeom prst="rect">
            <a:avLst/>
          </a:prstGeom>
        </p:spPr>
        <p:txBody>
          <a:bodyPr anchor="t" rtlCol="false" tIns="0" lIns="0" bIns="0" rIns="0">
            <a:spAutoFit/>
          </a:bodyPr>
          <a:lstStyle/>
          <a:p>
            <a:pPr algn="ctr">
              <a:lnSpc>
                <a:spcPts val="2808"/>
              </a:lnSpc>
            </a:pPr>
            <a:r>
              <a:rPr lang="en-US" sz="2340">
                <a:solidFill>
                  <a:srgbClr val="506A7C"/>
                </a:solidFill>
                <a:latin typeface="Open Sans"/>
                <a:ea typeface="Open Sans"/>
                <a:cs typeface="Open Sans"/>
                <a:sym typeface="Open Sans"/>
              </a:rPr>
              <a:t>Usuarios, equipos,</a:t>
            </a:r>
          </a:p>
          <a:p>
            <a:pPr algn="ctr">
              <a:lnSpc>
                <a:spcPts val="2808"/>
              </a:lnSpc>
            </a:pPr>
            <a:r>
              <a:rPr lang="en-US" sz="2340">
                <a:solidFill>
                  <a:srgbClr val="506A7C"/>
                </a:solidFill>
                <a:latin typeface="Open Sans"/>
                <a:ea typeface="Open Sans"/>
                <a:cs typeface="Open Sans"/>
                <a:sym typeface="Open Sans"/>
              </a:rPr>
              <a:t>OS, eventos,</a:t>
            </a:r>
          </a:p>
          <a:p>
            <a:pPr algn="ctr">
              <a:lnSpc>
                <a:spcPts val="2808"/>
              </a:lnSpc>
            </a:pPr>
            <a:r>
              <a:rPr lang="en-US" sz="2340">
                <a:solidFill>
                  <a:srgbClr val="506A7C"/>
                </a:solidFill>
                <a:latin typeface="Open Sans"/>
                <a:ea typeface="Open Sans"/>
                <a:cs typeface="Open Sans"/>
                <a:sym typeface="Open Sans"/>
              </a:rPr>
              <a:t>diagnóstico, logística,</a:t>
            </a:r>
          </a:p>
          <a:p>
            <a:pPr algn="ctr">
              <a:lnSpc>
                <a:spcPts val="2808"/>
              </a:lnSpc>
            </a:pPr>
            <a:r>
              <a:rPr lang="en-US" sz="2340">
                <a:solidFill>
                  <a:srgbClr val="506A7C"/>
                </a:solidFill>
                <a:latin typeface="Open Sans"/>
                <a:ea typeface="Open Sans"/>
                <a:cs typeface="Open Sans"/>
                <a:sym typeface="Open Sans"/>
              </a:rPr>
              <a:t>repuestos y QA.</a:t>
            </a:r>
          </a:p>
        </p:txBody>
      </p:sp>
      <p:grpSp>
        <p:nvGrpSpPr>
          <p:cNvPr name="Group 53" id="53"/>
          <p:cNvGrpSpPr/>
          <p:nvPr/>
        </p:nvGrpSpPr>
        <p:grpSpPr>
          <a:xfrm rot="0">
            <a:off x="10927080" y="3474720"/>
            <a:ext cx="3108960" cy="5520690"/>
            <a:chOff x="0" y="0"/>
            <a:chExt cx="4145280" cy="7360920"/>
          </a:xfrm>
        </p:grpSpPr>
        <p:sp>
          <p:nvSpPr>
            <p:cNvPr name="Freeform 54" id="54"/>
            <p:cNvSpPr/>
            <p:nvPr/>
          </p:nvSpPr>
          <p:spPr>
            <a:xfrm flipH="false" flipV="false" rot="0">
              <a:off x="0" y="0"/>
              <a:ext cx="4145280" cy="7360920"/>
            </a:xfrm>
            <a:custGeom>
              <a:avLst/>
              <a:gdLst/>
              <a:ahLst/>
              <a:cxnLst/>
              <a:rect r="r" b="b" t="t" l="l"/>
              <a:pathLst>
                <a:path h="7360920" w="4145280">
                  <a:moveTo>
                    <a:pt x="0" y="1706880"/>
                  </a:moveTo>
                  <a:cubicBezTo>
                    <a:pt x="0" y="764159"/>
                    <a:pt x="764159" y="0"/>
                    <a:pt x="1706880" y="0"/>
                  </a:cubicBezTo>
                  <a:lnTo>
                    <a:pt x="2438400" y="0"/>
                  </a:lnTo>
                  <a:cubicBezTo>
                    <a:pt x="3381121" y="0"/>
                    <a:pt x="4145280" y="764159"/>
                    <a:pt x="4145280" y="1706880"/>
                  </a:cubicBezTo>
                  <a:lnTo>
                    <a:pt x="4145280" y="5654040"/>
                  </a:lnTo>
                  <a:cubicBezTo>
                    <a:pt x="4145280" y="6596761"/>
                    <a:pt x="3381121" y="7360920"/>
                    <a:pt x="2438400" y="7360920"/>
                  </a:cubicBezTo>
                  <a:lnTo>
                    <a:pt x="1706880" y="7360920"/>
                  </a:lnTo>
                  <a:cubicBezTo>
                    <a:pt x="764159" y="7360920"/>
                    <a:pt x="0" y="6596761"/>
                    <a:pt x="0" y="5654040"/>
                  </a:cubicBezTo>
                  <a:close/>
                </a:path>
              </a:pathLst>
            </a:custGeom>
            <a:solidFill>
              <a:srgbClr val="FFFFFF"/>
            </a:solidFill>
          </p:spPr>
        </p:sp>
      </p:grpSp>
      <p:grpSp>
        <p:nvGrpSpPr>
          <p:cNvPr name="Group 55" id="55"/>
          <p:cNvGrpSpPr/>
          <p:nvPr/>
        </p:nvGrpSpPr>
        <p:grpSpPr>
          <a:xfrm rot="0">
            <a:off x="10927080" y="3474720"/>
            <a:ext cx="3108960" cy="2834640"/>
            <a:chOff x="0" y="0"/>
            <a:chExt cx="4145280" cy="3779520"/>
          </a:xfrm>
        </p:grpSpPr>
        <p:sp>
          <p:nvSpPr>
            <p:cNvPr name="Freeform 56" id="56"/>
            <p:cNvSpPr/>
            <p:nvPr/>
          </p:nvSpPr>
          <p:spPr>
            <a:xfrm flipH="false" flipV="false" rot="0">
              <a:off x="0" y="0"/>
              <a:ext cx="4145280" cy="3779520"/>
            </a:xfrm>
            <a:custGeom>
              <a:avLst/>
              <a:gdLst/>
              <a:ahLst/>
              <a:cxnLst/>
              <a:rect r="r" b="b" t="t" l="l"/>
              <a:pathLst>
                <a:path h="3779520" w="4145280">
                  <a:moveTo>
                    <a:pt x="0" y="0"/>
                  </a:moveTo>
                  <a:lnTo>
                    <a:pt x="4145280" y="0"/>
                  </a:lnTo>
                  <a:lnTo>
                    <a:pt x="4145280" y="3779520"/>
                  </a:lnTo>
                  <a:lnTo>
                    <a:pt x="0" y="3779520"/>
                  </a:lnTo>
                  <a:close/>
                </a:path>
              </a:pathLst>
            </a:custGeom>
            <a:solidFill>
              <a:srgbClr val="FFFFFF"/>
            </a:solidFill>
          </p:spPr>
        </p:sp>
      </p:grpSp>
      <p:grpSp>
        <p:nvGrpSpPr>
          <p:cNvPr name="Group 57" id="57"/>
          <p:cNvGrpSpPr/>
          <p:nvPr/>
        </p:nvGrpSpPr>
        <p:grpSpPr>
          <a:xfrm rot="0">
            <a:off x="11087100" y="3040380"/>
            <a:ext cx="205740" cy="457200"/>
            <a:chOff x="0" y="0"/>
            <a:chExt cx="274320" cy="609600"/>
          </a:xfrm>
        </p:grpSpPr>
        <p:sp>
          <p:nvSpPr>
            <p:cNvPr name="Freeform 58" id="58"/>
            <p:cNvSpPr/>
            <p:nvPr/>
          </p:nvSpPr>
          <p:spPr>
            <a:xfrm flipH="false" flipV="false" rot="0">
              <a:off x="0" y="0"/>
              <a:ext cx="274320" cy="609600"/>
            </a:xfrm>
            <a:custGeom>
              <a:avLst/>
              <a:gdLst/>
              <a:ahLst/>
              <a:cxnLst/>
              <a:rect r="r" b="b" t="t" l="l"/>
              <a:pathLst>
                <a:path h="609600" w="274320">
                  <a:moveTo>
                    <a:pt x="0" y="304800"/>
                  </a:moveTo>
                  <a:lnTo>
                    <a:pt x="274320" y="0"/>
                  </a:lnTo>
                  <a:lnTo>
                    <a:pt x="274320" y="609600"/>
                  </a:lnTo>
                  <a:close/>
                </a:path>
              </a:pathLst>
            </a:custGeom>
            <a:solidFill>
              <a:srgbClr val="0D1B2A"/>
            </a:solidFill>
          </p:spPr>
        </p:sp>
      </p:grpSp>
      <p:grpSp>
        <p:nvGrpSpPr>
          <p:cNvPr name="Group 59" id="59"/>
          <p:cNvGrpSpPr/>
          <p:nvPr/>
        </p:nvGrpSpPr>
        <p:grpSpPr>
          <a:xfrm rot="0">
            <a:off x="13670280" y="3040380"/>
            <a:ext cx="205740" cy="457200"/>
            <a:chOff x="0" y="0"/>
            <a:chExt cx="274320" cy="609600"/>
          </a:xfrm>
        </p:grpSpPr>
        <p:sp>
          <p:nvSpPr>
            <p:cNvPr name="Freeform 60" id="60"/>
            <p:cNvSpPr/>
            <p:nvPr/>
          </p:nvSpPr>
          <p:spPr>
            <a:xfrm flipH="false" flipV="false" rot="0">
              <a:off x="0" y="0"/>
              <a:ext cx="274320" cy="609600"/>
            </a:xfrm>
            <a:custGeom>
              <a:avLst/>
              <a:gdLst/>
              <a:ahLst/>
              <a:cxnLst/>
              <a:rect r="r" b="b" t="t" l="l"/>
              <a:pathLst>
                <a:path h="609600" w="274320">
                  <a:moveTo>
                    <a:pt x="274320" y="304800"/>
                  </a:moveTo>
                  <a:lnTo>
                    <a:pt x="0" y="0"/>
                  </a:lnTo>
                  <a:lnTo>
                    <a:pt x="0" y="609600"/>
                  </a:lnTo>
                  <a:close/>
                </a:path>
              </a:pathLst>
            </a:custGeom>
            <a:solidFill>
              <a:srgbClr val="0D1B2A"/>
            </a:solidFill>
          </p:spPr>
        </p:sp>
      </p:grpSp>
      <p:grpSp>
        <p:nvGrpSpPr>
          <p:cNvPr name="Group 61" id="61"/>
          <p:cNvGrpSpPr/>
          <p:nvPr/>
        </p:nvGrpSpPr>
        <p:grpSpPr>
          <a:xfrm rot="0">
            <a:off x="11292840" y="3040380"/>
            <a:ext cx="2377440" cy="937260"/>
            <a:chOff x="0" y="0"/>
            <a:chExt cx="3169920" cy="1249680"/>
          </a:xfrm>
        </p:grpSpPr>
        <p:sp>
          <p:nvSpPr>
            <p:cNvPr name="Freeform 62" id="62"/>
            <p:cNvSpPr/>
            <p:nvPr/>
          </p:nvSpPr>
          <p:spPr>
            <a:xfrm flipH="false" flipV="false" rot="0">
              <a:off x="0" y="0"/>
              <a:ext cx="3169920" cy="1249680"/>
            </a:xfrm>
            <a:custGeom>
              <a:avLst/>
              <a:gdLst/>
              <a:ahLst/>
              <a:cxnLst/>
              <a:rect r="r" b="b" t="t" l="l"/>
              <a:pathLst>
                <a:path h="1249680" w="3169920">
                  <a:moveTo>
                    <a:pt x="0" y="0"/>
                  </a:moveTo>
                  <a:lnTo>
                    <a:pt x="3169920" y="0"/>
                  </a:lnTo>
                  <a:lnTo>
                    <a:pt x="2758440" y="1249680"/>
                  </a:lnTo>
                  <a:lnTo>
                    <a:pt x="411480" y="1249680"/>
                  </a:lnTo>
                  <a:close/>
                </a:path>
              </a:pathLst>
            </a:custGeom>
            <a:solidFill>
              <a:srgbClr val="1286AD"/>
            </a:solidFill>
          </p:spPr>
        </p:sp>
      </p:grpSp>
      <p:sp>
        <p:nvSpPr>
          <p:cNvPr name="TextBox 63" id="63"/>
          <p:cNvSpPr txBox="true"/>
          <p:nvPr/>
        </p:nvSpPr>
        <p:spPr>
          <a:xfrm rot="0">
            <a:off x="11475720" y="3177540"/>
            <a:ext cx="2011680" cy="651510"/>
          </a:xfrm>
          <a:prstGeom prst="rect">
            <a:avLst/>
          </a:prstGeom>
        </p:spPr>
        <p:txBody>
          <a:bodyPr anchor="t" rtlCol="false" tIns="0" lIns="0" bIns="0" rIns="0">
            <a:spAutoFit/>
          </a:bodyPr>
          <a:lstStyle/>
          <a:p>
            <a:pPr algn="ctr">
              <a:lnSpc>
                <a:spcPts val="4644"/>
              </a:lnSpc>
            </a:pPr>
            <a:r>
              <a:rPr lang="en-US" sz="3870" b="true">
                <a:solidFill>
                  <a:srgbClr val="FFFFFF"/>
                </a:solidFill>
                <a:latin typeface="Open Sans Bold"/>
                <a:ea typeface="Open Sans Bold"/>
                <a:cs typeface="Open Sans Bold"/>
                <a:sym typeface="Open Sans Bold"/>
              </a:rPr>
              <a:t>04</a:t>
            </a:r>
          </a:p>
        </p:txBody>
      </p:sp>
      <p:sp>
        <p:nvSpPr>
          <p:cNvPr name="TextBox 64" id="64"/>
          <p:cNvSpPr txBox="true"/>
          <p:nvPr/>
        </p:nvSpPr>
        <p:spPr>
          <a:xfrm rot="0">
            <a:off x="11201400" y="4573905"/>
            <a:ext cx="2560320" cy="1129665"/>
          </a:xfrm>
          <a:prstGeom prst="rect">
            <a:avLst/>
          </a:prstGeom>
        </p:spPr>
        <p:txBody>
          <a:bodyPr anchor="t" rtlCol="false" tIns="0" lIns="0" bIns="0" rIns="0">
            <a:spAutoFit/>
          </a:bodyPr>
          <a:lstStyle/>
          <a:p>
            <a:pPr algn="ctr">
              <a:lnSpc>
                <a:spcPts val="3240"/>
              </a:lnSpc>
            </a:pPr>
            <a:r>
              <a:rPr lang="en-US" sz="2700" b="true">
                <a:solidFill>
                  <a:srgbClr val="122A3D"/>
                </a:solidFill>
                <a:latin typeface="Open Sans Bold"/>
                <a:ea typeface="Open Sans Bold"/>
                <a:cs typeface="Open Sans Bold"/>
                <a:sym typeface="Open Sans Bold"/>
              </a:rPr>
              <a:t>Validar</a:t>
            </a:r>
          </a:p>
        </p:txBody>
      </p:sp>
      <p:sp>
        <p:nvSpPr>
          <p:cNvPr name="TextBox 65" id="65"/>
          <p:cNvSpPr txBox="true"/>
          <p:nvPr/>
        </p:nvSpPr>
        <p:spPr>
          <a:xfrm rot="0">
            <a:off x="11212830" y="5966460"/>
            <a:ext cx="2537460" cy="2446020"/>
          </a:xfrm>
          <a:prstGeom prst="rect">
            <a:avLst/>
          </a:prstGeom>
        </p:spPr>
        <p:txBody>
          <a:bodyPr anchor="t" rtlCol="false" tIns="0" lIns="0" bIns="0" rIns="0">
            <a:spAutoFit/>
          </a:bodyPr>
          <a:lstStyle/>
          <a:p>
            <a:pPr algn="ctr">
              <a:lnSpc>
                <a:spcPts val="2808"/>
              </a:lnSpc>
            </a:pPr>
            <a:r>
              <a:rPr lang="en-US" sz="2340">
                <a:solidFill>
                  <a:srgbClr val="506A7C"/>
                </a:solidFill>
                <a:latin typeface="Open Sans"/>
                <a:ea typeface="Open Sans"/>
                <a:cs typeface="Open Sans"/>
                <a:sym typeface="Open Sans"/>
              </a:rPr>
              <a:t>Funcionalidad,</a:t>
            </a:r>
          </a:p>
          <a:p>
            <a:pPr algn="ctr">
              <a:lnSpc>
                <a:spcPts val="2808"/>
              </a:lnSpc>
            </a:pPr>
            <a:r>
              <a:rPr lang="en-US" sz="2340">
                <a:solidFill>
                  <a:srgbClr val="506A7C"/>
                </a:solidFill>
                <a:latin typeface="Open Sans"/>
                <a:ea typeface="Open Sans"/>
                <a:cs typeface="Open Sans"/>
                <a:sym typeface="Open Sans"/>
              </a:rPr>
              <a:t>permisos, reglas</a:t>
            </a:r>
          </a:p>
          <a:p>
            <a:pPr algn="ctr">
              <a:lnSpc>
                <a:spcPts val="2808"/>
              </a:lnSpc>
            </a:pPr>
            <a:r>
              <a:rPr lang="en-US" sz="2340">
                <a:solidFill>
                  <a:srgbClr val="506A7C"/>
                </a:solidFill>
                <a:latin typeface="Open Sans"/>
                <a:ea typeface="Open Sans"/>
                <a:cs typeface="Open Sans"/>
                <a:sym typeface="Open Sans"/>
              </a:rPr>
              <a:t>e integración.</a:t>
            </a:r>
          </a:p>
        </p:txBody>
      </p:sp>
      <p:grpSp>
        <p:nvGrpSpPr>
          <p:cNvPr name="Group 66" id="66"/>
          <p:cNvGrpSpPr/>
          <p:nvPr/>
        </p:nvGrpSpPr>
        <p:grpSpPr>
          <a:xfrm rot="0">
            <a:off x="14264640" y="3474720"/>
            <a:ext cx="3108960" cy="5520690"/>
            <a:chOff x="0" y="0"/>
            <a:chExt cx="4145280" cy="7360920"/>
          </a:xfrm>
        </p:grpSpPr>
        <p:sp>
          <p:nvSpPr>
            <p:cNvPr name="Freeform 67" id="67"/>
            <p:cNvSpPr/>
            <p:nvPr/>
          </p:nvSpPr>
          <p:spPr>
            <a:xfrm flipH="false" flipV="false" rot="0">
              <a:off x="0" y="0"/>
              <a:ext cx="4145280" cy="7360920"/>
            </a:xfrm>
            <a:custGeom>
              <a:avLst/>
              <a:gdLst/>
              <a:ahLst/>
              <a:cxnLst/>
              <a:rect r="r" b="b" t="t" l="l"/>
              <a:pathLst>
                <a:path h="7360920" w="4145280">
                  <a:moveTo>
                    <a:pt x="0" y="1706880"/>
                  </a:moveTo>
                  <a:cubicBezTo>
                    <a:pt x="0" y="764159"/>
                    <a:pt x="764159" y="0"/>
                    <a:pt x="1706880" y="0"/>
                  </a:cubicBezTo>
                  <a:lnTo>
                    <a:pt x="2438400" y="0"/>
                  </a:lnTo>
                  <a:cubicBezTo>
                    <a:pt x="3381121" y="0"/>
                    <a:pt x="4145280" y="764159"/>
                    <a:pt x="4145280" y="1706880"/>
                  </a:cubicBezTo>
                  <a:lnTo>
                    <a:pt x="4145280" y="5654040"/>
                  </a:lnTo>
                  <a:cubicBezTo>
                    <a:pt x="4145280" y="6596761"/>
                    <a:pt x="3381121" y="7360920"/>
                    <a:pt x="2438400" y="7360920"/>
                  </a:cubicBezTo>
                  <a:lnTo>
                    <a:pt x="1706880" y="7360920"/>
                  </a:lnTo>
                  <a:cubicBezTo>
                    <a:pt x="764159" y="7360920"/>
                    <a:pt x="0" y="6596761"/>
                    <a:pt x="0" y="5654040"/>
                  </a:cubicBezTo>
                  <a:close/>
                </a:path>
              </a:pathLst>
            </a:custGeom>
            <a:solidFill>
              <a:srgbClr val="FFFFFF"/>
            </a:solidFill>
          </p:spPr>
        </p:sp>
      </p:grpSp>
      <p:grpSp>
        <p:nvGrpSpPr>
          <p:cNvPr name="Group 68" id="68"/>
          <p:cNvGrpSpPr/>
          <p:nvPr/>
        </p:nvGrpSpPr>
        <p:grpSpPr>
          <a:xfrm rot="0">
            <a:off x="14264640" y="3474720"/>
            <a:ext cx="3108960" cy="2834640"/>
            <a:chOff x="0" y="0"/>
            <a:chExt cx="4145280" cy="3779520"/>
          </a:xfrm>
        </p:grpSpPr>
        <p:sp>
          <p:nvSpPr>
            <p:cNvPr name="Freeform 69" id="69"/>
            <p:cNvSpPr/>
            <p:nvPr/>
          </p:nvSpPr>
          <p:spPr>
            <a:xfrm flipH="false" flipV="false" rot="0">
              <a:off x="0" y="0"/>
              <a:ext cx="4145280" cy="3779520"/>
            </a:xfrm>
            <a:custGeom>
              <a:avLst/>
              <a:gdLst/>
              <a:ahLst/>
              <a:cxnLst/>
              <a:rect r="r" b="b" t="t" l="l"/>
              <a:pathLst>
                <a:path h="3779520" w="4145280">
                  <a:moveTo>
                    <a:pt x="0" y="0"/>
                  </a:moveTo>
                  <a:lnTo>
                    <a:pt x="4145280" y="0"/>
                  </a:lnTo>
                  <a:lnTo>
                    <a:pt x="4145280" y="3779520"/>
                  </a:lnTo>
                  <a:lnTo>
                    <a:pt x="0" y="3779520"/>
                  </a:lnTo>
                  <a:close/>
                </a:path>
              </a:pathLst>
            </a:custGeom>
            <a:solidFill>
              <a:srgbClr val="FFFFFF"/>
            </a:solidFill>
          </p:spPr>
        </p:sp>
      </p:grpSp>
      <p:grpSp>
        <p:nvGrpSpPr>
          <p:cNvPr name="Group 70" id="70"/>
          <p:cNvGrpSpPr/>
          <p:nvPr/>
        </p:nvGrpSpPr>
        <p:grpSpPr>
          <a:xfrm rot="0">
            <a:off x="14424660" y="3040380"/>
            <a:ext cx="205740" cy="457200"/>
            <a:chOff x="0" y="0"/>
            <a:chExt cx="274320" cy="609600"/>
          </a:xfrm>
        </p:grpSpPr>
        <p:sp>
          <p:nvSpPr>
            <p:cNvPr name="Freeform 71" id="71"/>
            <p:cNvSpPr/>
            <p:nvPr/>
          </p:nvSpPr>
          <p:spPr>
            <a:xfrm flipH="false" flipV="false" rot="0">
              <a:off x="0" y="0"/>
              <a:ext cx="274320" cy="609600"/>
            </a:xfrm>
            <a:custGeom>
              <a:avLst/>
              <a:gdLst/>
              <a:ahLst/>
              <a:cxnLst/>
              <a:rect r="r" b="b" t="t" l="l"/>
              <a:pathLst>
                <a:path h="609600" w="274320">
                  <a:moveTo>
                    <a:pt x="0" y="304800"/>
                  </a:moveTo>
                  <a:lnTo>
                    <a:pt x="274320" y="0"/>
                  </a:lnTo>
                  <a:lnTo>
                    <a:pt x="274320" y="609600"/>
                  </a:lnTo>
                  <a:close/>
                </a:path>
              </a:pathLst>
            </a:custGeom>
            <a:solidFill>
              <a:srgbClr val="0D1B2A"/>
            </a:solidFill>
          </p:spPr>
        </p:sp>
      </p:grpSp>
      <p:grpSp>
        <p:nvGrpSpPr>
          <p:cNvPr name="Group 72" id="72"/>
          <p:cNvGrpSpPr/>
          <p:nvPr/>
        </p:nvGrpSpPr>
        <p:grpSpPr>
          <a:xfrm rot="0">
            <a:off x="17007840" y="3040380"/>
            <a:ext cx="205740" cy="457200"/>
            <a:chOff x="0" y="0"/>
            <a:chExt cx="274320" cy="609600"/>
          </a:xfrm>
        </p:grpSpPr>
        <p:sp>
          <p:nvSpPr>
            <p:cNvPr name="Freeform 73" id="73"/>
            <p:cNvSpPr/>
            <p:nvPr/>
          </p:nvSpPr>
          <p:spPr>
            <a:xfrm flipH="false" flipV="false" rot="0">
              <a:off x="0" y="0"/>
              <a:ext cx="274320" cy="609600"/>
            </a:xfrm>
            <a:custGeom>
              <a:avLst/>
              <a:gdLst/>
              <a:ahLst/>
              <a:cxnLst/>
              <a:rect r="r" b="b" t="t" l="l"/>
              <a:pathLst>
                <a:path h="609600" w="274320">
                  <a:moveTo>
                    <a:pt x="274320" y="304800"/>
                  </a:moveTo>
                  <a:lnTo>
                    <a:pt x="0" y="0"/>
                  </a:lnTo>
                  <a:lnTo>
                    <a:pt x="0" y="609600"/>
                  </a:lnTo>
                  <a:close/>
                </a:path>
              </a:pathLst>
            </a:custGeom>
            <a:solidFill>
              <a:srgbClr val="0D1B2A"/>
            </a:solidFill>
          </p:spPr>
        </p:sp>
      </p:grpSp>
      <p:grpSp>
        <p:nvGrpSpPr>
          <p:cNvPr name="Group 74" id="74"/>
          <p:cNvGrpSpPr/>
          <p:nvPr/>
        </p:nvGrpSpPr>
        <p:grpSpPr>
          <a:xfrm rot="0">
            <a:off x="14630400" y="3040380"/>
            <a:ext cx="2377440" cy="937260"/>
            <a:chOff x="0" y="0"/>
            <a:chExt cx="3169920" cy="1249680"/>
          </a:xfrm>
        </p:grpSpPr>
        <p:sp>
          <p:nvSpPr>
            <p:cNvPr name="Freeform 75" id="75"/>
            <p:cNvSpPr/>
            <p:nvPr/>
          </p:nvSpPr>
          <p:spPr>
            <a:xfrm flipH="false" flipV="false" rot="0">
              <a:off x="0" y="0"/>
              <a:ext cx="3169920" cy="1249680"/>
            </a:xfrm>
            <a:custGeom>
              <a:avLst/>
              <a:gdLst/>
              <a:ahLst/>
              <a:cxnLst/>
              <a:rect r="r" b="b" t="t" l="l"/>
              <a:pathLst>
                <a:path h="1249680" w="3169920">
                  <a:moveTo>
                    <a:pt x="0" y="0"/>
                  </a:moveTo>
                  <a:lnTo>
                    <a:pt x="3169920" y="0"/>
                  </a:lnTo>
                  <a:lnTo>
                    <a:pt x="2758440" y="1249680"/>
                  </a:lnTo>
                  <a:lnTo>
                    <a:pt x="411480" y="1249680"/>
                  </a:lnTo>
                  <a:close/>
                </a:path>
              </a:pathLst>
            </a:custGeom>
            <a:solidFill>
              <a:srgbClr val="007D86"/>
            </a:solidFill>
          </p:spPr>
        </p:sp>
      </p:grpSp>
      <p:sp>
        <p:nvSpPr>
          <p:cNvPr name="TextBox 76" id="76"/>
          <p:cNvSpPr txBox="true"/>
          <p:nvPr/>
        </p:nvSpPr>
        <p:spPr>
          <a:xfrm rot="0">
            <a:off x="14813280" y="3177540"/>
            <a:ext cx="2011680" cy="651510"/>
          </a:xfrm>
          <a:prstGeom prst="rect">
            <a:avLst/>
          </a:prstGeom>
        </p:spPr>
        <p:txBody>
          <a:bodyPr anchor="t" rtlCol="false" tIns="0" lIns="0" bIns="0" rIns="0">
            <a:spAutoFit/>
          </a:bodyPr>
          <a:lstStyle/>
          <a:p>
            <a:pPr algn="ctr">
              <a:lnSpc>
                <a:spcPts val="4644"/>
              </a:lnSpc>
            </a:pPr>
            <a:r>
              <a:rPr lang="en-US" sz="3870" b="true">
                <a:solidFill>
                  <a:srgbClr val="FFFFFF"/>
                </a:solidFill>
                <a:latin typeface="Open Sans Bold"/>
                <a:ea typeface="Open Sans Bold"/>
                <a:cs typeface="Open Sans Bold"/>
                <a:sym typeface="Open Sans Bold"/>
              </a:rPr>
              <a:t>05</a:t>
            </a:r>
          </a:p>
        </p:txBody>
      </p:sp>
      <p:sp>
        <p:nvSpPr>
          <p:cNvPr name="TextBox 77" id="77"/>
          <p:cNvSpPr txBox="true"/>
          <p:nvPr/>
        </p:nvSpPr>
        <p:spPr>
          <a:xfrm rot="0">
            <a:off x="14538960" y="4573905"/>
            <a:ext cx="2560320" cy="1129665"/>
          </a:xfrm>
          <a:prstGeom prst="rect">
            <a:avLst/>
          </a:prstGeom>
        </p:spPr>
        <p:txBody>
          <a:bodyPr anchor="t" rtlCol="false" tIns="0" lIns="0" bIns="0" rIns="0">
            <a:spAutoFit/>
          </a:bodyPr>
          <a:lstStyle/>
          <a:p>
            <a:pPr algn="ctr">
              <a:lnSpc>
                <a:spcPts val="3240"/>
              </a:lnSpc>
            </a:pPr>
            <a:r>
              <a:rPr lang="en-US" sz="2700" b="true">
                <a:solidFill>
                  <a:srgbClr val="122A3D"/>
                </a:solidFill>
                <a:latin typeface="Open Sans Bold"/>
                <a:ea typeface="Open Sans Bold"/>
                <a:cs typeface="Open Sans Bold"/>
                <a:sym typeface="Open Sans Bold"/>
              </a:rPr>
              <a:t>Documentar</a:t>
            </a:r>
          </a:p>
        </p:txBody>
      </p:sp>
      <p:sp>
        <p:nvSpPr>
          <p:cNvPr name="TextBox 78" id="78"/>
          <p:cNvSpPr txBox="true"/>
          <p:nvPr/>
        </p:nvSpPr>
        <p:spPr>
          <a:xfrm rot="0">
            <a:off x="14550390" y="5966460"/>
            <a:ext cx="2537460" cy="2446020"/>
          </a:xfrm>
          <a:prstGeom prst="rect">
            <a:avLst/>
          </a:prstGeom>
        </p:spPr>
        <p:txBody>
          <a:bodyPr anchor="t" rtlCol="false" tIns="0" lIns="0" bIns="0" rIns="0">
            <a:spAutoFit/>
          </a:bodyPr>
          <a:lstStyle/>
          <a:p>
            <a:pPr algn="ctr">
              <a:lnSpc>
                <a:spcPts val="2808"/>
              </a:lnSpc>
            </a:pPr>
            <a:r>
              <a:rPr lang="en-US" sz="2340">
                <a:solidFill>
                  <a:srgbClr val="506A7C"/>
                </a:solidFill>
                <a:latin typeface="Open Sans"/>
                <a:ea typeface="Open Sans"/>
                <a:cs typeface="Open Sans"/>
                <a:sym typeface="Open Sans"/>
              </a:rPr>
              <a:t>Resultados,</a:t>
            </a:r>
          </a:p>
          <a:p>
            <a:pPr algn="ctr">
              <a:lnSpc>
                <a:spcPts val="2808"/>
              </a:lnSpc>
            </a:pPr>
            <a:r>
              <a:rPr lang="en-US" sz="2340">
                <a:solidFill>
                  <a:srgbClr val="506A7C"/>
                </a:solidFill>
                <a:latin typeface="Open Sans"/>
                <a:ea typeface="Open Sans"/>
                <a:cs typeface="Open Sans"/>
                <a:sym typeface="Open Sans"/>
              </a:rPr>
              <a:t>limitaciones y</a:t>
            </a:r>
          </a:p>
          <a:p>
            <a:pPr algn="ctr">
              <a:lnSpc>
                <a:spcPts val="2808"/>
              </a:lnSpc>
            </a:pPr>
            <a:r>
              <a:rPr lang="en-US" sz="2340">
                <a:solidFill>
                  <a:srgbClr val="506A7C"/>
                </a:solidFill>
                <a:latin typeface="Open Sans"/>
                <a:ea typeface="Open Sans"/>
                <a:cs typeface="Open Sans"/>
                <a:sym typeface="Open Sans"/>
              </a:rPr>
              <a:t>recomendaciones</a:t>
            </a:r>
          </a:p>
          <a:p>
            <a:pPr algn="ctr">
              <a:lnSpc>
                <a:spcPts val="2808"/>
              </a:lnSpc>
            </a:pPr>
            <a:r>
              <a:rPr lang="en-US" sz="2340">
                <a:solidFill>
                  <a:srgbClr val="506A7C"/>
                </a:solidFill>
                <a:latin typeface="Open Sans"/>
                <a:ea typeface="Open Sans"/>
                <a:cs typeface="Open Sans"/>
                <a:sym typeface="Open Sans"/>
              </a:rPr>
              <a:t>de continuidad.</a:t>
            </a:r>
          </a:p>
        </p:txBody>
      </p:sp>
      <p:grpSp>
        <p:nvGrpSpPr>
          <p:cNvPr name="Group 79" id="79"/>
          <p:cNvGrpSpPr/>
          <p:nvPr/>
        </p:nvGrpSpPr>
        <p:grpSpPr>
          <a:xfrm rot="0">
            <a:off x="14360804" y="430782"/>
            <a:ext cx="3069946" cy="852936"/>
            <a:chOff x="0" y="0"/>
            <a:chExt cx="2799232" cy="777723"/>
          </a:xfrm>
        </p:grpSpPr>
        <p:sp>
          <p:nvSpPr>
            <p:cNvPr name="Freeform 80" id="80"/>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Alcance del producto</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Circuito operacional del mantenimiento</a:t>
              </a:r>
            </a:p>
          </p:txBody>
        </p:sp>
      </p:grpSp>
      <p:grpSp>
        <p:nvGrpSpPr>
          <p:cNvPr name="Group 9" id="9"/>
          <p:cNvGrpSpPr/>
          <p:nvPr/>
        </p:nvGrpSpPr>
        <p:grpSpPr>
          <a:xfrm rot="0">
            <a:off x="925830" y="1595438"/>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08</a:t>
              </a:r>
            </a:p>
          </p:txBody>
        </p:sp>
      </p:grpSp>
      <p:sp>
        <p:nvSpPr>
          <p:cNvPr name="TextBox 14" id="14"/>
          <p:cNvSpPr txBox="true"/>
          <p:nvPr/>
        </p:nvSpPr>
        <p:spPr>
          <a:xfrm rot="0">
            <a:off x="914400" y="2592705"/>
            <a:ext cx="10058400" cy="560070"/>
          </a:xfrm>
          <a:prstGeom prst="rect">
            <a:avLst/>
          </a:prstGeom>
        </p:spPr>
        <p:txBody>
          <a:bodyPr anchor="t" rtlCol="false" tIns="0" lIns="0" bIns="0" rIns="0">
            <a:spAutoFit/>
          </a:bodyPr>
          <a:lstStyle/>
          <a:p>
            <a:pPr algn="l">
              <a:lnSpc>
                <a:spcPts val="3672"/>
              </a:lnSpc>
            </a:pPr>
            <a:r>
              <a:rPr lang="en-US" sz="3060" b="true">
                <a:solidFill>
                  <a:srgbClr val="1765C1"/>
                </a:solidFill>
                <a:latin typeface="Open Sans Bold"/>
                <a:ea typeface="Open Sans Bold"/>
                <a:cs typeface="Open Sans Bold"/>
                <a:sym typeface="Open Sans Bold"/>
              </a:rPr>
              <a:t>Incluye</a:t>
            </a:r>
          </a:p>
        </p:txBody>
      </p:sp>
      <p:grpSp>
        <p:nvGrpSpPr>
          <p:cNvPr name="Group 15" id="15"/>
          <p:cNvGrpSpPr/>
          <p:nvPr/>
        </p:nvGrpSpPr>
        <p:grpSpPr>
          <a:xfrm rot="0">
            <a:off x="925830" y="3714750"/>
            <a:ext cx="777240" cy="777240"/>
            <a:chOff x="0" y="0"/>
            <a:chExt cx="1036320" cy="1036320"/>
          </a:xfrm>
        </p:grpSpPr>
        <p:sp>
          <p:nvSpPr>
            <p:cNvPr name="Freeform 16" id="16"/>
            <p:cNvSpPr/>
            <p:nvPr/>
          </p:nvSpPr>
          <p:spPr>
            <a:xfrm flipH="false" flipV="false" rot="0">
              <a:off x="0" y="0"/>
              <a:ext cx="1036320" cy="1036320"/>
            </a:xfrm>
            <a:custGeom>
              <a:avLst/>
              <a:gdLst/>
              <a:ahLst/>
              <a:cxnLst/>
              <a:rect r="r" b="b" t="t" l="l"/>
              <a:pathLst>
                <a:path h="1036320" w="1036320">
                  <a:moveTo>
                    <a:pt x="0" y="518160"/>
                  </a:moveTo>
                  <a:cubicBezTo>
                    <a:pt x="0" y="232029"/>
                    <a:pt x="232029" y="0"/>
                    <a:pt x="518160" y="0"/>
                  </a:cubicBezTo>
                  <a:cubicBezTo>
                    <a:pt x="804291" y="0"/>
                    <a:pt x="1036320" y="232029"/>
                    <a:pt x="1036320" y="518160"/>
                  </a:cubicBezTo>
                  <a:cubicBezTo>
                    <a:pt x="1036320" y="804291"/>
                    <a:pt x="804291" y="1036320"/>
                    <a:pt x="518160" y="1036320"/>
                  </a:cubicBezTo>
                  <a:cubicBezTo>
                    <a:pt x="232029" y="1036320"/>
                    <a:pt x="0" y="804291"/>
                    <a:pt x="0" y="518160"/>
                  </a:cubicBezTo>
                  <a:close/>
                </a:path>
              </a:pathLst>
            </a:custGeom>
            <a:solidFill>
              <a:srgbClr val="007D86"/>
            </a:solidFill>
          </p:spPr>
        </p:sp>
      </p:grpSp>
      <p:sp>
        <p:nvSpPr>
          <p:cNvPr name="TextBox 17" id="17"/>
          <p:cNvSpPr txBox="true"/>
          <p:nvPr/>
        </p:nvSpPr>
        <p:spPr>
          <a:xfrm rot="0">
            <a:off x="1005840" y="3865245"/>
            <a:ext cx="617220" cy="535305"/>
          </a:xfrm>
          <a:prstGeom prst="rect">
            <a:avLst/>
          </a:prstGeom>
        </p:spPr>
        <p:txBody>
          <a:bodyPr anchor="t" rtlCol="false" tIns="0" lIns="0" bIns="0" rIns="0">
            <a:spAutoFit/>
          </a:bodyPr>
          <a:lstStyle/>
          <a:p>
            <a:pPr algn="ctr">
              <a:lnSpc>
                <a:spcPts val="3131"/>
              </a:lnSpc>
            </a:pPr>
            <a:r>
              <a:rPr lang="en-US" sz="2610" b="true">
                <a:solidFill>
                  <a:srgbClr val="FFFFFF"/>
                </a:solidFill>
                <a:latin typeface="Open Sans Bold"/>
                <a:ea typeface="Open Sans Bold"/>
                <a:cs typeface="Open Sans Bold"/>
                <a:sym typeface="Open Sans Bold"/>
              </a:rPr>
              <a:t>01</a:t>
            </a:r>
          </a:p>
        </p:txBody>
      </p:sp>
      <p:sp>
        <p:nvSpPr>
          <p:cNvPr name="TextBox 18" id="18"/>
          <p:cNvSpPr txBox="true"/>
          <p:nvPr/>
        </p:nvSpPr>
        <p:spPr>
          <a:xfrm rot="0">
            <a:off x="2045970" y="3726180"/>
            <a:ext cx="8961120" cy="525780"/>
          </a:xfrm>
          <a:prstGeom prst="rect">
            <a:avLst/>
          </a:prstGeom>
        </p:spPr>
        <p:txBody>
          <a:bodyPr anchor="t" rtlCol="false" tIns="0" lIns="0" bIns="0" rIns="0">
            <a:spAutoFit/>
          </a:bodyPr>
          <a:lstStyle/>
          <a:p>
            <a:pPr algn="l">
              <a:lnSpc>
                <a:spcPts val="3455"/>
              </a:lnSpc>
            </a:pPr>
            <a:r>
              <a:rPr lang="en-US" sz="2879" b="true">
                <a:solidFill>
                  <a:srgbClr val="122A3D"/>
                </a:solidFill>
                <a:latin typeface="Open Sans Bold"/>
                <a:ea typeface="Open Sans Bold"/>
                <a:cs typeface="Open Sans Bold"/>
                <a:sym typeface="Open Sans Bold"/>
              </a:rPr>
              <a:t>Flujos por rol</a:t>
            </a:r>
          </a:p>
        </p:txBody>
      </p:sp>
      <p:sp>
        <p:nvSpPr>
          <p:cNvPr name="TextBox 19" id="19"/>
          <p:cNvSpPr txBox="true"/>
          <p:nvPr/>
        </p:nvSpPr>
        <p:spPr>
          <a:xfrm rot="0">
            <a:off x="2045970" y="4286250"/>
            <a:ext cx="8983980" cy="640080"/>
          </a:xfrm>
          <a:prstGeom prst="rect">
            <a:avLst/>
          </a:prstGeom>
        </p:spPr>
        <p:txBody>
          <a:bodyPr anchor="t" rtlCol="false" tIns="0" lIns="0" bIns="0" rIns="0">
            <a:spAutoFit/>
          </a:bodyPr>
          <a:lstStyle/>
          <a:p>
            <a:pPr algn="l">
              <a:lnSpc>
                <a:spcPts val="2700"/>
              </a:lnSpc>
            </a:pPr>
            <a:r>
              <a:rPr lang="en-US" sz="2250">
                <a:solidFill>
                  <a:srgbClr val="506A7C"/>
                </a:solidFill>
                <a:latin typeface="Open Sans"/>
                <a:ea typeface="Open Sans"/>
                <a:cs typeface="Open Sans"/>
                <a:sym typeface="Open Sans"/>
              </a:rPr>
              <a:t>Equipo, OS, retiros, recepciones, reparación y QA.</a:t>
            </a:r>
          </a:p>
        </p:txBody>
      </p:sp>
      <p:grpSp>
        <p:nvGrpSpPr>
          <p:cNvPr name="Group 20" id="20"/>
          <p:cNvGrpSpPr/>
          <p:nvPr/>
        </p:nvGrpSpPr>
        <p:grpSpPr>
          <a:xfrm rot="0">
            <a:off x="2045970" y="4894897"/>
            <a:ext cx="8949690" cy="17145"/>
            <a:chOff x="0" y="0"/>
            <a:chExt cx="11932920" cy="22860"/>
          </a:xfrm>
        </p:grpSpPr>
        <p:sp>
          <p:nvSpPr>
            <p:cNvPr name="Freeform 21" id="21"/>
            <p:cNvSpPr/>
            <p:nvPr/>
          </p:nvSpPr>
          <p:spPr>
            <a:xfrm flipH="false" flipV="false" rot="0">
              <a:off x="0" y="0"/>
              <a:ext cx="11932920" cy="22860"/>
            </a:xfrm>
            <a:custGeom>
              <a:avLst/>
              <a:gdLst/>
              <a:ahLst/>
              <a:cxnLst/>
              <a:rect r="r" b="b" t="t" l="l"/>
              <a:pathLst>
                <a:path h="22860" w="11932920">
                  <a:moveTo>
                    <a:pt x="0" y="0"/>
                  </a:moveTo>
                  <a:lnTo>
                    <a:pt x="11932920" y="0"/>
                  </a:lnTo>
                  <a:lnTo>
                    <a:pt x="11932920" y="22860"/>
                  </a:lnTo>
                  <a:lnTo>
                    <a:pt x="0" y="22860"/>
                  </a:lnTo>
                  <a:close/>
                </a:path>
              </a:pathLst>
            </a:custGeom>
            <a:solidFill>
              <a:srgbClr val="D7E4EA"/>
            </a:solidFill>
          </p:spPr>
        </p:sp>
      </p:grpSp>
      <p:grpSp>
        <p:nvGrpSpPr>
          <p:cNvPr name="Group 22" id="22"/>
          <p:cNvGrpSpPr/>
          <p:nvPr/>
        </p:nvGrpSpPr>
        <p:grpSpPr>
          <a:xfrm rot="0">
            <a:off x="925830" y="5040630"/>
            <a:ext cx="777240" cy="777240"/>
            <a:chOff x="0" y="0"/>
            <a:chExt cx="1036320" cy="1036320"/>
          </a:xfrm>
        </p:grpSpPr>
        <p:sp>
          <p:nvSpPr>
            <p:cNvPr name="Freeform 23" id="23"/>
            <p:cNvSpPr/>
            <p:nvPr/>
          </p:nvSpPr>
          <p:spPr>
            <a:xfrm flipH="false" flipV="false" rot="0">
              <a:off x="0" y="0"/>
              <a:ext cx="1036320" cy="1036320"/>
            </a:xfrm>
            <a:custGeom>
              <a:avLst/>
              <a:gdLst/>
              <a:ahLst/>
              <a:cxnLst/>
              <a:rect r="r" b="b" t="t" l="l"/>
              <a:pathLst>
                <a:path h="1036320" w="1036320">
                  <a:moveTo>
                    <a:pt x="0" y="518160"/>
                  </a:moveTo>
                  <a:cubicBezTo>
                    <a:pt x="0" y="232029"/>
                    <a:pt x="232029" y="0"/>
                    <a:pt x="518160" y="0"/>
                  </a:cubicBezTo>
                  <a:cubicBezTo>
                    <a:pt x="804291" y="0"/>
                    <a:pt x="1036320" y="232029"/>
                    <a:pt x="1036320" y="518160"/>
                  </a:cubicBezTo>
                  <a:cubicBezTo>
                    <a:pt x="1036320" y="804291"/>
                    <a:pt x="804291" y="1036320"/>
                    <a:pt x="518160" y="1036320"/>
                  </a:cubicBezTo>
                  <a:cubicBezTo>
                    <a:pt x="232029" y="1036320"/>
                    <a:pt x="0" y="804291"/>
                    <a:pt x="0" y="518160"/>
                  </a:cubicBezTo>
                  <a:close/>
                </a:path>
              </a:pathLst>
            </a:custGeom>
            <a:solidFill>
              <a:srgbClr val="1765C1"/>
            </a:solidFill>
          </p:spPr>
        </p:sp>
      </p:grpSp>
      <p:sp>
        <p:nvSpPr>
          <p:cNvPr name="TextBox 24" id="24"/>
          <p:cNvSpPr txBox="true"/>
          <p:nvPr/>
        </p:nvSpPr>
        <p:spPr>
          <a:xfrm rot="0">
            <a:off x="1005840" y="5191125"/>
            <a:ext cx="617220" cy="535305"/>
          </a:xfrm>
          <a:prstGeom prst="rect">
            <a:avLst/>
          </a:prstGeom>
        </p:spPr>
        <p:txBody>
          <a:bodyPr anchor="t" rtlCol="false" tIns="0" lIns="0" bIns="0" rIns="0">
            <a:spAutoFit/>
          </a:bodyPr>
          <a:lstStyle/>
          <a:p>
            <a:pPr algn="ctr">
              <a:lnSpc>
                <a:spcPts val="3131"/>
              </a:lnSpc>
            </a:pPr>
            <a:r>
              <a:rPr lang="en-US" sz="2610" b="true">
                <a:solidFill>
                  <a:srgbClr val="FFFFFF"/>
                </a:solidFill>
                <a:latin typeface="Open Sans Bold"/>
                <a:ea typeface="Open Sans Bold"/>
                <a:cs typeface="Open Sans Bold"/>
                <a:sym typeface="Open Sans Bold"/>
              </a:rPr>
              <a:t>02</a:t>
            </a:r>
          </a:p>
        </p:txBody>
      </p:sp>
      <p:sp>
        <p:nvSpPr>
          <p:cNvPr name="TextBox 25" id="25"/>
          <p:cNvSpPr txBox="true"/>
          <p:nvPr/>
        </p:nvSpPr>
        <p:spPr>
          <a:xfrm rot="0">
            <a:off x="2045970" y="5052060"/>
            <a:ext cx="8961120" cy="525780"/>
          </a:xfrm>
          <a:prstGeom prst="rect">
            <a:avLst/>
          </a:prstGeom>
        </p:spPr>
        <p:txBody>
          <a:bodyPr anchor="t" rtlCol="false" tIns="0" lIns="0" bIns="0" rIns="0">
            <a:spAutoFit/>
          </a:bodyPr>
          <a:lstStyle/>
          <a:p>
            <a:pPr algn="l">
              <a:lnSpc>
                <a:spcPts val="3455"/>
              </a:lnSpc>
            </a:pPr>
            <a:r>
              <a:rPr lang="en-US" sz="2879" b="true">
                <a:solidFill>
                  <a:srgbClr val="122A3D"/>
                </a:solidFill>
                <a:latin typeface="Open Sans Bold"/>
                <a:ea typeface="Open Sans Bold"/>
                <a:cs typeface="Open Sans Bold"/>
                <a:sym typeface="Open Sans Bold"/>
              </a:rPr>
              <a:t>Integración y trazabilidad</a:t>
            </a:r>
          </a:p>
        </p:txBody>
      </p:sp>
      <p:sp>
        <p:nvSpPr>
          <p:cNvPr name="TextBox 26" id="26"/>
          <p:cNvSpPr txBox="true"/>
          <p:nvPr/>
        </p:nvSpPr>
        <p:spPr>
          <a:xfrm rot="0">
            <a:off x="2045970" y="5612130"/>
            <a:ext cx="8983980" cy="640080"/>
          </a:xfrm>
          <a:prstGeom prst="rect">
            <a:avLst/>
          </a:prstGeom>
        </p:spPr>
        <p:txBody>
          <a:bodyPr anchor="t" rtlCol="false" tIns="0" lIns="0" bIns="0" rIns="0">
            <a:spAutoFit/>
          </a:bodyPr>
          <a:lstStyle/>
          <a:p>
            <a:pPr algn="l">
              <a:lnSpc>
                <a:spcPts val="2700"/>
              </a:lnSpc>
            </a:pPr>
            <a:r>
              <a:rPr lang="en-US" sz="2250">
                <a:solidFill>
                  <a:srgbClr val="506A7C"/>
                </a:solidFill>
                <a:latin typeface="Open Sans"/>
                <a:ea typeface="Open Sans"/>
                <a:cs typeface="Open Sans"/>
                <a:sym typeface="Open Sans"/>
              </a:rPr>
              <a:t>Web, móvil, API, persistencia, historial y evidencia.</a:t>
            </a:r>
          </a:p>
        </p:txBody>
      </p:sp>
      <p:grpSp>
        <p:nvGrpSpPr>
          <p:cNvPr name="Group 27" id="27"/>
          <p:cNvGrpSpPr/>
          <p:nvPr/>
        </p:nvGrpSpPr>
        <p:grpSpPr>
          <a:xfrm rot="0">
            <a:off x="2045970" y="6220778"/>
            <a:ext cx="8949690" cy="17145"/>
            <a:chOff x="0" y="0"/>
            <a:chExt cx="11932920" cy="22860"/>
          </a:xfrm>
        </p:grpSpPr>
        <p:sp>
          <p:nvSpPr>
            <p:cNvPr name="Freeform 28" id="28"/>
            <p:cNvSpPr/>
            <p:nvPr/>
          </p:nvSpPr>
          <p:spPr>
            <a:xfrm flipH="false" flipV="false" rot="0">
              <a:off x="0" y="0"/>
              <a:ext cx="11932920" cy="22860"/>
            </a:xfrm>
            <a:custGeom>
              <a:avLst/>
              <a:gdLst/>
              <a:ahLst/>
              <a:cxnLst/>
              <a:rect r="r" b="b" t="t" l="l"/>
              <a:pathLst>
                <a:path h="22860" w="11932920">
                  <a:moveTo>
                    <a:pt x="0" y="0"/>
                  </a:moveTo>
                  <a:lnTo>
                    <a:pt x="11932920" y="0"/>
                  </a:lnTo>
                  <a:lnTo>
                    <a:pt x="11932920" y="22860"/>
                  </a:lnTo>
                  <a:lnTo>
                    <a:pt x="0" y="22860"/>
                  </a:lnTo>
                  <a:close/>
                </a:path>
              </a:pathLst>
            </a:custGeom>
            <a:solidFill>
              <a:srgbClr val="D7E4EA"/>
            </a:solidFill>
          </p:spPr>
        </p:sp>
      </p:grpSp>
      <p:grpSp>
        <p:nvGrpSpPr>
          <p:cNvPr name="Group 29" id="29"/>
          <p:cNvGrpSpPr/>
          <p:nvPr/>
        </p:nvGrpSpPr>
        <p:grpSpPr>
          <a:xfrm rot="0">
            <a:off x="925830" y="6366510"/>
            <a:ext cx="777240" cy="777240"/>
            <a:chOff x="0" y="0"/>
            <a:chExt cx="1036320" cy="1036320"/>
          </a:xfrm>
        </p:grpSpPr>
        <p:sp>
          <p:nvSpPr>
            <p:cNvPr name="Freeform 30" id="30"/>
            <p:cNvSpPr/>
            <p:nvPr/>
          </p:nvSpPr>
          <p:spPr>
            <a:xfrm flipH="false" flipV="false" rot="0">
              <a:off x="0" y="0"/>
              <a:ext cx="1036320" cy="1036320"/>
            </a:xfrm>
            <a:custGeom>
              <a:avLst/>
              <a:gdLst/>
              <a:ahLst/>
              <a:cxnLst/>
              <a:rect r="r" b="b" t="t" l="l"/>
              <a:pathLst>
                <a:path h="1036320" w="1036320">
                  <a:moveTo>
                    <a:pt x="0" y="518160"/>
                  </a:moveTo>
                  <a:cubicBezTo>
                    <a:pt x="0" y="232029"/>
                    <a:pt x="232029" y="0"/>
                    <a:pt x="518160" y="0"/>
                  </a:cubicBezTo>
                  <a:cubicBezTo>
                    <a:pt x="804291" y="0"/>
                    <a:pt x="1036320" y="232029"/>
                    <a:pt x="1036320" y="518160"/>
                  </a:cubicBezTo>
                  <a:cubicBezTo>
                    <a:pt x="1036320" y="804291"/>
                    <a:pt x="804291" y="1036320"/>
                    <a:pt x="518160" y="1036320"/>
                  </a:cubicBezTo>
                  <a:cubicBezTo>
                    <a:pt x="232029" y="1036320"/>
                    <a:pt x="0" y="804291"/>
                    <a:pt x="0" y="518160"/>
                  </a:cubicBezTo>
                  <a:close/>
                </a:path>
              </a:pathLst>
            </a:custGeom>
            <a:solidFill>
              <a:srgbClr val="007D86"/>
            </a:solidFill>
          </p:spPr>
        </p:sp>
      </p:grpSp>
      <p:sp>
        <p:nvSpPr>
          <p:cNvPr name="TextBox 31" id="31"/>
          <p:cNvSpPr txBox="true"/>
          <p:nvPr/>
        </p:nvSpPr>
        <p:spPr>
          <a:xfrm rot="0">
            <a:off x="1005840" y="6517005"/>
            <a:ext cx="617220" cy="535305"/>
          </a:xfrm>
          <a:prstGeom prst="rect">
            <a:avLst/>
          </a:prstGeom>
        </p:spPr>
        <p:txBody>
          <a:bodyPr anchor="t" rtlCol="false" tIns="0" lIns="0" bIns="0" rIns="0">
            <a:spAutoFit/>
          </a:bodyPr>
          <a:lstStyle/>
          <a:p>
            <a:pPr algn="ctr">
              <a:lnSpc>
                <a:spcPts val="3131"/>
              </a:lnSpc>
            </a:pPr>
            <a:r>
              <a:rPr lang="en-US" sz="2610" b="true">
                <a:solidFill>
                  <a:srgbClr val="FFFFFF"/>
                </a:solidFill>
                <a:latin typeface="Open Sans Bold"/>
                <a:ea typeface="Open Sans Bold"/>
                <a:cs typeface="Open Sans Bold"/>
                <a:sym typeface="Open Sans Bold"/>
              </a:rPr>
              <a:t>03</a:t>
            </a:r>
          </a:p>
        </p:txBody>
      </p:sp>
      <p:sp>
        <p:nvSpPr>
          <p:cNvPr name="TextBox 32" id="32"/>
          <p:cNvSpPr txBox="true"/>
          <p:nvPr/>
        </p:nvSpPr>
        <p:spPr>
          <a:xfrm rot="0">
            <a:off x="2045970" y="6377940"/>
            <a:ext cx="8961120" cy="525780"/>
          </a:xfrm>
          <a:prstGeom prst="rect">
            <a:avLst/>
          </a:prstGeom>
        </p:spPr>
        <p:txBody>
          <a:bodyPr anchor="t" rtlCol="false" tIns="0" lIns="0" bIns="0" rIns="0">
            <a:spAutoFit/>
          </a:bodyPr>
          <a:lstStyle/>
          <a:p>
            <a:pPr algn="l">
              <a:lnSpc>
                <a:spcPts val="3455"/>
              </a:lnSpc>
            </a:pPr>
            <a:r>
              <a:rPr lang="en-US" sz="2879" b="true">
                <a:solidFill>
                  <a:srgbClr val="122A3D"/>
                </a:solidFill>
                <a:latin typeface="Open Sans Bold"/>
                <a:ea typeface="Open Sans Bold"/>
                <a:cs typeface="Open Sans Bold"/>
                <a:sym typeface="Open Sans Bold"/>
              </a:rPr>
              <a:t>Pruebas</a:t>
            </a:r>
          </a:p>
        </p:txBody>
      </p:sp>
      <p:sp>
        <p:nvSpPr>
          <p:cNvPr name="TextBox 33" id="33"/>
          <p:cNvSpPr txBox="true"/>
          <p:nvPr/>
        </p:nvSpPr>
        <p:spPr>
          <a:xfrm rot="0">
            <a:off x="2045970" y="6938010"/>
            <a:ext cx="8983980" cy="640080"/>
          </a:xfrm>
          <a:prstGeom prst="rect">
            <a:avLst/>
          </a:prstGeom>
        </p:spPr>
        <p:txBody>
          <a:bodyPr anchor="t" rtlCol="false" tIns="0" lIns="0" bIns="0" rIns="0">
            <a:spAutoFit/>
          </a:bodyPr>
          <a:lstStyle/>
          <a:p>
            <a:pPr algn="l">
              <a:lnSpc>
                <a:spcPts val="2700"/>
              </a:lnSpc>
            </a:pPr>
            <a:r>
              <a:rPr lang="en-US" sz="2250">
                <a:solidFill>
                  <a:srgbClr val="506A7C"/>
                </a:solidFill>
                <a:latin typeface="Open Sans"/>
                <a:ea typeface="Open Sans"/>
                <a:cs typeface="Open Sans"/>
                <a:sym typeface="Open Sans"/>
              </a:rPr>
              <a:t>Funcionalidad, permisos, reglas de negocio e integridad.</a:t>
            </a:r>
          </a:p>
        </p:txBody>
      </p:sp>
      <p:grpSp>
        <p:nvGrpSpPr>
          <p:cNvPr name="Group 34" id="34"/>
          <p:cNvGrpSpPr/>
          <p:nvPr/>
        </p:nvGrpSpPr>
        <p:grpSpPr>
          <a:xfrm rot="0">
            <a:off x="2045970" y="7546657"/>
            <a:ext cx="8949690" cy="17145"/>
            <a:chOff x="0" y="0"/>
            <a:chExt cx="11932920" cy="22860"/>
          </a:xfrm>
        </p:grpSpPr>
        <p:sp>
          <p:nvSpPr>
            <p:cNvPr name="Freeform 35" id="35"/>
            <p:cNvSpPr/>
            <p:nvPr/>
          </p:nvSpPr>
          <p:spPr>
            <a:xfrm flipH="false" flipV="false" rot="0">
              <a:off x="0" y="0"/>
              <a:ext cx="11932920" cy="22860"/>
            </a:xfrm>
            <a:custGeom>
              <a:avLst/>
              <a:gdLst/>
              <a:ahLst/>
              <a:cxnLst/>
              <a:rect r="r" b="b" t="t" l="l"/>
              <a:pathLst>
                <a:path h="22860" w="11932920">
                  <a:moveTo>
                    <a:pt x="0" y="0"/>
                  </a:moveTo>
                  <a:lnTo>
                    <a:pt x="11932920" y="0"/>
                  </a:lnTo>
                  <a:lnTo>
                    <a:pt x="11932920" y="22860"/>
                  </a:lnTo>
                  <a:lnTo>
                    <a:pt x="0" y="22860"/>
                  </a:lnTo>
                  <a:close/>
                </a:path>
              </a:pathLst>
            </a:custGeom>
            <a:solidFill>
              <a:srgbClr val="D7E4EA"/>
            </a:solidFill>
          </p:spPr>
        </p:sp>
      </p:grpSp>
      <p:grpSp>
        <p:nvGrpSpPr>
          <p:cNvPr name="Group 36" id="36"/>
          <p:cNvGrpSpPr/>
          <p:nvPr/>
        </p:nvGrpSpPr>
        <p:grpSpPr>
          <a:xfrm rot="0">
            <a:off x="925830" y="7692390"/>
            <a:ext cx="777240" cy="777240"/>
            <a:chOff x="0" y="0"/>
            <a:chExt cx="1036320" cy="1036320"/>
          </a:xfrm>
        </p:grpSpPr>
        <p:sp>
          <p:nvSpPr>
            <p:cNvPr name="Freeform 37" id="37"/>
            <p:cNvSpPr/>
            <p:nvPr/>
          </p:nvSpPr>
          <p:spPr>
            <a:xfrm flipH="false" flipV="false" rot="0">
              <a:off x="0" y="0"/>
              <a:ext cx="1036320" cy="1036320"/>
            </a:xfrm>
            <a:custGeom>
              <a:avLst/>
              <a:gdLst/>
              <a:ahLst/>
              <a:cxnLst/>
              <a:rect r="r" b="b" t="t" l="l"/>
              <a:pathLst>
                <a:path h="1036320" w="1036320">
                  <a:moveTo>
                    <a:pt x="0" y="518160"/>
                  </a:moveTo>
                  <a:cubicBezTo>
                    <a:pt x="0" y="232029"/>
                    <a:pt x="232029" y="0"/>
                    <a:pt x="518160" y="0"/>
                  </a:cubicBezTo>
                  <a:cubicBezTo>
                    <a:pt x="804291" y="0"/>
                    <a:pt x="1036320" y="232029"/>
                    <a:pt x="1036320" y="518160"/>
                  </a:cubicBezTo>
                  <a:cubicBezTo>
                    <a:pt x="1036320" y="804291"/>
                    <a:pt x="804291" y="1036320"/>
                    <a:pt x="518160" y="1036320"/>
                  </a:cubicBezTo>
                  <a:cubicBezTo>
                    <a:pt x="232029" y="1036320"/>
                    <a:pt x="0" y="804291"/>
                    <a:pt x="0" y="518160"/>
                  </a:cubicBezTo>
                  <a:close/>
                </a:path>
              </a:pathLst>
            </a:custGeom>
            <a:solidFill>
              <a:srgbClr val="1765C1"/>
            </a:solidFill>
          </p:spPr>
        </p:sp>
      </p:grpSp>
      <p:sp>
        <p:nvSpPr>
          <p:cNvPr name="TextBox 38" id="38"/>
          <p:cNvSpPr txBox="true"/>
          <p:nvPr/>
        </p:nvSpPr>
        <p:spPr>
          <a:xfrm rot="0">
            <a:off x="1005840" y="7842885"/>
            <a:ext cx="617220" cy="535305"/>
          </a:xfrm>
          <a:prstGeom prst="rect">
            <a:avLst/>
          </a:prstGeom>
        </p:spPr>
        <p:txBody>
          <a:bodyPr anchor="t" rtlCol="false" tIns="0" lIns="0" bIns="0" rIns="0">
            <a:spAutoFit/>
          </a:bodyPr>
          <a:lstStyle/>
          <a:p>
            <a:pPr algn="ctr">
              <a:lnSpc>
                <a:spcPts val="3131"/>
              </a:lnSpc>
            </a:pPr>
            <a:r>
              <a:rPr lang="en-US" sz="2610" b="true">
                <a:solidFill>
                  <a:srgbClr val="FFFFFF"/>
                </a:solidFill>
                <a:latin typeface="Open Sans Bold"/>
                <a:ea typeface="Open Sans Bold"/>
                <a:cs typeface="Open Sans Bold"/>
                <a:sym typeface="Open Sans Bold"/>
              </a:rPr>
              <a:t>04</a:t>
            </a:r>
          </a:p>
        </p:txBody>
      </p:sp>
      <p:sp>
        <p:nvSpPr>
          <p:cNvPr name="TextBox 39" id="39"/>
          <p:cNvSpPr txBox="true"/>
          <p:nvPr/>
        </p:nvSpPr>
        <p:spPr>
          <a:xfrm rot="0">
            <a:off x="2045970" y="7703820"/>
            <a:ext cx="8961120" cy="525780"/>
          </a:xfrm>
          <a:prstGeom prst="rect">
            <a:avLst/>
          </a:prstGeom>
        </p:spPr>
        <p:txBody>
          <a:bodyPr anchor="t" rtlCol="false" tIns="0" lIns="0" bIns="0" rIns="0">
            <a:spAutoFit/>
          </a:bodyPr>
          <a:lstStyle/>
          <a:p>
            <a:pPr algn="l">
              <a:lnSpc>
                <a:spcPts val="3455"/>
              </a:lnSpc>
            </a:pPr>
            <a:r>
              <a:rPr lang="en-US" sz="2879" b="true">
                <a:solidFill>
                  <a:srgbClr val="122A3D"/>
                </a:solidFill>
                <a:latin typeface="Open Sans Bold"/>
                <a:ea typeface="Open Sans Bold"/>
                <a:cs typeface="Open Sans Bold"/>
                <a:sym typeface="Open Sans Bold"/>
              </a:rPr>
              <a:t>Demostración reproducible</a:t>
            </a:r>
          </a:p>
        </p:txBody>
      </p:sp>
      <p:sp>
        <p:nvSpPr>
          <p:cNvPr name="TextBox 40" id="40"/>
          <p:cNvSpPr txBox="true"/>
          <p:nvPr/>
        </p:nvSpPr>
        <p:spPr>
          <a:xfrm rot="0">
            <a:off x="2045970" y="8263890"/>
            <a:ext cx="8983980" cy="640080"/>
          </a:xfrm>
          <a:prstGeom prst="rect">
            <a:avLst/>
          </a:prstGeom>
        </p:spPr>
        <p:txBody>
          <a:bodyPr anchor="t" rtlCol="false" tIns="0" lIns="0" bIns="0" rIns="0">
            <a:spAutoFit/>
          </a:bodyPr>
          <a:lstStyle/>
          <a:p>
            <a:pPr algn="l">
              <a:lnSpc>
                <a:spcPts val="2700"/>
              </a:lnSpc>
            </a:pPr>
            <a:r>
              <a:rPr lang="en-US" sz="2250">
                <a:solidFill>
                  <a:srgbClr val="506A7C"/>
                </a:solidFill>
                <a:latin typeface="Open Sans"/>
                <a:ea typeface="Open Sans"/>
                <a:cs typeface="Open Sans"/>
                <a:sym typeface="Open Sans"/>
              </a:rPr>
              <a:t>Configuración, documentación y datos ficticios o anonimizados.</a:t>
            </a:r>
          </a:p>
        </p:txBody>
      </p:sp>
      <p:grpSp>
        <p:nvGrpSpPr>
          <p:cNvPr name="Group 41" id="41"/>
          <p:cNvGrpSpPr/>
          <p:nvPr/>
        </p:nvGrpSpPr>
        <p:grpSpPr>
          <a:xfrm rot="0">
            <a:off x="11590020" y="3171825"/>
            <a:ext cx="5772150" cy="6172200"/>
            <a:chOff x="0" y="0"/>
            <a:chExt cx="7696200" cy="8229600"/>
          </a:xfrm>
        </p:grpSpPr>
        <p:sp>
          <p:nvSpPr>
            <p:cNvPr name="Freeform 42" id="42"/>
            <p:cNvSpPr/>
            <p:nvPr/>
          </p:nvSpPr>
          <p:spPr>
            <a:xfrm flipH="false" flipV="false" rot="0">
              <a:off x="0" y="0"/>
              <a:ext cx="7696200" cy="8229600"/>
            </a:xfrm>
            <a:custGeom>
              <a:avLst/>
              <a:gdLst/>
              <a:ahLst/>
              <a:cxnLst/>
              <a:rect r="r" b="b" t="t" l="l"/>
              <a:pathLst>
                <a:path h="8229600" w="7696200">
                  <a:moveTo>
                    <a:pt x="0" y="518160"/>
                  </a:moveTo>
                  <a:cubicBezTo>
                    <a:pt x="0" y="232029"/>
                    <a:pt x="232029" y="0"/>
                    <a:pt x="518160" y="0"/>
                  </a:cubicBezTo>
                  <a:lnTo>
                    <a:pt x="7178040" y="0"/>
                  </a:lnTo>
                  <a:cubicBezTo>
                    <a:pt x="7464171" y="0"/>
                    <a:pt x="7696200" y="232029"/>
                    <a:pt x="7696200" y="518160"/>
                  </a:cubicBezTo>
                  <a:lnTo>
                    <a:pt x="7696200" y="7711440"/>
                  </a:lnTo>
                  <a:cubicBezTo>
                    <a:pt x="7696200" y="7997572"/>
                    <a:pt x="7464171" y="8229600"/>
                    <a:pt x="7178040" y="8229600"/>
                  </a:cubicBezTo>
                  <a:lnTo>
                    <a:pt x="518160" y="8229600"/>
                  </a:lnTo>
                  <a:cubicBezTo>
                    <a:pt x="232029" y="8229600"/>
                    <a:pt x="0" y="7997571"/>
                    <a:pt x="0" y="7711440"/>
                  </a:cubicBezTo>
                  <a:close/>
                </a:path>
              </a:pathLst>
            </a:custGeom>
            <a:blipFill>
              <a:blip r:embed="rId5"/>
              <a:stretch>
                <a:fillRect l="-45587" t="0" r="-45587" b="0"/>
              </a:stretch>
            </a:blipFill>
          </p:spPr>
        </p:sp>
      </p:grpSp>
      <p:sp>
        <p:nvSpPr>
          <p:cNvPr name="TextBox 43" id="43"/>
          <p:cNvSpPr txBox="true"/>
          <p:nvPr/>
        </p:nvSpPr>
        <p:spPr>
          <a:xfrm rot="0">
            <a:off x="12024360" y="3326130"/>
            <a:ext cx="4949190" cy="994410"/>
          </a:xfrm>
          <a:prstGeom prst="rect">
            <a:avLst/>
          </a:prstGeom>
        </p:spPr>
        <p:txBody>
          <a:bodyPr anchor="t" rtlCol="false" tIns="0" lIns="0" bIns="0" rIns="0">
            <a:spAutoFit/>
          </a:bodyPr>
          <a:lstStyle/>
          <a:p>
            <a:pPr algn="l">
              <a:lnSpc>
                <a:spcPts val="3779"/>
              </a:lnSpc>
            </a:pPr>
            <a:r>
              <a:rPr lang="en-US" sz="3150" b="true">
                <a:solidFill>
                  <a:srgbClr val="FFFFFF"/>
                </a:solidFill>
                <a:latin typeface="Open Sans Bold"/>
                <a:ea typeface="Open Sans Bold"/>
                <a:cs typeface="Open Sans Bold"/>
                <a:sym typeface="Open Sans Bold"/>
              </a:rPr>
              <a:t>Fuera de esta entrega</a:t>
            </a:r>
          </a:p>
        </p:txBody>
      </p:sp>
      <p:sp>
        <p:nvSpPr>
          <p:cNvPr name="TextBox 44" id="44"/>
          <p:cNvSpPr txBox="true"/>
          <p:nvPr/>
        </p:nvSpPr>
        <p:spPr>
          <a:xfrm rot="0">
            <a:off x="12024360" y="4754880"/>
            <a:ext cx="4903470" cy="1085850"/>
          </a:xfrm>
          <a:prstGeom prst="rect">
            <a:avLst/>
          </a:prstGeom>
        </p:spPr>
        <p:txBody>
          <a:bodyPr anchor="t" rtlCol="false" tIns="0" lIns="0" bIns="0" rIns="0">
            <a:spAutoFit/>
          </a:bodyPr>
          <a:lstStyle/>
          <a:p>
            <a:pPr algn="l">
              <a:lnSpc>
                <a:spcPts val="3564"/>
              </a:lnSpc>
            </a:pPr>
            <a:r>
              <a:rPr lang="en-US" sz="2970">
                <a:solidFill>
                  <a:srgbClr val="FFFFFF"/>
                </a:solidFill>
                <a:latin typeface="Open Sans"/>
                <a:ea typeface="Open Sans"/>
                <a:cs typeface="Open Sans"/>
                <a:sym typeface="Open Sans"/>
              </a:rPr>
              <a:t>Producción</a:t>
            </a:r>
          </a:p>
          <a:p>
            <a:pPr algn="l">
              <a:lnSpc>
                <a:spcPts val="3564"/>
              </a:lnSpc>
            </a:pPr>
            <a:r>
              <a:rPr lang="en-US" sz="2970">
                <a:solidFill>
                  <a:srgbClr val="FFFFFF"/>
                </a:solidFill>
                <a:latin typeface="Open Sans"/>
                <a:ea typeface="Open Sans"/>
                <a:cs typeface="Open Sans"/>
                <a:sym typeface="Open Sans"/>
              </a:rPr>
              <a:t>organizacional</a:t>
            </a:r>
          </a:p>
        </p:txBody>
      </p:sp>
      <p:grpSp>
        <p:nvGrpSpPr>
          <p:cNvPr name="Group 45" id="45"/>
          <p:cNvGrpSpPr/>
          <p:nvPr/>
        </p:nvGrpSpPr>
        <p:grpSpPr>
          <a:xfrm rot="0">
            <a:off x="12024360" y="6223635"/>
            <a:ext cx="4926330" cy="34290"/>
            <a:chOff x="0" y="0"/>
            <a:chExt cx="6568440" cy="45720"/>
          </a:xfrm>
        </p:grpSpPr>
        <p:sp>
          <p:nvSpPr>
            <p:cNvPr name="Freeform 46" id="46"/>
            <p:cNvSpPr/>
            <p:nvPr/>
          </p:nvSpPr>
          <p:spPr>
            <a:xfrm flipH="false" flipV="false" rot="0">
              <a:off x="0" y="0"/>
              <a:ext cx="6568440" cy="45720"/>
            </a:xfrm>
            <a:custGeom>
              <a:avLst/>
              <a:gdLst/>
              <a:ahLst/>
              <a:cxnLst/>
              <a:rect r="r" b="b" t="t" l="l"/>
              <a:pathLst>
                <a:path h="45720" w="6568440">
                  <a:moveTo>
                    <a:pt x="0" y="0"/>
                  </a:moveTo>
                  <a:lnTo>
                    <a:pt x="6568440" y="0"/>
                  </a:lnTo>
                  <a:lnTo>
                    <a:pt x="6568440" y="45720"/>
                  </a:lnTo>
                  <a:lnTo>
                    <a:pt x="0" y="45720"/>
                  </a:lnTo>
                  <a:close/>
                </a:path>
              </a:pathLst>
            </a:custGeom>
            <a:solidFill>
              <a:srgbClr val="00B3B5"/>
            </a:solidFill>
          </p:spPr>
        </p:sp>
      </p:grpSp>
      <p:sp>
        <p:nvSpPr>
          <p:cNvPr name="TextBox 47" id="47"/>
          <p:cNvSpPr txBox="true"/>
          <p:nvPr/>
        </p:nvSpPr>
        <p:spPr>
          <a:xfrm rot="0">
            <a:off x="12024360" y="6652260"/>
            <a:ext cx="4903470" cy="1120140"/>
          </a:xfrm>
          <a:prstGeom prst="rect">
            <a:avLst/>
          </a:prstGeom>
        </p:spPr>
        <p:txBody>
          <a:bodyPr anchor="t" rtlCol="false" tIns="0" lIns="0" bIns="0" rIns="0">
            <a:spAutoFit/>
          </a:bodyPr>
          <a:lstStyle/>
          <a:p>
            <a:pPr algn="l">
              <a:lnSpc>
                <a:spcPts val="3455"/>
              </a:lnSpc>
            </a:pPr>
            <a:r>
              <a:rPr lang="en-US" sz="2879">
                <a:solidFill>
                  <a:srgbClr val="FFFFFF"/>
                </a:solidFill>
                <a:latin typeface="Open Sans"/>
                <a:ea typeface="Open Sans"/>
                <a:cs typeface="Open Sans"/>
                <a:sym typeface="Open Sans"/>
              </a:rPr>
              <a:t>Integraciones externas</a:t>
            </a:r>
          </a:p>
          <a:p>
            <a:pPr algn="l">
              <a:lnSpc>
                <a:spcPts val="3455"/>
              </a:lnSpc>
            </a:pPr>
            <a:r>
              <a:rPr lang="en-US" sz="2879">
                <a:solidFill>
                  <a:srgbClr val="FFFFFF"/>
                </a:solidFill>
                <a:latin typeface="Open Sans"/>
                <a:ea typeface="Open Sans"/>
                <a:cs typeface="Open Sans"/>
                <a:sym typeface="Open Sans"/>
              </a:rPr>
              <a:t>en vivo</a:t>
            </a:r>
          </a:p>
        </p:txBody>
      </p:sp>
      <p:sp>
        <p:nvSpPr>
          <p:cNvPr name="TextBox 48" id="48"/>
          <p:cNvSpPr txBox="true"/>
          <p:nvPr/>
        </p:nvSpPr>
        <p:spPr>
          <a:xfrm rot="0">
            <a:off x="12070080" y="8312468"/>
            <a:ext cx="4903470" cy="720090"/>
          </a:xfrm>
          <a:prstGeom prst="rect">
            <a:avLst/>
          </a:prstGeom>
        </p:spPr>
        <p:txBody>
          <a:bodyPr anchor="t" rtlCol="false" tIns="0" lIns="0" bIns="0" rIns="0">
            <a:spAutoFit/>
          </a:bodyPr>
          <a:lstStyle/>
          <a:p>
            <a:pPr algn="l">
              <a:lnSpc>
                <a:spcPts val="2700"/>
              </a:lnSpc>
            </a:pPr>
            <a:r>
              <a:rPr lang="en-US" sz="2250">
                <a:solidFill>
                  <a:srgbClr val="BACDD9"/>
                </a:solidFill>
                <a:latin typeface="Open Sans"/>
                <a:ea typeface="Open Sans"/>
                <a:cs typeface="Open Sans"/>
                <a:sym typeface="Open Sans"/>
              </a:rPr>
              <a:t>Piloto y operación real:</a:t>
            </a:r>
          </a:p>
          <a:p>
            <a:pPr algn="l">
              <a:lnSpc>
                <a:spcPts val="2700"/>
              </a:lnSpc>
            </a:pPr>
            <a:r>
              <a:rPr lang="en-US" sz="2250">
                <a:solidFill>
                  <a:srgbClr val="BACDD9"/>
                </a:solidFill>
                <a:latin typeface="Open Sans"/>
                <a:ea typeface="Open Sans"/>
                <a:cs typeface="Open Sans"/>
                <a:sym typeface="Open Sans"/>
              </a:rPr>
              <a:t>continuidad posterior</a:t>
            </a:r>
          </a:p>
        </p:txBody>
      </p:sp>
      <p:grpSp>
        <p:nvGrpSpPr>
          <p:cNvPr name="Group 49" id="49"/>
          <p:cNvGrpSpPr/>
          <p:nvPr/>
        </p:nvGrpSpPr>
        <p:grpSpPr>
          <a:xfrm rot="0">
            <a:off x="14360804" y="430782"/>
            <a:ext cx="3069946" cy="852936"/>
            <a:chOff x="0" y="0"/>
            <a:chExt cx="2799232" cy="777723"/>
          </a:xfrm>
        </p:grpSpPr>
        <p:sp>
          <p:nvSpPr>
            <p:cNvPr name="Freeform 50" id="50"/>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6"/>
              <a:stretch>
                <a:fillRect l="0" t="0" r="0" b="3"/>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sp>
        <p:nvSpPr>
          <p:cNvPr name="TextBox 3" id="3"/>
          <p:cNvSpPr txBox="true"/>
          <p:nvPr/>
        </p:nvSpPr>
        <p:spPr>
          <a:xfrm rot="0">
            <a:off x="914400" y="742950"/>
            <a:ext cx="16344900" cy="714375"/>
          </a:xfrm>
          <a:prstGeom prst="rect">
            <a:avLst/>
          </a:prstGeom>
        </p:spPr>
        <p:txBody>
          <a:bodyPr anchor="t" rtlCol="false" tIns="0" lIns="0" bIns="0" rIns="0">
            <a:spAutoFit/>
          </a:bodyPr>
          <a:lstStyle/>
          <a:p>
            <a:pPr algn="l">
              <a:lnSpc>
                <a:spcPts val="5640"/>
              </a:lnSpc>
            </a:pPr>
            <a:r>
              <a:rPr lang="en-US" sz="4700" b="true">
                <a:solidFill>
                  <a:srgbClr val="122A3D"/>
                </a:solidFill>
                <a:latin typeface="Open Sans Bold"/>
                <a:ea typeface="Open Sans Bold"/>
                <a:cs typeface="Open Sans Bold"/>
                <a:sym typeface="Open Sans Bold"/>
              </a:rPr>
              <a:t>Requerimientos funcionales y de calidad</a:t>
            </a:r>
          </a:p>
        </p:txBody>
      </p:sp>
      <p:sp>
        <p:nvSpPr>
          <p:cNvPr name="TextBox 4" id="4"/>
          <p:cNvSpPr txBox="true"/>
          <p:nvPr/>
        </p:nvSpPr>
        <p:spPr>
          <a:xfrm rot="0">
            <a:off x="937260" y="1853565"/>
            <a:ext cx="16002000" cy="569595"/>
          </a:xfrm>
          <a:prstGeom prst="rect">
            <a:avLst/>
          </a:prstGeom>
        </p:spPr>
        <p:txBody>
          <a:bodyPr anchor="t" rtlCol="false" tIns="0" lIns="0" bIns="0" rIns="0">
            <a:spAutoFit/>
          </a:bodyPr>
          <a:lstStyle/>
          <a:p>
            <a:pPr algn="l">
              <a:lnSpc>
                <a:spcPts val="3131"/>
              </a:lnSpc>
            </a:pPr>
            <a:r>
              <a:rPr lang="en-US" sz="2610">
                <a:solidFill>
                  <a:srgbClr val="506A7C"/>
                </a:solidFill>
                <a:latin typeface="Open Sans"/>
                <a:ea typeface="Open Sans"/>
                <a:cs typeface="Open Sans"/>
                <a:sym typeface="Open Sans"/>
              </a:rPr>
              <a:t>Criterios a demostrar</a:t>
            </a:r>
          </a:p>
        </p:txBody>
      </p:sp>
      <p:graphicFrame>
        <p:nvGraphicFramePr>
          <p:cNvPr name="Table 5" id="5"/>
          <p:cNvGraphicFramePr>
            <a:graphicFrameLocks noGrp="true"/>
          </p:cNvGraphicFramePr>
          <p:nvPr/>
        </p:nvGraphicFramePr>
        <p:xfrm>
          <a:off x="914400" y="2766060"/>
          <a:ext cx="16459200" cy="6385560"/>
        </p:xfrm>
        <a:graphic>
          <a:graphicData uri="http://schemas.openxmlformats.org/drawingml/2006/table">
            <a:tbl>
              <a:tblPr/>
              <a:tblGrid>
                <a:gridCol w="8232455"/>
                <a:gridCol w="8226745"/>
              </a:tblGrid>
              <a:tr h="847641">
                <a:tc>
                  <a:txBody>
                    <a:bodyPr anchor="t" rtlCol="false"/>
                    <a:lstStyle/>
                    <a:p>
                      <a:pPr algn="l">
                        <a:lnSpc>
                          <a:spcPts val="3564"/>
                        </a:lnSpc>
                        <a:defRPr/>
                      </a:pPr>
                      <a:r>
                        <a:rPr lang="en-US" sz="2970" b="true">
                          <a:solidFill>
                            <a:srgbClr val="FFFFFF"/>
                          </a:solidFill>
                          <a:latin typeface="Open Sans Bold"/>
                          <a:ea typeface="Open Sans Bold"/>
                          <a:cs typeface="Open Sans Bold"/>
                          <a:sym typeface="Open Sans Bold"/>
                        </a:rPr>
                        <a:t>Funcionales</a:t>
                      </a:r>
                      <a:endParaRPr lang="en-US" sz="1100"/>
                    </a:p>
                  </a:txBody>
                  <a:tcPr marL="91440" marR="91440" marT="91440" marB="91440" anchor="ctr">
                    <a:lnL cmpd="sng" algn="ctr" cap="flat" w="4763">
                      <a:solidFill>
                        <a:srgbClr val="FFFFFF"/>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3">
                      <a:solidFill>
                        <a:srgbClr val="FFFFFF"/>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1765C1"/>
                    </a:solidFill>
                  </a:tcPr>
                </a:tc>
                <a:tc>
                  <a:txBody>
                    <a:bodyPr anchor="t" rtlCol="false"/>
                    <a:lstStyle/>
                    <a:p>
                      <a:pPr algn="l">
                        <a:lnSpc>
                          <a:spcPts val="3564"/>
                        </a:lnSpc>
                        <a:defRPr/>
                      </a:pPr>
                      <a:r>
                        <a:rPr lang="en-US" sz="2970" b="true">
                          <a:solidFill>
                            <a:srgbClr val="FFFFFF"/>
                          </a:solidFill>
                          <a:latin typeface="Open Sans Bold"/>
                          <a:ea typeface="Open Sans Bold"/>
                          <a:cs typeface="Open Sans Bold"/>
                          <a:sym typeface="Open Sans Bold"/>
                        </a:rPr>
                        <a:t>No funcionales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3">
                      <a:solidFill>
                        <a:srgbClr val="FFFFFF"/>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r>
              <a:tr h="1384480">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Identidad y permisos por rol</a:t>
                      </a:r>
                      <a:endParaRPr lang="en-US" sz="1100"/>
                    </a:p>
                    <a:p>
                      <a:pPr algn="l">
                        <a:lnSpc>
                          <a:spcPts val="3024"/>
                        </a:lnSpc>
                      </a:pPr>
                      <a:r>
                        <a:rPr lang="en-US" sz="2520">
                          <a:solidFill>
                            <a:srgbClr val="506A7C"/>
                          </a:solidFill>
                          <a:latin typeface="Open Sans"/>
                          <a:ea typeface="Open Sans"/>
                          <a:cs typeface="Open Sans"/>
                          <a:sym typeface="Open Sans"/>
                        </a:rPr>
                        <a:t>Acceso y acciones según responsabilidad.</a:t>
                      </a:r>
                    </a:p>
                  </a:txBody>
                  <a:tcPr marL="91440" marR="91440" marT="91440" marB="91440" anchor="ctr">
                    <a:lnL cmpd="sng" algn="ctr" cap="flat" w="4763">
                      <a:solidFill>
                        <a:srgbClr val="FFFFFF"/>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ECF3F8"/>
                    </a:solidFill>
                  </a:tcPr>
                </a:tc>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Autorización en servidor</a:t>
                      </a:r>
                      <a:endParaRPr lang="en-US" sz="1100"/>
                    </a:p>
                    <a:p>
                      <a:pPr algn="l">
                        <a:lnSpc>
                          <a:spcPts val="3024"/>
                        </a:lnSpc>
                      </a:pPr>
                      <a:r>
                        <a:rPr lang="en-US" sz="2520">
                          <a:solidFill>
                            <a:srgbClr val="506A7C"/>
                          </a:solidFill>
                          <a:latin typeface="Open Sans"/>
                          <a:ea typeface="Open Sans"/>
                          <a:cs typeface="Open Sans"/>
                          <a:sym typeface="Open Sans"/>
                        </a:rPr>
                        <a:t>Permisos en cada operación.</a:t>
                      </a:r>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ECF3F8"/>
                    </a:solidFill>
                  </a:tcPr>
                </a:tc>
              </a:tr>
              <a:tr h="1384480">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Equipos, órdenes e historial</a:t>
                      </a:r>
                      <a:endParaRPr lang="en-US" sz="1100"/>
                    </a:p>
                    <a:p>
                      <a:pPr algn="l">
                        <a:lnSpc>
                          <a:spcPts val="3024"/>
                        </a:lnSpc>
                      </a:pPr>
                      <a:r>
                        <a:rPr lang="en-US" sz="2520">
                          <a:solidFill>
                            <a:srgbClr val="506A7C"/>
                          </a:solidFill>
                          <a:latin typeface="Open Sans"/>
                          <a:ea typeface="Open Sans"/>
                          <a:cs typeface="Open Sans"/>
                          <a:sym typeface="Open Sans"/>
                        </a:rPr>
                        <a:t>Vínculo entre activo y ciclo.</a:t>
                      </a:r>
                    </a:p>
                  </a:txBody>
                  <a:tcPr marL="91440" marR="91440" marT="91440" marB="91440" anchor="ctr">
                    <a:lnL cmpd="sng" algn="ctr" cap="flat" w="4763">
                      <a:solidFill>
                        <a:srgbClr val="FFFFFF"/>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Transacciones y concurrencia</a:t>
                      </a:r>
                      <a:endParaRPr lang="en-US" sz="1100"/>
                    </a:p>
                    <a:p>
                      <a:pPr algn="l">
                        <a:lnSpc>
                          <a:spcPts val="3024"/>
                        </a:lnSpc>
                      </a:pPr>
                      <a:r>
                        <a:rPr lang="en-US" sz="2520">
                          <a:solidFill>
                            <a:srgbClr val="506A7C"/>
                          </a:solidFill>
                          <a:latin typeface="Open Sans"/>
                          <a:ea typeface="Open Sans"/>
                          <a:cs typeface="Open Sans"/>
                          <a:sym typeface="Open Sans"/>
                        </a:rPr>
                        <a:t>Integridad ante operaciones simultáneas.</a:t>
                      </a:r>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r>
              <a:tr h="1384480">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Custodia y mantenimiento</a:t>
                      </a:r>
                      <a:endParaRPr lang="en-US" sz="1100"/>
                    </a:p>
                    <a:p>
                      <a:pPr algn="l">
                        <a:lnSpc>
                          <a:spcPts val="3024"/>
                        </a:lnSpc>
                      </a:pPr>
                      <a:r>
                        <a:rPr lang="en-US" sz="2520">
                          <a:solidFill>
                            <a:srgbClr val="506A7C"/>
                          </a:solidFill>
                          <a:latin typeface="Open Sans"/>
                          <a:ea typeface="Open Sans"/>
                          <a:cs typeface="Open Sans"/>
                          <a:sym typeface="Open Sans"/>
                        </a:rPr>
                        <a:t>Reparación, repuestos y pruebas QA.</a:t>
                      </a:r>
                    </a:p>
                  </a:txBody>
                  <a:tcPr marL="91440" marR="91440" marT="91440" marB="91440" anchor="ctr">
                    <a:lnL cmpd="sng" algn="ctr" cap="flat" w="4763">
                      <a:solidFill>
                        <a:srgbClr val="FFFFFF"/>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ECF3F8"/>
                    </a:solidFill>
                  </a:tcPr>
                </a:tc>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Flujos claros por rol</a:t>
                      </a:r>
                      <a:endParaRPr lang="en-US" sz="1100"/>
                    </a:p>
                    <a:p>
                      <a:pPr algn="l">
                        <a:lnSpc>
                          <a:spcPts val="3024"/>
                        </a:lnSpc>
                      </a:pPr>
                      <a:r>
                        <a:rPr lang="en-US" sz="2520">
                          <a:solidFill>
                            <a:srgbClr val="506A7C"/>
                          </a:solidFill>
                          <a:latin typeface="Open Sans"/>
                          <a:ea typeface="Open Sans"/>
                          <a:cs typeface="Open Sans"/>
                          <a:sym typeface="Open Sans"/>
                        </a:rPr>
                        <a:t>Acciones coherentes con cada tarea.</a:t>
                      </a:r>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ECF3F8"/>
                    </a:solidFill>
                  </a:tcPr>
                </a:tc>
              </a:tr>
              <a:tr h="1384480">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Estado y trazabilidad</a:t>
                      </a:r>
                      <a:endParaRPr lang="en-US" sz="1100"/>
                    </a:p>
                    <a:p>
                      <a:pPr algn="l">
                        <a:lnSpc>
                          <a:spcPts val="3024"/>
                        </a:lnSpc>
                      </a:pPr>
                      <a:r>
                        <a:rPr lang="en-US" sz="2520">
                          <a:solidFill>
                            <a:srgbClr val="506A7C"/>
                          </a:solidFill>
                          <a:latin typeface="Open Sans"/>
                          <a:ea typeface="Open Sans"/>
                          <a:cs typeface="Open Sans"/>
                          <a:sym typeface="Open Sans"/>
                        </a:rPr>
                        <a:t>Consulta del recorrido completo.</a:t>
                      </a:r>
                    </a:p>
                  </a:txBody>
                  <a:tcPr marL="91440" marR="91440" marT="91440" marB="91440" anchor="ctr">
                    <a:lnL cmpd="sng" algn="ctr" cap="flat" w="4763">
                      <a:solidFill>
                        <a:srgbClr val="FFFFFF"/>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3024"/>
                        </a:lnSpc>
                        <a:defRPr/>
                      </a:pPr>
                      <a:r>
                        <a:rPr lang="en-US" sz="2520" b="true">
                          <a:solidFill>
                            <a:srgbClr val="122A3D"/>
                          </a:solidFill>
                          <a:latin typeface="Open Sans Bold"/>
                          <a:ea typeface="Open Sans Bold"/>
                          <a:cs typeface="Open Sans Bold"/>
                          <a:sym typeface="Open Sans Bold"/>
                        </a:rPr>
                        <a:t>Versión reproducible</a:t>
                      </a:r>
                      <a:endParaRPr lang="en-US" sz="1100"/>
                    </a:p>
                    <a:p>
                      <a:pPr algn="l">
                        <a:lnSpc>
                          <a:spcPts val="3024"/>
                        </a:lnSpc>
                      </a:pPr>
                      <a:r>
                        <a:rPr lang="en-US" sz="2520">
                          <a:solidFill>
                            <a:srgbClr val="506A7C"/>
                          </a:solidFill>
                          <a:latin typeface="Open Sans"/>
                          <a:ea typeface="Open Sans"/>
                          <a:cs typeface="Open Sans"/>
                          <a:sym typeface="Open Sans"/>
                        </a:rPr>
                        <a:t>Configuración y evidencia de pruebas.</a:t>
                      </a:r>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r>
            </a:tbl>
          </a:graphicData>
        </a:graphic>
      </p:graphicFrame>
      <p:sp>
        <p:nvSpPr>
          <p:cNvPr name="AutoShape 6" id="6"/>
          <p:cNvSpPr/>
          <p:nvPr/>
        </p:nvSpPr>
        <p:spPr>
          <a:xfrm rot="4740">
            <a:off x="902960" y="4996815"/>
            <a:ext cx="16482079" cy="0"/>
          </a:xfrm>
          <a:prstGeom prst="line">
            <a:avLst/>
          </a:prstGeom>
          <a:ln cap="rnd" w="19050">
            <a:solidFill>
              <a:srgbClr val="FFFFFF"/>
            </a:solidFill>
            <a:prstDash val="solid"/>
            <a:headEnd type="none" len="sm" w="sm"/>
            <a:tailEnd type="none" len="sm" w="sm"/>
          </a:ln>
        </p:spPr>
      </p:sp>
      <p:sp>
        <p:nvSpPr>
          <p:cNvPr name="AutoShape 7" id="7"/>
          <p:cNvSpPr/>
          <p:nvPr/>
        </p:nvSpPr>
        <p:spPr>
          <a:xfrm rot="4740">
            <a:off x="902960" y="6391275"/>
            <a:ext cx="16482079" cy="0"/>
          </a:xfrm>
          <a:prstGeom prst="line">
            <a:avLst/>
          </a:prstGeom>
          <a:ln cap="rnd" w="19050">
            <a:solidFill>
              <a:srgbClr val="FFFFFF"/>
            </a:solidFill>
            <a:prstDash val="solid"/>
            <a:headEnd type="none" len="sm" w="sm"/>
            <a:tailEnd type="none" len="sm" w="sm"/>
          </a:ln>
        </p:spPr>
      </p:sp>
      <p:sp>
        <p:nvSpPr>
          <p:cNvPr name="AutoShape 8" id="8"/>
          <p:cNvSpPr/>
          <p:nvPr/>
        </p:nvSpPr>
        <p:spPr>
          <a:xfrm rot="4740">
            <a:off x="902960" y="7785735"/>
            <a:ext cx="16482079" cy="0"/>
          </a:xfrm>
          <a:prstGeom prst="line">
            <a:avLst/>
          </a:prstGeom>
          <a:ln cap="rnd" w="19050">
            <a:solidFill>
              <a:srgbClr val="FFFFFF"/>
            </a:solidFill>
            <a:prstDash val="solid"/>
            <a:headEnd type="none" len="sm" w="sm"/>
            <a:tailEnd type="none" len="sm" w="sm"/>
          </a:ln>
        </p:spPr>
      </p:sp>
      <p:sp>
        <p:nvSpPr>
          <p:cNvPr name="AutoShape 9" id="9"/>
          <p:cNvSpPr/>
          <p:nvPr/>
        </p:nvSpPr>
        <p:spPr>
          <a:xfrm rot="4740">
            <a:off x="902960" y="9180195"/>
            <a:ext cx="16482079" cy="0"/>
          </a:xfrm>
          <a:prstGeom prst="line">
            <a:avLst/>
          </a:prstGeom>
          <a:ln cap="rnd" w="19050">
            <a:solidFill>
              <a:srgbClr val="FFFFFF"/>
            </a:solidFill>
            <a:prstDash val="solid"/>
            <a:headEnd type="none" len="sm" w="sm"/>
            <a:tailEnd type="none" len="sm" w="sm"/>
          </a:ln>
        </p:spPr>
      </p:sp>
      <p:grpSp>
        <p:nvGrpSpPr>
          <p:cNvPr name="Group 10" id="10"/>
          <p:cNvGrpSpPr/>
          <p:nvPr/>
        </p:nvGrpSpPr>
        <p:grpSpPr>
          <a:xfrm rot="0">
            <a:off x="914400" y="2468880"/>
            <a:ext cx="822960" cy="45720"/>
            <a:chOff x="0" y="0"/>
            <a:chExt cx="1097280" cy="60960"/>
          </a:xfrm>
        </p:grpSpPr>
        <p:sp>
          <p:nvSpPr>
            <p:cNvPr name="Freeform 11" id="11"/>
            <p:cNvSpPr/>
            <p:nvPr/>
          </p:nvSpPr>
          <p:spPr>
            <a:xfrm flipH="false" flipV="false" rot="0">
              <a:off x="0" y="0"/>
              <a:ext cx="1097280" cy="60960"/>
            </a:xfrm>
            <a:custGeom>
              <a:avLst/>
              <a:gdLst/>
              <a:ahLst/>
              <a:cxnLst/>
              <a:rect r="r" b="b" t="t" l="l"/>
              <a:pathLst>
                <a:path h="60960" w="1097280">
                  <a:moveTo>
                    <a:pt x="0" y="0"/>
                  </a:moveTo>
                  <a:lnTo>
                    <a:pt x="1097280" y="0"/>
                  </a:lnTo>
                  <a:lnTo>
                    <a:pt x="1097280" y="60960"/>
                  </a:lnTo>
                  <a:lnTo>
                    <a:pt x="0" y="60960"/>
                  </a:lnTo>
                  <a:close/>
                </a:path>
              </a:pathLst>
            </a:custGeom>
            <a:solidFill>
              <a:srgbClr val="00B3B5"/>
            </a:solidFill>
          </p:spPr>
        </p:sp>
      </p:grpSp>
      <p:grpSp>
        <p:nvGrpSpPr>
          <p:cNvPr name="Group 12" id="12"/>
          <p:cNvGrpSpPr/>
          <p:nvPr/>
        </p:nvGrpSpPr>
        <p:grpSpPr>
          <a:xfrm rot="0">
            <a:off x="16787812" y="9572625"/>
            <a:ext cx="642938" cy="357188"/>
            <a:chOff x="0" y="0"/>
            <a:chExt cx="857250" cy="476250"/>
          </a:xfrm>
        </p:grpSpPr>
        <p:sp>
          <p:nvSpPr>
            <p:cNvPr name="Freeform 13" id="13"/>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4" id="14"/>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09</a:t>
              </a:r>
            </a:p>
          </p:txBody>
        </p:sp>
      </p:grpSp>
      <p:grpSp>
        <p:nvGrpSpPr>
          <p:cNvPr name="Group 15" id="15"/>
          <p:cNvGrpSpPr/>
          <p:nvPr/>
        </p:nvGrpSpPr>
        <p:grpSpPr>
          <a:xfrm rot="0">
            <a:off x="14360804" y="430782"/>
            <a:ext cx="3069946" cy="852936"/>
            <a:chOff x="0" y="0"/>
            <a:chExt cx="2799232" cy="777723"/>
          </a:xfrm>
        </p:grpSpPr>
        <p:sp>
          <p:nvSpPr>
            <p:cNvPr name="Freeform 16" id="16"/>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86" t="0" r="-386" b="0"/>
            </a:stretch>
          </a:blipFill>
        </p:spPr>
      </p:sp>
      <p:sp>
        <p:nvSpPr>
          <p:cNvPr name="TextBox 3" id="3"/>
          <p:cNvSpPr txBox="true"/>
          <p:nvPr/>
        </p:nvSpPr>
        <p:spPr>
          <a:xfrm rot="0">
            <a:off x="914400" y="765810"/>
            <a:ext cx="16459200" cy="1051560"/>
          </a:xfrm>
          <a:prstGeom prst="rect">
            <a:avLst/>
          </a:prstGeom>
        </p:spPr>
        <p:txBody>
          <a:bodyPr anchor="t" rtlCol="false" tIns="0" lIns="0" bIns="0" rIns="0">
            <a:spAutoFit/>
          </a:bodyPr>
          <a:lstStyle/>
          <a:p>
            <a:pPr algn="l">
              <a:lnSpc>
                <a:spcPts val="6480"/>
              </a:lnSpc>
            </a:pPr>
            <a:r>
              <a:rPr lang="en-US" sz="5400" b="true">
                <a:solidFill>
                  <a:srgbClr val="122A3D"/>
                </a:solidFill>
                <a:latin typeface="Open Sans Bold"/>
                <a:ea typeface="Open Sans Bold"/>
                <a:cs typeface="Open Sans Bold"/>
                <a:sym typeface="Open Sans Bold"/>
              </a:rPr>
              <a:t>Metodología en cascada</a:t>
            </a:r>
          </a:p>
        </p:txBody>
      </p:sp>
      <p:sp>
        <p:nvSpPr>
          <p:cNvPr name="TextBox 4" id="4"/>
          <p:cNvSpPr txBox="true"/>
          <p:nvPr/>
        </p:nvSpPr>
        <p:spPr>
          <a:xfrm rot="0">
            <a:off x="937260" y="1887855"/>
            <a:ext cx="16002000" cy="592455"/>
          </a:xfrm>
          <a:prstGeom prst="rect">
            <a:avLst/>
          </a:prstGeom>
        </p:spPr>
        <p:txBody>
          <a:bodyPr anchor="t" rtlCol="false" tIns="0" lIns="0" bIns="0" rIns="0">
            <a:spAutoFit/>
          </a:bodyPr>
          <a:lstStyle/>
          <a:p>
            <a:pPr algn="l">
              <a:lnSpc>
                <a:spcPts val="3131"/>
              </a:lnSpc>
            </a:pPr>
            <a:r>
              <a:rPr lang="en-US" sz="2610">
                <a:solidFill>
                  <a:srgbClr val="506A7C"/>
                </a:solidFill>
                <a:latin typeface="Open Sans"/>
                <a:ea typeface="Open Sans"/>
                <a:cs typeface="Open Sans"/>
                <a:sym typeface="Open Sans"/>
              </a:rPr>
              <a:t>Entregables y revisión por fase</a:t>
            </a:r>
          </a:p>
        </p:txBody>
      </p:sp>
      <p:grpSp>
        <p:nvGrpSpPr>
          <p:cNvPr name="Group 5" id="5"/>
          <p:cNvGrpSpPr/>
          <p:nvPr/>
        </p:nvGrpSpPr>
        <p:grpSpPr>
          <a:xfrm rot="0">
            <a:off x="914400" y="3223260"/>
            <a:ext cx="16459200" cy="137160"/>
            <a:chOff x="0" y="0"/>
            <a:chExt cx="21945600" cy="182880"/>
          </a:xfrm>
        </p:grpSpPr>
        <p:sp>
          <p:nvSpPr>
            <p:cNvPr name="Freeform 6" id="6"/>
            <p:cNvSpPr/>
            <p:nvPr/>
          </p:nvSpPr>
          <p:spPr>
            <a:xfrm flipH="false" flipV="false" rot="0">
              <a:off x="0" y="0"/>
              <a:ext cx="21945600" cy="182880"/>
            </a:xfrm>
            <a:custGeom>
              <a:avLst/>
              <a:gdLst/>
              <a:ahLst/>
              <a:cxnLst/>
              <a:rect r="r" b="b" t="t" l="l"/>
              <a:pathLst>
                <a:path h="182880" w="21945600">
                  <a:moveTo>
                    <a:pt x="0" y="0"/>
                  </a:moveTo>
                  <a:lnTo>
                    <a:pt x="21945600" y="0"/>
                  </a:lnTo>
                  <a:lnTo>
                    <a:pt x="21945600" y="182880"/>
                  </a:lnTo>
                  <a:lnTo>
                    <a:pt x="0" y="182880"/>
                  </a:lnTo>
                  <a:close/>
                </a:path>
              </a:pathLst>
            </a:custGeom>
            <a:solidFill>
              <a:srgbClr val="D7E4EA"/>
            </a:solidFill>
          </p:spPr>
        </p:sp>
      </p:grpSp>
      <p:grpSp>
        <p:nvGrpSpPr>
          <p:cNvPr name="Group 7" id="7"/>
          <p:cNvGrpSpPr/>
          <p:nvPr/>
        </p:nvGrpSpPr>
        <p:grpSpPr>
          <a:xfrm rot="0">
            <a:off x="2205990" y="3657600"/>
            <a:ext cx="45720" cy="617220"/>
            <a:chOff x="0" y="0"/>
            <a:chExt cx="60960" cy="822960"/>
          </a:xfrm>
        </p:grpSpPr>
        <p:sp>
          <p:nvSpPr>
            <p:cNvPr name="Freeform 8" id="8"/>
            <p:cNvSpPr/>
            <p:nvPr/>
          </p:nvSpPr>
          <p:spPr>
            <a:xfrm flipH="false" flipV="false" rot="0">
              <a:off x="0" y="0"/>
              <a:ext cx="60960" cy="822960"/>
            </a:xfrm>
            <a:custGeom>
              <a:avLst/>
              <a:gdLst/>
              <a:ahLst/>
              <a:cxnLst/>
              <a:rect r="r" b="b" t="t" l="l"/>
              <a:pathLst>
                <a:path h="822960" w="60960">
                  <a:moveTo>
                    <a:pt x="0" y="0"/>
                  </a:moveTo>
                  <a:lnTo>
                    <a:pt x="60960" y="0"/>
                  </a:lnTo>
                  <a:lnTo>
                    <a:pt x="60960" y="822960"/>
                  </a:lnTo>
                  <a:lnTo>
                    <a:pt x="0" y="822960"/>
                  </a:lnTo>
                  <a:close/>
                </a:path>
              </a:pathLst>
            </a:custGeom>
            <a:solidFill>
              <a:srgbClr val="0D1B2A"/>
            </a:solidFill>
          </p:spPr>
        </p:sp>
      </p:grpSp>
      <p:grpSp>
        <p:nvGrpSpPr>
          <p:cNvPr name="Group 9" id="9"/>
          <p:cNvGrpSpPr/>
          <p:nvPr/>
        </p:nvGrpSpPr>
        <p:grpSpPr>
          <a:xfrm rot="0">
            <a:off x="1680210" y="2743200"/>
            <a:ext cx="1097280" cy="1097280"/>
            <a:chOff x="0" y="0"/>
            <a:chExt cx="1463040" cy="1463040"/>
          </a:xfrm>
        </p:grpSpPr>
        <p:sp>
          <p:nvSpPr>
            <p:cNvPr name="Freeform 10" id="10"/>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FFFFF"/>
            </a:solidFill>
          </p:spPr>
        </p:sp>
      </p:grpSp>
      <p:sp>
        <p:nvSpPr>
          <p:cNvPr name="TextBox 11" id="11"/>
          <p:cNvSpPr txBox="true"/>
          <p:nvPr/>
        </p:nvSpPr>
        <p:spPr>
          <a:xfrm rot="0">
            <a:off x="1748790" y="2903220"/>
            <a:ext cx="960120" cy="777240"/>
          </a:xfrm>
          <a:prstGeom prst="rect">
            <a:avLst/>
          </a:prstGeom>
        </p:spPr>
        <p:txBody>
          <a:bodyPr anchor="t" rtlCol="false" tIns="0" lIns="0" bIns="0" rIns="0">
            <a:spAutoFit/>
          </a:bodyPr>
          <a:lstStyle/>
          <a:p>
            <a:pPr algn="ctr">
              <a:lnSpc>
                <a:spcPts val="4644"/>
              </a:lnSpc>
            </a:pPr>
            <a:r>
              <a:rPr lang="en-US" sz="3870" b="true">
                <a:solidFill>
                  <a:srgbClr val="0D1B2A"/>
                </a:solidFill>
                <a:latin typeface="Open Sans Bold"/>
                <a:ea typeface="Open Sans Bold"/>
                <a:cs typeface="Open Sans Bold"/>
                <a:sym typeface="Open Sans Bold"/>
              </a:rPr>
              <a:t>1</a:t>
            </a:r>
          </a:p>
        </p:txBody>
      </p:sp>
      <p:grpSp>
        <p:nvGrpSpPr>
          <p:cNvPr name="Group 12" id="12"/>
          <p:cNvGrpSpPr/>
          <p:nvPr/>
        </p:nvGrpSpPr>
        <p:grpSpPr>
          <a:xfrm rot="0">
            <a:off x="914400" y="4217670"/>
            <a:ext cx="2628900" cy="4171950"/>
            <a:chOff x="0" y="0"/>
            <a:chExt cx="3505200" cy="5562600"/>
          </a:xfrm>
        </p:grpSpPr>
        <p:sp>
          <p:nvSpPr>
            <p:cNvPr name="Freeform 13" id="13"/>
            <p:cNvSpPr/>
            <p:nvPr/>
          </p:nvSpPr>
          <p:spPr>
            <a:xfrm flipH="false" flipV="false" rot="0">
              <a:off x="0" y="0"/>
              <a:ext cx="3505200" cy="5562600"/>
            </a:xfrm>
            <a:custGeom>
              <a:avLst/>
              <a:gdLst/>
              <a:ahLst/>
              <a:cxnLst/>
              <a:rect r="r" b="b" t="t" l="l"/>
              <a:pathLst>
                <a:path h="5562600" w="3505200">
                  <a:moveTo>
                    <a:pt x="0" y="624840"/>
                  </a:moveTo>
                  <a:lnTo>
                    <a:pt x="1752600" y="0"/>
                  </a:lnTo>
                  <a:lnTo>
                    <a:pt x="3505200" y="624840"/>
                  </a:lnTo>
                  <a:lnTo>
                    <a:pt x="3505200" y="4998720"/>
                  </a:lnTo>
                  <a:lnTo>
                    <a:pt x="1752600" y="5562600"/>
                  </a:lnTo>
                  <a:lnTo>
                    <a:pt x="0" y="4998720"/>
                  </a:lnTo>
                  <a:close/>
                </a:path>
              </a:pathLst>
            </a:custGeom>
            <a:solidFill>
              <a:srgbClr val="FFFFFF"/>
            </a:solidFill>
          </p:spPr>
        </p:sp>
      </p:grpSp>
      <p:grpSp>
        <p:nvGrpSpPr>
          <p:cNvPr name="Group 14" id="14"/>
          <p:cNvGrpSpPr/>
          <p:nvPr/>
        </p:nvGrpSpPr>
        <p:grpSpPr>
          <a:xfrm rot="0">
            <a:off x="914400" y="4217670"/>
            <a:ext cx="2628900" cy="1211580"/>
            <a:chOff x="0" y="0"/>
            <a:chExt cx="3505200" cy="1615440"/>
          </a:xfrm>
        </p:grpSpPr>
        <p:sp>
          <p:nvSpPr>
            <p:cNvPr name="Freeform 15" id="15"/>
            <p:cNvSpPr/>
            <p:nvPr/>
          </p:nvSpPr>
          <p:spPr>
            <a:xfrm flipH="false" flipV="false" rot="0">
              <a:off x="0" y="0"/>
              <a:ext cx="3505200" cy="1615440"/>
            </a:xfrm>
            <a:custGeom>
              <a:avLst/>
              <a:gdLst/>
              <a:ahLst/>
              <a:cxnLst/>
              <a:rect r="r" b="b" t="t" l="l"/>
              <a:pathLst>
                <a:path h="1615440" w="3505200">
                  <a:moveTo>
                    <a:pt x="0" y="624840"/>
                  </a:moveTo>
                  <a:lnTo>
                    <a:pt x="1752600" y="0"/>
                  </a:lnTo>
                  <a:lnTo>
                    <a:pt x="3505200" y="624840"/>
                  </a:lnTo>
                  <a:lnTo>
                    <a:pt x="3505200" y="1615440"/>
                  </a:lnTo>
                  <a:lnTo>
                    <a:pt x="0" y="1615440"/>
                  </a:lnTo>
                  <a:close/>
                </a:path>
              </a:pathLst>
            </a:custGeom>
            <a:solidFill>
              <a:srgbClr val="0D1B2A"/>
            </a:solidFill>
          </p:spPr>
        </p:sp>
      </p:grpSp>
      <p:sp>
        <p:nvSpPr>
          <p:cNvPr name="TextBox 16" id="16"/>
          <p:cNvSpPr txBox="true"/>
          <p:nvPr/>
        </p:nvSpPr>
        <p:spPr>
          <a:xfrm rot="0">
            <a:off x="1108710" y="4823460"/>
            <a:ext cx="2240280" cy="434340"/>
          </a:xfrm>
          <a:prstGeom prst="rect">
            <a:avLst/>
          </a:prstGeom>
        </p:spPr>
        <p:txBody>
          <a:bodyPr anchor="t" rtlCol="false" tIns="0" lIns="0" bIns="0" rIns="0">
            <a:spAutoFit/>
          </a:bodyPr>
          <a:lstStyle/>
          <a:p>
            <a:pPr algn="ctr">
              <a:lnSpc>
                <a:spcPts val="2915"/>
              </a:lnSpc>
            </a:pPr>
            <a:r>
              <a:rPr lang="en-US" sz="2429" b="true">
                <a:solidFill>
                  <a:srgbClr val="FFFFFF"/>
                </a:solidFill>
                <a:latin typeface="Open Sans Bold"/>
                <a:ea typeface="Open Sans Bold"/>
                <a:cs typeface="Open Sans Bold"/>
                <a:sym typeface="Open Sans Bold"/>
              </a:rPr>
              <a:t>FASE 1</a:t>
            </a:r>
          </a:p>
        </p:txBody>
      </p:sp>
      <p:sp>
        <p:nvSpPr>
          <p:cNvPr name="TextBox 17" id="17"/>
          <p:cNvSpPr txBox="true"/>
          <p:nvPr/>
        </p:nvSpPr>
        <p:spPr>
          <a:xfrm rot="0">
            <a:off x="994410" y="5785485"/>
            <a:ext cx="2468880" cy="1083945"/>
          </a:xfrm>
          <a:prstGeom prst="rect">
            <a:avLst/>
          </a:prstGeom>
        </p:spPr>
        <p:txBody>
          <a:bodyPr anchor="t" rtlCol="false" tIns="0" lIns="0" bIns="0" rIns="0">
            <a:spAutoFit/>
          </a:bodyPr>
          <a:lstStyle/>
          <a:p>
            <a:pPr algn="ctr">
              <a:lnSpc>
                <a:spcPts val="3131"/>
              </a:lnSpc>
            </a:pPr>
            <a:r>
              <a:rPr lang="en-US" sz="2610" b="true">
                <a:solidFill>
                  <a:srgbClr val="122A3D"/>
                </a:solidFill>
                <a:latin typeface="Open Sans Bold"/>
                <a:ea typeface="Open Sans Bold"/>
                <a:cs typeface="Open Sans Bold"/>
                <a:sym typeface="Open Sans Bold"/>
              </a:rPr>
              <a:t>Definición</a:t>
            </a:r>
          </a:p>
        </p:txBody>
      </p:sp>
      <p:sp>
        <p:nvSpPr>
          <p:cNvPr name="TextBox 18" id="18"/>
          <p:cNvSpPr txBox="true"/>
          <p:nvPr/>
        </p:nvSpPr>
        <p:spPr>
          <a:xfrm rot="0">
            <a:off x="1062990" y="6958965"/>
            <a:ext cx="2331720" cy="927735"/>
          </a:xfrm>
          <a:prstGeom prst="rect">
            <a:avLst/>
          </a:prstGeom>
        </p:spPr>
        <p:txBody>
          <a:bodyPr anchor="t" rtlCol="false" tIns="0" lIns="0" bIns="0" rIns="0">
            <a:spAutoFit/>
          </a:bodyPr>
          <a:lstStyle/>
          <a:p>
            <a:pPr algn="ctr">
              <a:lnSpc>
                <a:spcPts val="2592"/>
              </a:lnSpc>
            </a:pPr>
            <a:r>
              <a:rPr lang="en-US" sz="2160">
                <a:solidFill>
                  <a:srgbClr val="506A7C"/>
                </a:solidFill>
                <a:latin typeface="Open Sans"/>
                <a:ea typeface="Open Sans"/>
                <a:cs typeface="Open Sans"/>
                <a:sym typeface="Open Sans"/>
              </a:rPr>
              <a:t>Problema, objetivos</a:t>
            </a:r>
          </a:p>
          <a:p>
            <a:pPr algn="ctr">
              <a:lnSpc>
                <a:spcPts val="2592"/>
              </a:lnSpc>
            </a:pPr>
            <a:r>
              <a:rPr lang="en-US" sz="2160">
                <a:solidFill>
                  <a:srgbClr val="506A7C"/>
                </a:solidFill>
                <a:latin typeface="Open Sans"/>
                <a:ea typeface="Open Sans"/>
                <a:cs typeface="Open Sans"/>
                <a:sym typeface="Open Sans"/>
              </a:rPr>
              <a:t>y alcance</a:t>
            </a:r>
          </a:p>
        </p:txBody>
      </p:sp>
      <p:grpSp>
        <p:nvGrpSpPr>
          <p:cNvPr name="Group 19" id="19"/>
          <p:cNvGrpSpPr/>
          <p:nvPr/>
        </p:nvGrpSpPr>
        <p:grpSpPr>
          <a:xfrm rot="0">
            <a:off x="4972050" y="3657600"/>
            <a:ext cx="45720" cy="617220"/>
            <a:chOff x="0" y="0"/>
            <a:chExt cx="60960" cy="822960"/>
          </a:xfrm>
        </p:grpSpPr>
        <p:sp>
          <p:nvSpPr>
            <p:cNvPr name="Freeform 20" id="20"/>
            <p:cNvSpPr/>
            <p:nvPr/>
          </p:nvSpPr>
          <p:spPr>
            <a:xfrm flipH="false" flipV="false" rot="0">
              <a:off x="0" y="0"/>
              <a:ext cx="60960" cy="822960"/>
            </a:xfrm>
            <a:custGeom>
              <a:avLst/>
              <a:gdLst/>
              <a:ahLst/>
              <a:cxnLst/>
              <a:rect r="r" b="b" t="t" l="l"/>
              <a:pathLst>
                <a:path h="822960" w="60960">
                  <a:moveTo>
                    <a:pt x="0" y="0"/>
                  </a:moveTo>
                  <a:lnTo>
                    <a:pt x="60960" y="0"/>
                  </a:lnTo>
                  <a:lnTo>
                    <a:pt x="60960" y="822960"/>
                  </a:lnTo>
                  <a:lnTo>
                    <a:pt x="0" y="822960"/>
                  </a:lnTo>
                  <a:close/>
                </a:path>
              </a:pathLst>
            </a:custGeom>
            <a:solidFill>
              <a:srgbClr val="144A74"/>
            </a:solidFill>
          </p:spPr>
        </p:sp>
      </p:grpSp>
      <p:grpSp>
        <p:nvGrpSpPr>
          <p:cNvPr name="Group 21" id="21"/>
          <p:cNvGrpSpPr/>
          <p:nvPr/>
        </p:nvGrpSpPr>
        <p:grpSpPr>
          <a:xfrm rot="0">
            <a:off x="4446270" y="2743200"/>
            <a:ext cx="1097280" cy="1097280"/>
            <a:chOff x="0" y="0"/>
            <a:chExt cx="1463040" cy="1463040"/>
          </a:xfrm>
        </p:grpSpPr>
        <p:sp>
          <p:nvSpPr>
            <p:cNvPr name="Freeform 22" id="22"/>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FFFFF"/>
            </a:solidFill>
          </p:spPr>
        </p:sp>
      </p:grpSp>
      <p:sp>
        <p:nvSpPr>
          <p:cNvPr name="TextBox 23" id="23"/>
          <p:cNvSpPr txBox="true"/>
          <p:nvPr/>
        </p:nvSpPr>
        <p:spPr>
          <a:xfrm rot="0">
            <a:off x="4514850" y="2903220"/>
            <a:ext cx="960120" cy="777240"/>
          </a:xfrm>
          <a:prstGeom prst="rect">
            <a:avLst/>
          </a:prstGeom>
        </p:spPr>
        <p:txBody>
          <a:bodyPr anchor="t" rtlCol="false" tIns="0" lIns="0" bIns="0" rIns="0">
            <a:spAutoFit/>
          </a:bodyPr>
          <a:lstStyle/>
          <a:p>
            <a:pPr algn="ctr">
              <a:lnSpc>
                <a:spcPts val="4644"/>
              </a:lnSpc>
            </a:pPr>
            <a:r>
              <a:rPr lang="en-US" sz="3870" b="true">
                <a:solidFill>
                  <a:srgbClr val="144A74"/>
                </a:solidFill>
                <a:latin typeface="Open Sans Bold"/>
                <a:ea typeface="Open Sans Bold"/>
                <a:cs typeface="Open Sans Bold"/>
                <a:sym typeface="Open Sans Bold"/>
              </a:rPr>
              <a:t>2A</a:t>
            </a:r>
          </a:p>
        </p:txBody>
      </p:sp>
      <p:grpSp>
        <p:nvGrpSpPr>
          <p:cNvPr name="Group 24" id="24"/>
          <p:cNvGrpSpPr/>
          <p:nvPr/>
        </p:nvGrpSpPr>
        <p:grpSpPr>
          <a:xfrm rot="0">
            <a:off x="3680460" y="4217670"/>
            <a:ext cx="2628900" cy="4171950"/>
            <a:chOff x="0" y="0"/>
            <a:chExt cx="3505200" cy="5562600"/>
          </a:xfrm>
        </p:grpSpPr>
        <p:sp>
          <p:nvSpPr>
            <p:cNvPr name="Freeform 25" id="25"/>
            <p:cNvSpPr/>
            <p:nvPr/>
          </p:nvSpPr>
          <p:spPr>
            <a:xfrm flipH="false" flipV="false" rot="0">
              <a:off x="0" y="0"/>
              <a:ext cx="3505200" cy="5562600"/>
            </a:xfrm>
            <a:custGeom>
              <a:avLst/>
              <a:gdLst/>
              <a:ahLst/>
              <a:cxnLst/>
              <a:rect r="r" b="b" t="t" l="l"/>
              <a:pathLst>
                <a:path h="5562600" w="3505200">
                  <a:moveTo>
                    <a:pt x="0" y="624840"/>
                  </a:moveTo>
                  <a:lnTo>
                    <a:pt x="1752600" y="0"/>
                  </a:lnTo>
                  <a:lnTo>
                    <a:pt x="3505200" y="624840"/>
                  </a:lnTo>
                  <a:lnTo>
                    <a:pt x="3505200" y="4998720"/>
                  </a:lnTo>
                  <a:lnTo>
                    <a:pt x="1752600" y="5562600"/>
                  </a:lnTo>
                  <a:lnTo>
                    <a:pt x="0" y="4998720"/>
                  </a:lnTo>
                  <a:close/>
                </a:path>
              </a:pathLst>
            </a:custGeom>
            <a:solidFill>
              <a:srgbClr val="FFFFFF"/>
            </a:solidFill>
          </p:spPr>
        </p:sp>
      </p:grpSp>
      <p:grpSp>
        <p:nvGrpSpPr>
          <p:cNvPr name="Group 26" id="26"/>
          <p:cNvGrpSpPr/>
          <p:nvPr/>
        </p:nvGrpSpPr>
        <p:grpSpPr>
          <a:xfrm rot="0">
            <a:off x="3680460" y="4217670"/>
            <a:ext cx="2628900" cy="1211580"/>
            <a:chOff x="0" y="0"/>
            <a:chExt cx="3505200" cy="1615440"/>
          </a:xfrm>
        </p:grpSpPr>
        <p:sp>
          <p:nvSpPr>
            <p:cNvPr name="Freeform 27" id="27"/>
            <p:cNvSpPr/>
            <p:nvPr/>
          </p:nvSpPr>
          <p:spPr>
            <a:xfrm flipH="false" flipV="false" rot="0">
              <a:off x="0" y="0"/>
              <a:ext cx="3505200" cy="1615440"/>
            </a:xfrm>
            <a:custGeom>
              <a:avLst/>
              <a:gdLst/>
              <a:ahLst/>
              <a:cxnLst/>
              <a:rect r="r" b="b" t="t" l="l"/>
              <a:pathLst>
                <a:path h="1615440" w="3505200">
                  <a:moveTo>
                    <a:pt x="0" y="624840"/>
                  </a:moveTo>
                  <a:lnTo>
                    <a:pt x="1752600" y="0"/>
                  </a:lnTo>
                  <a:lnTo>
                    <a:pt x="3505200" y="624840"/>
                  </a:lnTo>
                  <a:lnTo>
                    <a:pt x="3505200" y="1615440"/>
                  </a:lnTo>
                  <a:lnTo>
                    <a:pt x="0" y="1615440"/>
                  </a:lnTo>
                  <a:close/>
                </a:path>
              </a:pathLst>
            </a:custGeom>
            <a:solidFill>
              <a:srgbClr val="144A74"/>
            </a:solidFill>
          </p:spPr>
        </p:sp>
      </p:grpSp>
      <p:sp>
        <p:nvSpPr>
          <p:cNvPr name="TextBox 28" id="28"/>
          <p:cNvSpPr txBox="true"/>
          <p:nvPr/>
        </p:nvSpPr>
        <p:spPr>
          <a:xfrm rot="0">
            <a:off x="3874770" y="4823460"/>
            <a:ext cx="2240280" cy="434340"/>
          </a:xfrm>
          <a:prstGeom prst="rect">
            <a:avLst/>
          </a:prstGeom>
        </p:spPr>
        <p:txBody>
          <a:bodyPr anchor="t" rtlCol="false" tIns="0" lIns="0" bIns="0" rIns="0">
            <a:spAutoFit/>
          </a:bodyPr>
          <a:lstStyle/>
          <a:p>
            <a:pPr algn="ctr">
              <a:lnSpc>
                <a:spcPts val="2915"/>
              </a:lnSpc>
            </a:pPr>
            <a:r>
              <a:rPr lang="en-US" sz="2429" b="true">
                <a:solidFill>
                  <a:srgbClr val="FFFFFF"/>
                </a:solidFill>
                <a:latin typeface="Open Sans Bold"/>
                <a:ea typeface="Open Sans Bold"/>
                <a:cs typeface="Open Sans Bold"/>
                <a:sym typeface="Open Sans Bold"/>
              </a:rPr>
              <a:t>FASE 2A</a:t>
            </a:r>
          </a:p>
        </p:txBody>
      </p:sp>
      <p:sp>
        <p:nvSpPr>
          <p:cNvPr name="TextBox 29" id="29"/>
          <p:cNvSpPr txBox="true"/>
          <p:nvPr/>
        </p:nvSpPr>
        <p:spPr>
          <a:xfrm rot="0">
            <a:off x="3760470" y="5795010"/>
            <a:ext cx="2468880" cy="1074420"/>
          </a:xfrm>
          <a:prstGeom prst="rect">
            <a:avLst/>
          </a:prstGeom>
        </p:spPr>
        <p:txBody>
          <a:bodyPr anchor="t" rtlCol="false" tIns="0" lIns="0" bIns="0" rIns="0">
            <a:spAutoFit/>
          </a:bodyPr>
          <a:lstStyle/>
          <a:p>
            <a:pPr algn="ctr">
              <a:lnSpc>
                <a:spcPts val="2808"/>
              </a:lnSpc>
            </a:pPr>
            <a:r>
              <a:rPr lang="en-US" sz="2340" b="true">
                <a:solidFill>
                  <a:srgbClr val="122A3D"/>
                </a:solidFill>
                <a:latin typeface="Open Sans Bold"/>
                <a:ea typeface="Open Sans Bold"/>
                <a:cs typeface="Open Sans Bold"/>
                <a:sym typeface="Open Sans Bold"/>
              </a:rPr>
              <a:t>Requerimientos</a:t>
            </a:r>
          </a:p>
          <a:p>
            <a:pPr algn="ctr">
              <a:lnSpc>
                <a:spcPts val="2808"/>
              </a:lnSpc>
            </a:pPr>
            <a:r>
              <a:rPr lang="en-US" sz="2340" b="true">
                <a:solidFill>
                  <a:srgbClr val="122A3D"/>
                </a:solidFill>
                <a:latin typeface="Open Sans Bold"/>
                <a:ea typeface="Open Sans Bold"/>
                <a:cs typeface="Open Sans Bold"/>
                <a:sym typeface="Open Sans Bold"/>
              </a:rPr>
              <a:t>y diseño</a:t>
            </a:r>
          </a:p>
        </p:txBody>
      </p:sp>
      <p:sp>
        <p:nvSpPr>
          <p:cNvPr name="TextBox 30" id="30"/>
          <p:cNvSpPr txBox="true"/>
          <p:nvPr/>
        </p:nvSpPr>
        <p:spPr>
          <a:xfrm rot="0">
            <a:off x="3829050" y="6958965"/>
            <a:ext cx="2331720" cy="927735"/>
          </a:xfrm>
          <a:prstGeom prst="rect">
            <a:avLst/>
          </a:prstGeom>
        </p:spPr>
        <p:txBody>
          <a:bodyPr anchor="t" rtlCol="false" tIns="0" lIns="0" bIns="0" rIns="0">
            <a:spAutoFit/>
          </a:bodyPr>
          <a:lstStyle/>
          <a:p>
            <a:pPr algn="ctr">
              <a:lnSpc>
                <a:spcPts val="2592"/>
              </a:lnSpc>
            </a:pPr>
            <a:r>
              <a:rPr lang="en-US" sz="2160">
                <a:solidFill>
                  <a:srgbClr val="506A7C"/>
                </a:solidFill>
                <a:latin typeface="Open Sans"/>
                <a:ea typeface="Open Sans"/>
                <a:cs typeface="Open Sans"/>
                <a:sym typeface="Open Sans"/>
              </a:rPr>
              <a:t>ERS, criterios,</a:t>
            </a:r>
          </a:p>
          <a:p>
            <a:pPr algn="ctr">
              <a:lnSpc>
                <a:spcPts val="2592"/>
              </a:lnSpc>
            </a:pPr>
            <a:r>
              <a:rPr lang="en-US" sz="2160">
                <a:solidFill>
                  <a:srgbClr val="506A7C"/>
                </a:solidFill>
                <a:latin typeface="Open Sans"/>
                <a:ea typeface="Open Sans"/>
                <a:cs typeface="Open Sans"/>
                <a:sym typeface="Open Sans"/>
              </a:rPr>
              <a:t>arquitectura y datos</a:t>
            </a:r>
          </a:p>
        </p:txBody>
      </p:sp>
      <p:grpSp>
        <p:nvGrpSpPr>
          <p:cNvPr name="Group 31" id="31"/>
          <p:cNvGrpSpPr/>
          <p:nvPr/>
        </p:nvGrpSpPr>
        <p:grpSpPr>
          <a:xfrm rot="0">
            <a:off x="7738110" y="3657600"/>
            <a:ext cx="45720" cy="617220"/>
            <a:chOff x="0" y="0"/>
            <a:chExt cx="60960" cy="822960"/>
          </a:xfrm>
        </p:grpSpPr>
        <p:sp>
          <p:nvSpPr>
            <p:cNvPr name="Freeform 32" id="32"/>
            <p:cNvSpPr/>
            <p:nvPr/>
          </p:nvSpPr>
          <p:spPr>
            <a:xfrm flipH="false" flipV="false" rot="0">
              <a:off x="0" y="0"/>
              <a:ext cx="60960" cy="822960"/>
            </a:xfrm>
            <a:custGeom>
              <a:avLst/>
              <a:gdLst/>
              <a:ahLst/>
              <a:cxnLst/>
              <a:rect r="r" b="b" t="t" l="l"/>
              <a:pathLst>
                <a:path h="822960" w="60960">
                  <a:moveTo>
                    <a:pt x="0" y="0"/>
                  </a:moveTo>
                  <a:lnTo>
                    <a:pt x="60960" y="0"/>
                  </a:lnTo>
                  <a:lnTo>
                    <a:pt x="60960" y="822960"/>
                  </a:lnTo>
                  <a:lnTo>
                    <a:pt x="0" y="822960"/>
                  </a:lnTo>
                  <a:close/>
                </a:path>
              </a:pathLst>
            </a:custGeom>
            <a:solidFill>
              <a:srgbClr val="1765C1"/>
            </a:solidFill>
          </p:spPr>
        </p:sp>
      </p:grpSp>
      <p:grpSp>
        <p:nvGrpSpPr>
          <p:cNvPr name="Group 33" id="33"/>
          <p:cNvGrpSpPr/>
          <p:nvPr/>
        </p:nvGrpSpPr>
        <p:grpSpPr>
          <a:xfrm rot="0">
            <a:off x="7212330" y="2743200"/>
            <a:ext cx="1097280" cy="1097280"/>
            <a:chOff x="0" y="0"/>
            <a:chExt cx="1463040" cy="1463040"/>
          </a:xfrm>
        </p:grpSpPr>
        <p:sp>
          <p:nvSpPr>
            <p:cNvPr name="Freeform 34" id="34"/>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FFFFF"/>
            </a:solidFill>
          </p:spPr>
        </p:sp>
      </p:grpSp>
      <p:sp>
        <p:nvSpPr>
          <p:cNvPr name="TextBox 35" id="35"/>
          <p:cNvSpPr txBox="true"/>
          <p:nvPr/>
        </p:nvSpPr>
        <p:spPr>
          <a:xfrm rot="0">
            <a:off x="7280910" y="2903220"/>
            <a:ext cx="960120" cy="777240"/>
          </a:xfrm>
          <a:prstGeom prst="rect">
            <a:avLst/>
          </a:prstGeom>
        </p:spPr>
        <p:txBody>
          <a:bodyPr anchor="t" rtlCol="false" tIns="0" lIns="0" bIns="0" rIns="0">
            <a:spAutoFit/>
          </a:bodyPr>
          <a:lstStyle/>
          <a:p>
            <a:pPr algn="ctr">
              <a:lnSpc>
                <a:spcPts val="4644"/>
              </a:lnSpc>
            </a:pPr>
            <a:r>
              <a:rPr lang="en-US" sz="3870" b="true">
                <a:solidFill>
                  <a:srgbClr val="1765C1"/>
                </a:solidFill>
                <a:latin typeface="Open Sans Bold"/>
                <a:ea typeface="Open Sans Bold"/>
                <a:cs typeface="Open Sans Bold"/>
                <a:sym typeface="Open Sans Bold"/>
              </a:rPr>
              <a:t>2B</a:t>
            </a:r>
          </a:p>
        </p:txBody>
      </p:sp>
      <p:grpSp>
        <p:nvGrpSpPr>
          <p:cNvPr name="Group 36" id="36"/>
          <p:cNvGrpSpPr/>
          <p:nvPr/>
        </p:nvGrpSpPr>
        <p:grpSpPr>
          <a:xfrm rot="0">
            <a:off x="6446520" y="4217670"/>
            <a:ext cx="2628900" cy="4171950"/>
            <a:chOff x="0" y="0"/>
            <a:chExt cx="3505200" cy="5562600"/>
          </a:xfrm>
        </p:grpSpPr>
        <p:sp>
          <p:nvSpPr>
            <p:cNvPr name="Freeform 37" id="37"/>
            <p:cNvSpPr/>
            <p:nvPr/>
          </p:nvSpPr>
          <p:spPr>
            <a:xfrm flipH="false" flipV="false" rot="0">
              <a:off x="0" y="0"/>
              <a:ext cx="3505200" cy="5562600"/>
            </a:xfrm>
            <a:custGeom>
              <a:avLst/>
              <a:gdLst/>
              <a:ahLst/>
              <a:cxnLst/>
              <a:rect r="r" b="b" t="t" l="l"/>
              <a:pathLst>
                <a:path h="5562600" w="3505200">
                  <a:moveTo>
                    <a:pt x="0" y="624840"/>
                  </a:moveTo>
                  <a:lnTo>
                    <a:pt x="1752600" y="0"/>
                  </a:lnTo>
                  <a:lnTo>
                    <a:pt x="3505200" y="624840"/>
                  </a:lnTo>
                  <a:lnTo>
                    <a:pt x="3505200" y="4998720"/>
                  </a:lnTo>
                  <a:lnTo>
                    <a:pt x="1752600" y="5562600"/>
                  </a:lnTo>
                  <a:lnTo>
                    <a:pt x="0" y="4998720"/>
                  </a:lnTo>
                  <a:close/>
                </a:path>
              </a:pathLst>
            </a:custGeom>
            <a:solidFill>
              <a:srgbClr val="FFFFFF"/>
            </a:solidFill>
          </p:spPr>
        </p:sp>
      </p:grpSp>
      <p:grpSp>
        <p:nvGrpSpPr>
          <p:cNvPr name="Group 38" id="38"/>
          <p:cNvGrpSpPr/>
          <p:nvPr/>
        </p:nvGrpSpPr>
        <p:grpSpPr>
          <a:xfrm rot="0">
            <a:off x="6446520" y="4217670"/>
            <a:ext cx="2628900" cy="1211580"/>
            <a:chOff x="0" y="0"/>
            <a:chExt cx="3505200" cy="1615440"/>
          </a:xfrm>
        </p:grpSpPr>
        <p:sp>
          <p:nvSpPr>
            <p:cNvPr name="Freeform 39" id="39"/>
            <p:cNvSpPr/>
            <p:nvPr/>
          </p:nvSpPr>
          <p:spPr>
            <a:xfrm flipH="false" flipV="false" rot="0">
              <a:off x="0" y="0"/>
              <a:ext cx="3505200" cy="1615440"/>
            </a:xfrm>
            <a:custGeom>
              <a:avLst/>
              <a:gdLst/>
              <a:ahLst/>
              <a:cxnLst/>
              <a:rect r="r" b="b" t="t" l="l"/>
              <a:pathLst>
                <a:path h="1615440" w="3505200">
                  <a:moveTo>
                    <a:pt x="0" y="624840"/>
                  </a:moveTo>
                  <a:lnTo>
                    <a:pt x="1752600" y="0"/>
                  </a:lnTo>
                  <a:lnTo>
                    <a:pt x="3505200" y="624840"/>
                  </a:lnTo>
                  <a:lnTo>
                    <a:pt x="3505200" y="1615440"/>
                  </a:lnTo>
                  <a:lnTo>
                    <a:pt x="0" y="1615440"/>
                  </a:lnTo>
                  <a:close/>
                </a:path>
              </a:pathLst>
            </a:custGeom>
            <a:solidFill>
              <a:srgbClr val="1765C1"/>
            </a:solidFill>
          </p:spPr>
        </p:sp>
      </p:grpSp>
      <p:sp>
        <p:nvSpPr>
          <p:cNvPr name="TextBox 40" id="40"/>
          <p:cNvSpPr txBox="true"/>
          <p:nvPr/>
        </p:nvSpPr>
        <p:spPr>
          <a:xfrm rot="0">
            <a:off x="6640830" y="4823460"/>
            <a:ext cx="2240280" cy="434340"/>
          </a:xfrm>
          <a:prstGeom prst="rect">
            <a:avLst/>
          </a:prstGeom>
        </p:spPr>
        <p:txBody>
          <a:bodyPr anchor="t" rtlCol="false" tIns="0" lIns="0" bIns="0" rIns="0">
            <a:spAutoFit/>
          </a:bodyPr>
          <a:lstStyle/>
          <a:p>
            <a:pPr algn="ctr">
              <a:lnSpc>
                <a:spcPts val="2915"/>
              </a:lnSpc>
            </a:pPr>
            <a:r>
              <a:rPr lang="en-US" sz="2429" b="true">
                <a:solidFill>
                  <a:srgbClr val="FFFFFF"/>
                </a:solidFill>
                <a:latin typeface="Open Sans Bold"/>
                <a:ea typeface="Open Sans Bold"/>
                <a:cs typeface="Open Sans Bold"/>
                <a:sym typeface="Open Sans Bold"/>
              </a:rPr>
              <a:t>FASE 2B</a:t>
            </a:r>
          </a:p>
        </p:txBody>
      </p:sp>
      <p:sp>
        <p:nvSpPr>
          <p:cNvPr name="TextBox 41" id="41"/>
          <p:cNvSpPr txBox="true"/>
          <p:nvPr/>
        </p:nvSpPr>
        <p:spPr>
          <a:xfrm rot="0">
            <a:off x="6526530" y="5785485"/>
            <a:ext cx="2468880" cy="1083945"/>
          </a:xfrm>
          <a:prstGeom prst="rect">
            <a:avLst/>
          </a:prstGeom>
        </p:spPr>
        <p:txBody>
          <a:bodyPr anchor="t" rtlCol="false" tIns="0" lIns="0" bIns="0" rIns="0">
            <a:spAutoFit/>
          </a:bodyPr>
          <a:lstStyle/>
          <a:p>
            <a:pPr algn="ctr">
              <a:lnSpc>
                <a:spcPts val="3131"/>
              </a:lnSpc>
            </a:pPr>
            <a:r>
              <a:rPr lang="en-US" sz="2610" b="true">
                <a:solidFill>
                  <a:srgbClr val="122A3D"/>
                </a:solidFill>
                <a:latin typeface="Open Sans Bold"/>
                <a:ea typeface="Open Sans Bold"/>
                <a:cs typeface="Open Sans Bold"/>
                <a:sym typeface="Open Sans Bold"/>
              </a:rPr>
              <a:t>Construcción</a:t>
            </a:r>
          </a:p>
          <a:p>
            <a:pPr algn="ctr">
              <a:lnSpc>
                <a:spcPts val="3131"/>
              </a:lnSpc>
            </a:pPr>
            <a:r>
              <a:rPr lang="en-US" sz="2610" b="true">
                <a:solidFill>
                  <a:srgbClr val="122A3D"/>
                </a:solidFill>
                <a:latin typeface="Open Sans Bold"/>
                <a:ea typeface="Open Sans Bold"/>
                <a:cs typeface="Open Sans Bold"/>
                <a:sym typeface="Open Sans Bold"/>
              </a:rPr>
              <a:t>e integración</a:t>
            </a:r>
          </a:p>
        </p:txBody>
      </p:sp>
      <p:sp>
        <p:nvSpPr>
          <p:cNvPr name="TextBox 42" id="42"/>
          <p:cNvSpPr txBox="true"/>
          <p:nvPr/>
        </p:nvSpPr>
        <p:spPr>
          <a:xfrm rot="0">
            <a:off x="6595110" y="6958965"/>
            <a:ext cx="2331720" cy="927735"/>
          </a:xfrm>
          <a:prstGeom prst="rect">
            <a:avLst/>
          </a:prstGeom>
        </p:spPr>
        <p:txBody>
          <a:bodyPr anchor="t" rtlCol="false" tIns="0" lIns="0" bIns="0" rIns="0">
            <a:spAutoFit/>
          </a:bodyPr>
          <a:lstStyle/>
          <a:p>
            <a:pPr algn="ctr">
              <a:lnSpc>
                <a:spcPts val="2592"/>
              </a:lnSpc>
            </a:pPr>
            <a:r>
              <a:rPr lang="en-US" sz="2160">
                <a:solidFill>
                  <a:srgbClr val="506A7C"/>
                </a:solidFill>
                <a:latin typeface="Open Sans"/>
                <a:ea typeface="Open Sans"/>
                <a:cs typeface="Open Sans"/>
                <a:sym typeface="Open Sans"/>
              </a:rPr>
              <a:t>Software integrado</a:t>
            </a:r>
          </a:p>
        </p:txBody>
      </p:sp>
      <p:grpSp>
        <p:nvGrpSpPr>
          <p:cNvPr name="Group 43" id="43"/>
          <p:cNvGrpSpPr/>
          <p:nvPr/>
        </p:nvGrpSpPr>
        <p:grpSpPr>
          <a:xfrm rot="0">
            <a:off x="10504170" y="3657600"/>
            <a:ext cx="45720" cy="617220"/>
            <a:chOff x="0" y="0"/>
            <a:chExt cx="60960" cy="822960"/>
          </a:xfrm>
        </p:grpSpPr>
        <p:sp>
          <p:nvSpPr>
            <p:cNvPr name="Freeform 44" id="44"/>
            <p:cNvSpPr/>
            <p:nvPr/>
          </p:nvSpPr>
          <p:spPr>
            <a:xfrm flipH="false" flipV="false" rot="0">
              <a:off x="0" y="0"/>
              <a:ext cx="60960" cy="822960"/>
            </a:xfrm>
            <a:custGeom>
              <a:avLst/>
              <a:gdLst/>
              <a:ahLst/>
              <a:cxnLst/>
              <a:rect r="r" b="b" t="t" l="l"/>
              <a:pathLst>
                <a:path h="822960" w="60960">
                  <a:moveTo>
                    <a:pt x="0" y="0"/>
                  </a:moveTo>
                  <a:lnTo>
                    <a:pt x="60960" y="0"/>
                  </a:lnTo>
                  <a:lnTo>
                    <a:pt x="60960" y="822960"/>
                  </a:lnTo>
                  <a:lnTo>
                    <a:pt x="0" y="822960"/>
                  </a:lnTo>
                  <a:close/>
                </a:path>
              </a:pathLst>
            </a:custGeom>
            <a:solidFill>
              <a:srgbClr val="1286AD"/>
            </a:solidFill>
          </p:spPr>
        </p:sp>
      </p:grpSp>
      <p:grpSp>
        <p:nvGrpSpPr>
          <p:cNvPr name="Group 45" id="45"/>
          <p:cNvGrpSpPr/>
          <p:nvPr/>
        </p:nvGrpSpPr>
        <p:grpSpPr>
          <a:xfrm rot="0">
            <a:off x="9978390" y="2743200"/>
            <a:ext cx="1097280" cy="1097280"/>
            <a:chOff x="0" y="0"/>
            <a:chExt cx="1463040" cy="1463040"/>
          </a:xfrm>
        </p:grpSpPr>
        <p:sp>
          <p:nvSpPr>
            <p:cNvPr name="Freeform 46" id="46"/>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FFFFF"/>
            </a:solidFill>
          </p:spPr>
        </p:sp>
      </p:grpSp>
      <p:sp>
        <p:nvSpPr>
          <p:cNvPr name="TextBox 47" id="47"/>
          <p:cNvSpPr txBox="true"/>
          <p:nvPr/>
        </p:nvSpPr>
        <p:spPr>
          <a:xfrm rot="0">
            <a:off x="10046970" y="2903220"/>
            <a:ext cx="960120" cy="777240"/>
          </a:xfrm>
          <a:prstGeom prst="rect">
            <a:avLst/>
          </a:prstGeom>
        </p:spPr>
        <p:txBody>
          <a:bodyPr anchor="t" rtlCol="false" tIns="0" lIns="0" bIns="0" rIns="0">
            <a:spAutoFit/>
          </a:bodyPr>
          <a:lstStyle/>
          <a:p>
            <a:pPr algn="ctr">
              <a:lnSpc>
                <a:spcPts val="4644"/>
              </a:lnSpc>
            </a:pPr>
            <a:r>
              <a:rPr lang="en-US" sz="3870" b="true">
                <a:solidFill>
                  <a:srgbClr val="1286AD"/>
                </a:solidFill>
                <a:latin typeface="Open Sans Bold"/>
                <a:ea typeface="Open Sans Bold"/>
                <a:cs typeface="Open Sans Bold"/>
                <a:sym typeface="Open Sans Bold"/>
              </a:rPr>
              <a:t>2C</a:t>
            </a:r>
          </a:p>
        </p:txBody>
      </p:sp>
      <p:grpSp>
        <p:nvGrpSpPr>
          <p:cNvPr name="Group 48" id="48"/>
          <p:cNvGrpSpPr/>
          <p:nvPr/>
        </p:nvGrpSpPr>
        <p:grpSpPr>
          <a:xfrm rot="0">
            <a:off x="9212580" y="4217670"/>
            <a:ext cx="2628900" cy="4171950"/>
            <a:chOff x="0" y="0"/>
            <a:chExt cx="3505200" cy="5562600"/>
          </a:xfrm>
        </p:grpSpPr>
        <p:sp>
          <p:nvSpPr>
            <p:cNvPr name="Freeform 49" id="49"/>
            <p:cNvSpPr/>
            <p:nvPr/>
          </p:nvSpPr>
          <p:spPr>
            <a:xfrm flipH="false" flipV="false" rot="0">
              <a:off x="0" y="0"/>
              <a:ext cx="3505200" cy="5562600"/>
            </a:xfrm>
            <a:custGeom>
              <a:avLst/>
              <a:gdLst/>
              <a:ahLst/>
              <a:cxnLst/>
              <a:rect r="r" b="b" t="t" l="l"/>
              <a:pathLst>
                <a:path h="5562600" w="3505200">
                  <a:moveTo>
                    <a:pt x="0" y="624840"/>
                  </a:moveTo>
                  <a:lnTo>
                    <a:pt x="1752600" y="0"/>
                  </a:lnTo>
                  <a:lnTo>
                    <a:pt x="3505200" y="624840"/>
                  </a:lnTo>
                  <a:lnTo>
                    <a:pt x="3505200" y="4998720"/>
                  </a:lnTo>
                  <a:lnTo>
                    <a:pt x="1752600" y="5562600"/>
                  </a:lnTo>
                  <a:lnTo>
                    <a:pt x="0" y="4998720"/>
                  </a:lnTo>
                  <a:close/>
                </a:path>
              </a:pathLst>
            </a:custGeom>
            <a:solidFill>
              <a:srgbClr val="FFFFFF"/>
            </a:solidFill>
          </p:spPr>
        </p:sp>
      </p:grpSp>
      <p:grpSp>
        <p:nvGrpSpPr>
          <p:cNvPr name="Group 50" id="50"/>
          <p:cNvGrpSpPr/>
          <p:nvPr/>
        </p:nvGrpSpPr>
        <p:grpSpPr>
          <a:xfrm rot="0">
            <a:off x="9212580" y="4217670"/>
            <a:ext cx="2628900" cy="1211580"/>
            <a:chOff x="0" y="0"/>
            <a:chExt cx="3505200" cy="1615440"/>
          </a:xfrm>
        </p:grpSpPr>
        <p:sp>
          <p:nvSpPr>
            <p:cNvPr name="Freeform 51" id="51"/>
            <p:cNvSpPr/>
            <p:nvPr/>
          </p:nvSpPr>
          <p:spPr>
            <a:xfrm flipH="false" flipV="false" rot="0">
              <a:off x="0" y="0"/>
              <a:ext cx="3505200" cy="1615440"/>
            </a:xfrm>
            <a:custGeom>
              <a:avLst/>
              <a:gdLst/>
              <a:ahLst/>
              <a:cxnLst/>
              <a:rect r="r" b="b" t="t" l="l"/>
              <a:pathLst>
                <a:path h="1615440" w="3505200">
                  <a:moveTo>
                    <a:pt x="0" y="624840"/>
                  </a:moveTo>
                  <a:lnTo>
                    <a:pt x="1752600" y="0"/>
                  </a:lnTo>
                  <a:lnTo>
                    <a:pt x="3505200" y="624840"/>
                  </a:lnTo>
                  <a:lnTo>
                    <a:pt x="3505200" y="1615440"/>
                  </a:lnTo>
                  <a:lnTo>
                    <a:pt x="0" y="1615440"/>
                  </a:lnTo>
                  <a:close/>
                </a:path>
              </a:pathLst>
            </a:custGeom>
            <a:solidFill>
              <a:srgbClr val="1286AD"/>
            </a:solidFill>
          </p:spPr>
        </p:sp>
      </p:grpSp>
      <p:sp>
        <p:nvSpPr>
          <p:cNvPr name="TextBox 52" id="52"/>
          <p:cNvSpPr txBox="true"/>
          <p:nvPr/>
        </p:nvSpPr>
        <p:spPr>
          <a:xfrm rot="0">
            <a:off x="9406890" y="4823460"/>
            <a:ext cx="2240280" cy="434340"/>
          </a:xfrm>
          <a:prstGeom prst="rect">
            <a:avLst/>
          </a:prstGeom>
        </p:spPr>
        <p:txBody>
          <a:bodyPr anchor="t" rtlCol="false" tIns="0" lIns="0" bIns="0" rIns="0">
            <a:spAutoFit/>
          </a:bodyPr>
          <a:lstStyle/>
          <a:p>
            <a:pPr algn="ctr">
              <a:lnSpc>
                <a:spcPts val="2915"/>
              </a:lnSpc>
            </a:pPr>
            <a:r>
              <a:rPr lang="en-US" sz="2429" b="true">
                <a:solidFill>
                  <a:srgbClr val="FFFFFF"/>
                </a:solidFill>
                <a:latin typeface="Open Sans Bold"/>
                <a:ea typeface="Open Sans Bold"/>
                <a:cs typeface="Open Sans Bold"/>
                <a:sym typeface="Open Sans Bold"/>
              </a:rPr>
              <a:t>FASE 2C</a:t>
            </a:r>
          </a:p>
        </p:txBody>
      </p:sp>
      <p:sp>
        <p:nvSpPr>
          <p:cNvPr name="TextBox 53" id="53"/>
          <p:cNvSpPr txBox="true"/>
          <p:nvPr/>
        </p:nvSpPr>
        <p:spPr>
          <a:xfrm rot="0">
            <a:off x="9292590" y="5785485"/>
            <a:ext cx="2468880" cy="1083945"/>
          </a:xfrm>
          <a:prstGeom prst="rect">
            <a:avLst/>
          </a:prstGeom>
        </p:spPr>
        <p:txBody>
          <a:bodyPr anchor="t" rtlCol="false" tIns="0" lIns="0" bIns="0" rIns="0">
            <a:spAutoFit/>
          </a:bodyPr>
          <a:lstStyle/>
          <a:p>
            <a:pPr algn="ctr">
              <a:lnSpc>
                <a:spcPts val="3131"/>
              </a:lnSpc>
            </a:pPr>
            <a:r>
              <a:rPr lang="en-US" sz="2610" b="true">
                <a:solidFill>
                  <a:srgbClr val="122A3D"/>
                </a:solidFill>
                <a:latin typeface="Open Sans Bold"/>
                <a:ea typeface="Open Sans Bold"/>
                <a:cs typeface="Open Sans Bold"/>
                <a:sym typeface="Open Sans Bold"/>
              </a:rPr>
              <a:t>Pruebas</a:t>
            </a:r>
          </a:p>
          <a:p>
            <a:pPr algn="ctr">
              <a:lnSpc>
                <a:spcPts val="3131"/>
              </a:lnSpc>
            </a:pPr>
            <a:r>
              <a:rPr lang="en-US" sz="2610" b="true">
                <a:solidFill>
                  <a:srgbClr val="122A3D"/>
                </a:solidFill>
                <a:latin typeface="Open Sans Bold"/>
                <a:ea typeface="Open Sans Bold"/>
                <a:cs typeface="Open Sans Bold"/>
                <a:sym typeface="Open Sans Bold"/>
              </a:rPr>
              <a:t>y evidencias</a:t>
            </a:r>
          </a:p>
        </p:txBody>
      </p:sp>
      <p:sp>
        <p:nvSpPr>
          <p:cNvPr name="TextBox 54" id="54"/>
          <p:cNvSpPr txBox="true"/>
          <p:nvPr/>
        </p:nvSpPr>
        <p:spPr>
          <a:xfrm rot="0">
            <a:off x="9361170" y="6958965"/>
            <a:ext cx="2331720" cy="927735"/>
          </a:xfrm>
          <a:prstGeom prst="rect">
            <a:avLst/>
          </a:prstGeom>
        </p:spPr>
        <p:txBody>
          <a:bodyPr anchor="t" rtlCol="false" tIns="0" lIns="0" bIns="0" rIns="0">
            <a:spAutoFit/>
          </a:bodyPr>
          <a:lstStyle/>
          <a:p>
            <a:pPr algn="ctr">
              <a:lnSpc>
                <a:spcPts val="2592"/>
              </a:lnSpc>
            </a:pPr>
            <a:r>
              <a:rPr lang="en-US" sz="2160">
                <a:solidFill>
                  <a:srgbClr val="506A7C"/>
                </a:solidFill>
                <a:latin typeface="Open Sans"/>
                <a:ea typeface="Open Sans"/>
                <a:cs typeface="Open Sans"/>
                <a:sym typeface="Open Sans"/>
              </a:rPr>
              <a:t>Casos, resultados</a:t>
            </a:r>
          </a:p>
          <a:p>
            <a:pPr algn="ctr">
              <a:lnSpc>
                <a:spcPts val="2592"/>
              </a:lnSpc>
            </a:pPr>
            <a:r>
              <a:rPr lang="en-US" sz="2160">
                <a:solidFill>
                  <a:srgbClr val="506A7C"/>
                </a:solidFill>
                <a:latin typeface="Open Sans"/>
                <a:ea typeface="Open Sans"/>
                <a:cs typeface="Open Sans"/>
                <a:sym typeface="Open Sans"/>
              </a:rPr>
              <a:t>y observaciones</a:t>
            </a:r>
          </a:p>
        </p:txBody>
      </p:sp>
      <p:grpSp>
        <p:nvGrpSpPr>
          <p:cNvPr name="Group 55" id="55"/>
          <p:cNvGrpSpPr/>
          <p:nvPr/>
        </p:nvGrpSpPr>
        <p:grpSpPr>
          <a:xfrm rot="0">
            <a:off x="13270230" y="3657600"/>
            <a:ext cx="45720" cy="617220"/>
            <a:chOff x="0" y="0"/>
            <a:chExt cx="60960" cy="822960"/>
          </a:xfrm>
        </p:grpSpPr>
        <p:sp>
          <p:nvSpPr>
            <p:cNvPr name="Freeform 56" id="56"/>
            <p:cNvSpPr/>
            <p:nvPr/>
          </p:nvSpPr>
          <p:spPr>
            <a:xfrm flipH="false" flipV="false" rot="0">
              <a:off x="0" y="0"/>
              <a:ext cx="60960" cy="822960"/>
            </a:xfrm>
            <a:custGeom>
              <a:avLst/>
              <a:gdLst/>
              <a:ahLst/>
              <a:cxnLst/>
              <a:rect r="r" b="b" t="t" l="l"/>
              <a:pathLst>
                <a:path h="822960" w="60960">
                  <a:moveTo>
                    <a:pt x="0" y="0"/>
                  </a:moveTo>
                  <a:lnTo>
                    <a:pt x="60960" y="0"/>
                  </a:lnTo>
                  <a:lnTo>
                    <a:pt x="60960" y="822960"/>
                  </a:lnTo>
                  <a:lnTo>
                    <a:pt x="0" y="822960"/>
                  </a:lnTo>
                  <a:close/>
                </a:path>
              </a:pathLst>
            </a:custGeom>
            <a:solidFill>
              <a:srgbClr val="00B3B5"/>
            </a:solidFill>
          </p:spPr>
        </p:sp>
      </p:grpSp>
      <p:grpSp>
        <p:nvGrpSpPr>
          <p:cNvPr name="Group 57" id="57"/>
          <p:cNvGrpSpPr/>
          <p:nvPr/>
        </p:nvGrpSpPr>
        <p:grpSpPr>
          <a:xfrm rot="0">
            <a:off x="12744450" y="2743200"/>
            <a:ext cx="1097280" cy="1097280"/>
            <a:chOff x="0" y="0"/>
            <a:chExt cx="1463040" cy="1463040"/>
          </a:xfrm>
        </p:grpSpPr>
        <p:sp>
          <p:nvSpPr>
            <p:cNvPr name="Freeform 58" id="58"/>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FFFFF"/>
            </a:solidFill>
          </p:spPr>
        </p:sp>
      </p:grpSp>
      <p:sp>
        <p:nvSpPr>
          <p:cNvPr name="TextBox 59" id="59"/>
          <p:cNvSpPr txBox="true"/>
          <p:nvPr/>
        </p:nvSpPr>
        <p:spPr>
          <a:xfrm rot="0">
            <a:off x="12813030" y="2903220"/>
            <a:ext cx="960120" cy="777240"/>
          </a:xfrm>
          <a:prstGeom prst="rect">
            <a:avLst/>
          </a:prstGeom>
        </p:spPr>
        <p:txBody>
          <a:bodyPr anchor="t" rtlCol="false" tIns="0" lIns="0" bIns="0" rIns="0">
            <a:spAutoFit/>
          </a:bodyPr>
          <a:lstStyle/>
          <a:p>
            <a:pPr algn="ctr">
              <a:lnSpc>
                <a:spcPts val="4644"/>
              </a:lnSpc>
            </a:pPr>
            <a:r>
              <a:rPr lang="en-US" sz="3870" b="true">
                <a:solidFill>
                  <a:srgbClr val="00B3B5"/>
                </a:solidFill>
                <a:latin typeface="Open Sans Bold"/>
                <a:ea typeface="Open Sans Bold"/>
                <a:cs typeface="Open Sans Bold"/>
                <a:sym typeface="Open Sans Bold"/>
              </a:rPr>
              <a:t>2D</a:t>
            </a:r>
          </a:p>
        </p:txBody>
      </p:sp>
      <p:grpSp>
        <p:nvGrpSpPr>
          <p:cNvPr name="Group 60" id="60"/>
          <p:cNvGrpSpPr/>
          <p:nvPr/>
        </p:nvGrpSpPr>
        <p:grpSpPr>
          <a:xfrm rot="0">
            <a:off x="11978640" y="4217670"/>
            <a:ext cx="2628900" cy="4171950"/>
            <a:chOff x="0" y="0"/>
            <a:chExt cx="3505200" cy="5562600"/>
          </a:xfrm>
        </p:grpSpPr>
        <p:sp>
          <p:nvSpPr>
            <p:cNvPr name="Freeform 61" id="61"/>
            <p:cNvSpPr/>
            <p:nvPr/>
          </p:nvSpPr>
          <p:spPr>
            <a:xfrm flipH="false" flipV="false" rot="0">
              <a:off x="0" y="0"/>
              <a:ext cx="3505200" cy="5562600"/>
            </a:xfrm>
            <a:custGeom>
              <a:avLst/>
              <a:gdLst/>
              <a:ahLst/>
              <a:cxnLst/>
              <a:rect r="r" b="b" t="t" l="l"/>
              <a:pathLst>
                <a:path h="5562600" w="3505200">
                  <a:moveTo>
                    <a:pt x="0" y="624840"/>
                  </a:moveTo>
                  <a:lnTo>
                    <a:pt x="1752600" y="0"/>
                  </a:lnTo>
                  <a:lnTo>
                    <a:pt x="3505200" y="624840"/>
                  </a:lnTo>
                  <a:lnTo>
                    <a:pt x="3505200" y="4998720"/>
                  </a:lnTo>
                  <a:lnTo>
                    <a:pt x="1752600" y="5562600"/>
                  </a:lnTo>
                  <a:lnTo>
                    <a:pt x="0" y="4998720"/>
                  </a:lnTo>
                  <a:close/>
                </a:path>
              </a:pathLst>
            </a:custGeom>
            <a:solidFill>
              <a:srgbClr val="FFFFFF"/>
            </a:solidFill>
          </p:spPr>
        </p:sp>
      </p:grpSp>
      <p:grpSp>
        <p:nvGrpSpPr>
          <p:cNvPr name="Group 62" id="62"/>
          <p:cNvGrpSpPr/>
          <p:nvPr/>
        </p:nvGrpSpPr>
        <p:grpSpPr>
          <a:xfrm rot="0">
            <a:off x="11978640" y="4217670"/>
            <a:ext cx="2628900" cy="1211580"/>
            <a:chOff x="0" y="0"/>
            <a:chExt cx="3505200" cy="1615440"/>
          </a:xfrm>
        </p:grpSpPr>
        <p:sp>
          <p:nvSpPr>
            <p:cNvPr name="Freeform 63" id="63"/>
            <p:cNvSpPr/>
            <p:nvPr/>
          </p:nvSpPr>
          <p:spPr>
            <a:xfrm flipH="false" flipV="false" rot="0">
              <a:off x="0" y="0"/>
              <a:ext cx="3505200" cy="1615440"/>
            </a:xfrm>
            <a:custGeom>
              <a:avLst/>
              <a:gdLst/>
              <a:ahLst/>
              <a:cxnLst/>
              <a:rect r="r" b="b" t="t" l="l"/>
              <a:pathLst>
                <a:path h="1615440" w="3505200">
                  <a:moveTo>
                    <a:pt x="0" y="624840"/>
                  </a:moveTo>
                  <a:lnTo>
                    <a:pt x="1752600" y="0"/>
                  </a:lnTo>
                  <a:lnTo>
                    <a:pt x="3505200" y="624840"/>
                  </a:lnTo>
                  <a:lnTo>
                    <a:pt x="3505200" y="1615440"/>
                  </a:lnTo>
                  <a:lnTo>
                    <a:pt x="0" y="1615440"/>
                  </a:lnTo>
                  <a:close/>
                </a:path>
              </a:pathLst>
            </a:custGeom>
            <a:solidFill>
              <a:srgbClr val="00B3B5"/>
            </a:solidFill>
          </p:spPr>
        </p:sp>
      </p:grpSp>
      <p:sp>
        <p:nvSpPr>
          <p:cNvPr name="TextBox 64" id="64"/>
          <p:cNvSpPr txBox="true"/>
          <p:nvPr/>
        </p:nvSpPr>
        <p:spPr>
          <a:xfrm rot="0">
            <a:off x="12172950" y="4823460"/>
            <a:ext cx="2240280" cy="434340"/>
          </a:xfrm>
          <a:prstGeom prst="rect">
            <a:avLst/>
          </a:prstGeom>
        </p:spPr>
        <p:txBody>
          <a:bodyPr anchor="t" rtlCol="false" tIns="0" lIns="0" bIns="0" rIns="0">
            <a:spAutoFit/>
          </a:bodyPr>
          <a:lstStyle/>
          <a:p>
            <a:pPr algn="ctr">
              <a:lnSpc>
                <a:spcPts val="2915"/>
              </a:lnSpc>
            </a:pPr>
            <a:r>
              <a:rPr lang="en-US" sz="2429" b="true">
                <a:solidFill>
                  <a:srgbClr val="FFFFFF"/>
                </a:solidFill>
                <a:latin typeface="Open Sans Bold"/>
                <a:ea typeface="Open Sans Bold"/>
                <a:cs typeface="Open Sans Bold"/>
                <a:sym typeface="Open Sans Bold"/>
              </a:rPr>
              <a:t>FASE 2D</a:t>
            </a:r>
          </a:p>
        </p:txBody>
      </p:sp>
      <p:sp>
        <p:nvSpPr>
          <p:cNvPr name="TextBox 65" id="65"/>
          <p:cNvSpPr txBox="true"/>
          <p:nvPr/>
        </p:nvSpPr>
        <p:spPr>
          <a:xfrm rot="0">
            <a:off x="12058650" y="5785485"/>
            <a:ext cx="2468880" cy="1083945"/>
          </a:xfrm>
          <a:prstGeom prst="rect">
            <a:avLst/>
          </a:prstGeom>
        </p:spPr>
        <p:txBody>
          <a:bodyPr anchor="t" rtlCol="false" tIns="0" lIns="0" bIns="0" rIns="0">
            <a:spAutoFit/>
          </a:bodyPr>
          <a:lstStyle/>
          <a:p>
            <a:pPr algn="ctr">
              <a:lnSpc>
                <a:spcPts val="3131"/>
              </a:lnSpc>
            </a:pPr>
            <a:r>
              <a:rPr lang="en-US" sz="2610" b="true">
                <a:solidFill>
                  <a:srgbClr val="122A3D"/>
                </a:solidFill>
                <a:latin typeface="Open Sans Bold"/>
                <a:ea typeface="Open Sans Bold"/>
                <a:cs typeface="Open Sans Bold"/>
                <a:sym typeface="Open Sans Bold"/>
              </a:rPr>
              <a:t>Cierre</a:t>
            </a:r>
          </a:p>
          <a:p>
            <a:pPr algn="ctr">
              <a:lnSpc>
                <a:spcPts val="3131"/>
              </a:lnSpc>
            </a:pPr>
            <a:r>
              <a:rPr lang="en-US" sz="2610" b="true">
                <a:solidFill>
                  <a:srgbClr val="122A3D"/>
                </a:solidFill>
                <a:latin typeface="Open Sans Bold"/>
                <a:ea typeface="Open Sans Bold"/>
                <a:cs typeface="Open Sans Bold"/>
                <a:sym typeface="Open Sans Bold"/>
              </a:rPr>
              <a:t>documental</a:t>
            </a:r>
          </a:p>
        </p:txBody>
      </p:sp>
      <p:sp>
        <p:nvSpPr>
          <p:cNvPr name="TextBox 66" id="66"/>
          <p:cNvSpPr txBox="true"/>
          <p:nvPr/>
        </p:nvSpPr>
        <p:spPr>
          <a:xfrm rot="0">
            <a:off x="12127230" y="6958965"/>
            <a:ext cx="2331720" cy="927735"/>
          </a:xfrm>
          <a:prstGeom prst="rect">
            <a:avLst/>
          </a:prstGeom>
        </p:spPr>
        <p:txBody>
          <a:bodyPr anchor="t" rtlCol="false" tIns="0" lIns="0" bIns="0" rIns="0">
            <a:spAutoFit/>
          </a:bodyPr>
          <a:lstStyle/>
          <a:p>
            <a:pPr algn="ctr">
              <a:lnSpc>
                <a:spcPts val="2592"/>
              </a:lnSpc>
            </a:pPr>
            <a:r>
              <a:rPr lang="en-US" sz="2160">
                <a:solidFill>
                  <a:srgbClr val="506A7C"/>
                </a:solidFill>
                <a:latin typeface="Open Sans"/>
                <a:ea typeface="Open Sans"/>
                <a:cs typeface="Open Sans"/>
                <a:sym typeface="Open Sans"/>
              </a:rPr>
              <a:t>Configuración y</a:t>
            </a:r>
          </a:p>
          <a:p>
            <a:pPr algn="ctr">
              <a:lnSpc>
                <a:spcPts val="2592"/>
              </a:lnSpc>
            </a:pPr>
            <a:r>
              <a:rPr lang="en-US" sz="2160">
                <a:solidFill>
                  <a:srgbClr val="506A7C"/>
                </a:solidFill>
                <a:latin typeface="Open Sans"/>
                <a:ea typeface="Open Sans"/>
                <a:cs typeface="Open Sans"/>
                <a:sym typeface="Open Sans"/>
              </a:rPr>
              <a:t>documentación</a:t>
            </a:r>
          </a:p>
        </p:txBody>
      </p:sp>
      <p:grpSp>
        <p:nvGrpSpPr>
          <p:cNvPr name="Group 67" id="67"/>
          <p:cNvGrpSpPr/>
          <p:nvPr/>
        </p:nvGrpSpPr>
        <p:grpSpPr>
          <a:xfrm rot="0">
            <a:off x="16036290" y="3657600"/>
            <a:ext cx="45720" cy="617220"/>
            <a:chOff x="0" y="0"/>
            <a:chExt cx="60960" cy="822960"/>
          </a:xfrm>
        </p:grpSpPr>
        <p:sp>
          <p:nvSpPr>
            <p:cNvPr name="Freeform 68" id="68"/>
            <p:cNvSpPr/>
            <p:nvPr/>
          </p:nvSpPr>
          <p:spPr>
            <a:xfrm flipH="false" flipV="false" rot="0">
              <a:off x="0" y="0"/>
              <a:ext cx="60960" cy="822960"/>
            </a:xfrm>
            <a:custGeom>
              <a:avLst/>
              <a:gdLst/>
              <a:ahLst/>
              <a:cxnLst/>
              <a:rect r="r" b="b" t="t" l="l"/>
              <a:pathLst>
                <a:path h="822960" w="60960">
                  <a:moveTo>
                    <a:pt x="0" y="0"/>
                  </a:moveTo>
                  <a:lnTo>
                    <a:pt x="60960" y="0"/>
                  </a:lnTo>
                  <a:lnTo>
                    <a:pt x="60960" y="822960"/>
                  </a:lnTo>
                  <a:lnTo>
                    <a:pt x="0" y="822960"/>
                  </a:lnTo>
                  <a:close/>
                </a:path>
              </a:pathLst>
            </a:custGeom>
            <a:solidFill>
              <a:srgbClr val="007D86"/>
            </a:solidFill>
          </p:spPr>
        </p:sp>
      </p:grpSp>
      <p:grpSp>
        <p:nvGrpSpPr>
          <p:cNvPr name="Group 69" id="69"/>
          <p:cNvGrpSpPr/>
          <p:nvPr/>
        </p:nvGrpSpPr>
        <p:grpSpPr>
          <a:xfrm rot="0">
            <a:off x="15510510" y="2743200"/>
            <a:ext cx="1097280" cy="1097280"/>
            <a:chOff x="0" y="0"/>
            <a:chExt cx="1463040" cy="1463040"/>
          </a:xfrm>
        </p:grpSpPr>
        <p:sp>
          <p:nvSpPr>
            <p:cNvPr name="Freeform 70" id="70"/>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FFFFF"/>
            </a:solidFill>
          </p:spPr>
        </p:sp>
      </p:grpSp>
      <p:sp>
        <p:nvSpPr>
          <p:cNvPr name="TextBox 71" id="71"/>
          <p:cNvSpPr txBox="true"/>
          <p:nvPr/>
        </p:nvSpPr>
        <p:spPr>
          <a:xfrm rot="0">
            <a:off x="15579090" y="2903220"/>
            <a:ext cx="960120" cy="777240"/>
          </a:xfrm>
          <a:prstGeom prst="rect">
            <a:avLst/>
          </a:prstGeom>
        </p:spPr>
        <p:txBody>
          <a:bodyPr anchor="t" rtlCol="false" tIns="0" lIns="0" bIns="0" rIns="0">
            <a:spAutoFit/>
          </a:bodyPr>
          <a:lstStyle/>
          <a:p>
            <a:pPr algn="ctr">
              <a:lnSpc>
                <a:spcPts val="4644"/>
              </a:lnSpc>
            </a:pPr>
            <a:r>
              <a:rPr lang="en-US" sz="3870" b="true">
                <a:solidFill>
                  <a:srgbClr val="007D86"/>
                </a:solidFill>
                <a:latin typeface="Open Sans Bold"/>
                <a:ea typeface="Open Sans Bold"/>
                <a:cs typeface="Open Sans Bold"/>
                <a:sym typeface="Open Sans Bold"/>
              </a:rPr>
              <a:t>3</a:t>
            </a:r>
          </a:p>
        </p:txBody>
      </p:sp>
      <p:grpSp>
        <p:nvGrpSpPr>
          <p:cNvPr name="Group 72" id="72"/>
          <p:cNvGrpSpPr/>
          <p:nvPr/>
        </p:nvGrpSpPr>
        <p:grpSpPr>
          <a:xfrm rot="0">
            <a:off x="14744700" y="4217670"/>
            <a:ext cx="2628900" cy="4171950"/>
            <a:chOff x="0" y="0"/>
            <a:chExt cx="3505200" cy="5562600"/>
          </a:xfrm>
        </p:grpSpPr>
        <p:sp>
          <p:nvSpPr>
            <p:cNvPr name="Freeform 73" id="73"/>
            <p:cNvSpPr/>
            <p:nvPr/>
          </p:nvSpPr>
          <p:spPr>
            <a:xfrm flipH="false" flipV="false" rot="0">
              <a:off x="0" y="0"/>
              <a:ext cx="3505200" cy="5562600"/>
            </a:xfrm>
            <a:custGeom>
              <a:avLst/>
              <a:gdLst/>
              <a:ahLst/>
              <a:cxnLst/>
              <a:rect r="r" b="b" t="t" l="l"/>
              <a:pathLst>
                <a:path h="5562600" w="3505200">
                  <a:moveTo>
                    <a:pt x="0" y="624840"/>
                  </a:moveTo>
                  <a:lnTo>
                    <a:pt x="1752600" y="0"/>
                  </a:lnTo>
                  <a:lnTo>
                    <a:pt x="3505200" y="624840"/>
                  </a:lnTo>
                  <a:lnTo>
                    <a:pt x="3505200" y="4998720"/>
                  </a:lnTo>
                  <a:lnTo>
                    <a:pt x="1752600" y="5562600"/>
                  </a:lnTo>
                  <a:lnTo>
                    <a:pt x="0" y="4998720"/>
                  </a:lnTo>
                  <a:close/>
                </a:path>
              </a:pathLst>
            </a:custGeom>
            <a:solidFill>
              <a:srgbClr val="FFFFFF"/>
            </a:solidFill>
          </p:spPr>
        </p:sp>
      </p:grpSp>
      <p:grpSp>
        <p:nvGrpSpPr>
          <p:cNvPr name="Group 74" id="74"/>
          <p:cNvGrpSpPr/>
          <p:nvPr/>
        </p:nvGrpSpPr>
        <p:grpSpPr>
          <a:xfrm rot="0">
            <a:off x="14744700" y="4217670"/>
            <a:ext cx="2628900" cy="1211580"/>
            <a:chOff x="0" y="0"/>
            <a:chExt cx="3505200" cy="1615440"/>
          </a:xfrm>
        </p:grpSpPr>
        <p:sp>
          <p:nvSpPr>
            <p:cNvPr name="Freeform 75" id="75"/>
            <p:cNvSpPr/>
            <p:nvPr/>
          </p:nvSpPr>
          <p:spPr>
            <a:xfrm flipH="false" flipV="false" rot="0">
              <a:off x="0" y="0"/>
              <a:ext cx="3505200" cy="1615440"/>
            </a:xfrm>
            <a:custGeom>
              <a:avLst/>
              <a:gdLst/>
              <a:ahLst/>
              <a:cxnLst/>
              <a:rect r="r" b="b" t="t" l="l"/>
              <a:pathLst>
                <a:path h="1615440" w="3505200">
                  <a:moveTo>
                    <a:pt x="0" y="624840"/>
                  </a:moveTo>
                  <a:lnTo>
                    <a:pt x="1752600" y="0"/>
                  </a:lnTo>
                  <a:lnTo>
                    <a:pt x="3505200" y="624840"/>
                  </a:lnTo>
                  <a:lnTo>
                    <a:pt x="3505200" y="1615440"/>
                  </a:lnTo>
                  <a:lnTo>
                    <a:pt x="0" y="1615440"/>
                  </a:lnTo>
                  <a:close/>
                </a:path>
              </a:pathLst>
            </a:custGeom>
            <a:solidFill>
              <a:srgbClr val="007D86"/>
            </a:solidFill>
          </p:spPr>
        </p:sp>
      </p:grpSp>
      <p:sp>
        <p:nvSpPr>
          <p:cNvPr name="TextBox 76" id="76"/>
          <p:cNvSpPr txBox="true"/>
          <p:nvPr/>
        </p:nvSpPr>
        <p:spPr>
          <a:xfrm rot="0">
            <a:off x="14939010" y="4823460"/>
            <a:ext cx="2240280" cy="434340"/>
          </a:xfrm>
          <a:prstGeom prst="rect">
            <a:avLst/>
          </a:prstGeom>
        </p:spPr>
        <p:txBody>
          <a:bodyPr anchor="t" rtlCol="false" tIns="0" lIns="0" bIns="0" rIns="0">
            <a:spAutoFit/>
          </a:bodyPr>
          <a:lstStyle/>
          <a:p>
            <a:pPr algn="ctr">
              <a:lnSpc>
                <a:spcPts val="2915"/>
              </a:lnSpc>
            </a:pPr>
            <a:r>
              <a:rPr lang="en-US" sz="2429" b="true">
                <a:solidFill>
                  <a:srgbClr val="FFFFFF"/>
                </a:solidFill>
                <a:latin typeface="Open Sans Bold"/>
                <a:ea typeface="Open Sans Bold"/>
                <a:cs typeface="Open Sans Bold"/>
                <a:sym typeface="Open Sans Bold"/>
              </a:rPr>
              <a:t>FASE 3</a:t>
            </a:r>
          </a:p>
        </p:txBody>
      </p:sp>
      <p:sp>
        <p:nvSpPr>
          <p:cNvPr name="TextBox 77" id="77"/>
          <p:cNvSpPr txBox="true"/>
          <p:nvPr/>
        </p:nvSpPr>
        <p:spPr>
          <a:xfrm rot="0">
            <a:off x="14824710" y="5785485"/>
            <a:ext cx="2468880" cy="1083945"/>
          </a:xfrm>
          <a:prstGeom prst="rect">
            <a:avLst/>
          </a:prstGeom>
        </p:spPr>
        <p:txBody>
          <a:bodyPr anchor="t" rtlCol="false" tIns="0" lIns="0" bIns="0" rIns="0">
            <a:spAutoFit/>
          </a:bodyPr>
          <a:lstStyle/>
          <a:p>
            <a:pPr algn="ctr">
              <a:lnSpc>
                <a:spcPts val="3131"/>
              </a:lnSpc>
            </a:pPr>
            <a:r>
              <a:rPr lang="en-US" sz="2610" b="true">
                <a:solidFill>
                  <a:srgbClr val="122A3D"/>
                </a:solidFill>
                <a:latin typeface="Open Sans Bold"/>
                <a:ea typeface="Open Sans Bold"/>
                <a:cs typeface="Open Sans Bold"/>
                <a:sym typeface="Open Sans Bold"/>
              </a:rPr>
              <a:t>Presentación</a:t>
            </a:r>
          </a:p>
        </p:txBody>
      </p:sp>
      <p:sp>
        <p:nvSpPr>
          <p:cNvPr name="TextBox 78" id="78"/>
          <p:cNvSpPr txBox="true"/>
          <p:nvPr/>
        </p:nvSpPr>
        <p:spPr>
          <a:xfrm rot="0">
            <a:off x="14893290" y="6958965"/>
            <a:ext cx="2331720" cy="927735"/>
          </a:xfrm>
          <a:prstGeom prst="rect">
            <a:avLst/>
          </a:prstGeom>
        </p:spPr>
        <p:txBody>
          <a:bodyPr anchor="t" rtlCol="false" tIns="0" lIns="0" bIns="0" rIns="0">
            <a:spAutoFit/>
          </a:bodyPr>
          <a:lstStyle/>
          <a:p>
            <a:pPr algn="ctr">
              <a:lnSpc>
                <a:spcPts val="2592"/>
              </a:lnSpc>
            </a:pPr>
            <a:r>
              <a:rPr lang="en-US" sz="2160">
                <a:solidFill>
                  <a:srgbClr val="506A7C"/>
                </a:solidFill>
                <a:latin typeface="Open Sans"/>
                <a:ea typeface="Open Sans"/>
                <a:cs typeface="Open Sans"/>
                <a:sym typeface="Open Sans"/>
              </a:rPr>
              <a:t>Demostración</a:t>
            </a:r>
          </a:p>
          <a:p>
            <a:pPr algn="ctr">
              <a:lnSpc>
                <a:spcPts val="2592"/>
              </a:lnSpc>
            </a:pPr>
            <a:r>
              <a:rPr lang="en-US" sz="2160">
                <a:solidFill>
                  <a:srgbClr val="506A7C"/>
                </a:solidFill>
                <a:latin typeface="Open Sans"/>
                <a:ea typeface="Open Sans"/>
                <a:cs typeface="Open Sans"/>
                <a:sym typeface="Open Sans"/>
              </a:rPr>
              <a:t>académica</a:t>
            </a:r>
          </a:p>
        </p:txBody>
      </p:sp>
      <p:sp>
        <p:nvSpPr>
          <p:cNvPr name="TextBox 79" id="79"/>
          <p:cNvSpPr txBox="true"/>
          <p:nvPr/>
        </p:nvSpPr>
        <p:spPr>
          <a:xfrm rot="0">
            <a:off x="914400" y="8732520"/>
            <a:ext cx="15544800" cy="560070"/>
          </a:xfrm>
          <a:prstGeom prst="rect">
            <a:avLst/>
          </a:prstGeom>
        </p:spPr>
        <p:txBody>
          <a:bodyPr anchor="t" rtlCol="false" tIns="0" lIns="0" bIns="0" rIns="0">
            <a:spAutoFit/>
          </a:bodyPr>
          <a:lstStyle/>
          <a:p>
            <a:pPr algn="l">
              <a:lnSpc>
                <a:spcPts val="3564"/>
              </a:lnSpc>
            </a:pPr>
            <a:r>
              <a:rPr lang="en-US" sz="2970" b="true">
                <a:solidFill>
                  <a:srgbClr val="122A3D"/>
                </a:solidFill>
                <a:latin typeface="Open Sans Bold"/>
                <a:ea typeface="Open Sans Bold"/>
                <a:cs typeface="Open Sans Bold"/>
                <a:sym typeface="Open Sans Bold"/>
              </a:rPr>
              <a:t>Revisión de entregables antes de avanzar</a:t>
            </a:r>
          </a:p>
        </p:txBody>
      </p:sp>
      <p:sp>
        <p:nvSpPr>
          <p:cNvPr name="TextBox 80" id="80"/>
          <p:cNvSpPr txBox="true"/>
          <p:nvPr/>
        </p:nvSpPr>
        <p:spPr>
          <a:xfrm rot="0">
            <a:off x="914400" y="9326880"/>
            <a:ext cx="15544800" cy="434340"/>
          </a:xfrm>
          <a:prstGeom prst="rect">
            <a:avLst/>
          </a:prstGeom>
        </p:spPr>
        <p:txBody>
          <a:bodyPr anchor="t" rtlCol="false" tIns="0" lIns="0" bIns="0" rIns="0">
            <a:spAutoFit/>
          </a:bodyPr>
          <a:lstStyle/>
          <a:p>
            <a:pPr algn="l">
              <a:lnSpc>
                <a:spcPts val="2700"/>
              </a:lnSpc>
            </a:pPr>
            <a:r>
              <a:rPr lang="en-US" sz="2250">
                <a:solidFill>
                  <a:srgbClr val="506A7C"/>
                </a:solidFill>
                <a:latin typeface="Open Sans"/>
                <a:ea typeface="Open Sans"/>
                <a:cs typeface="Open Sans"/>
                <a:sym typeface="Open Sans"/>
              </a:rPr>
              <a:t>Comprobar criterios y registrar observaciones. Documentación transversal.</a:t>
            </a:r>
          </a:p>
        </p:txBody>
      </p:sp>
      <p:sp>
        <p:nvSpPr>
          <p:cNvPr name="TextBox 81" id="81"/>
          <p:cNvSpPr txBox="true"/>
          <p:nvPr/>
        </p:nvSpPr>
        <p:spPr>
          <a:xfrm rot="0">
            <a:off x="914400" y="9806940"/>
            <a:ext cx="15544800" cy="354330"/>
          </a:xfrm>
          <a:prstGeom prst="rect">
            <a:avLst/>
          </a:prstGeom>
        </p:spPr>
        <p:txBody>
          <a:bodyPr anchor="t" rtlCol="false" tIns="0" lIns="0" bIns="0" rIns="0">
            <a:spAutoFit/>
          </a:bodyPr>
          <a:lstStyle/>
          <a:p>
            <a:pPr algn="l">
              <a:lnSpc>
                <a:spcPts val="2375"/>
              </a:lnSpc>
            </a:pPr>
            <a:r>
              <a:rPr lang="en-US" sz="1979">
                <a:solidFill>
                  <a:srgbClr val="1765C1"/>
                </a:solidFill>
                <a:latin typeface="Open Sans"/>
                <a:ea typeface="Open Sans"/>
                <a:cs typeface="Open Sans"/>
                <a:sym typeface="Open Sans"/>
              </a:rPr>
              <a:t>Control de cambios: requisito afectado, impacto y evidencia actualizada</a:t>
            </a:r>
          </a:p>
        </p:txBody>
      </p:sp>
      <p:grpSp>
        <p:nvGrpSpPr>
          <p:cNvPr name="Group 82" id="82"/>
          <p:cNvGrpSpPr/>
          <p:nvPr/>
        </p:nvGrpSpPr>
        <p:grpSpPr>
          <a:xfrm rot="0">
            <a:off x="16787812" y="9572625"/>
            <a:ext cx="642938" cy="357188"/>
            <a:chOff x="0" y="0"/>
            <a:chExt cx="857250" cy="476250"/>
          </a:xfrm>
        </p:grpSpPr>
        <p:sp>
          <p:nvSpPr>
            <p:cNvPr name="Freeform 83" id="83"/>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84" id="84"/>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10</a:t>
              </a:r>
            </a:p>
          </p:txBody>
        </p:sp>
      </p:grpSp>
      <p:grpSp>
        <p:nvGrpSpPr>
          <p:cNvPr name="Group 85" id="85"/>
          <p:cNvGrpSpPr/>
          <p:nvPr/>
        </p:nvGrpSpPr>
        <p:grpSpPr>
          <a:xfrm rot="0">
            <a:off x="14360804" y="430782"/>
            <a:ext cx="3069946" cy="852936"/>
            <a:chOff x="0" y="0"/>
            <a:chExt cx="2799232" cy="777723"/>
          </a:xfrm>
        </p:grpSpPr>
        <p:sp>
          <p:nvSpPr>
            <p:cNvPr name="Freeform 86" id="86"/>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86" t="0" r="-386" b="0"/>
            </a:stretch>
          </a:blipFill>
        </p:spPr>
      </p:sp>
      <p:sp>
        <p:nvSpPr>
          <p:cNvPr name="TextBox 3" id="3"/>
          <p:cNvSpPr txBox="true"/>
          <p:nvPr/>
        </p:nvSpPr>
        <p:spPr>
          <a:xfrm rot="0">
            <a:off x="914400" y="742950"/>
            <a:ext cx="16459200" cy="1017270"/>
          </a:xfrm>
          <a:prstGeom prst="rect">
            <a:avLst/>
          </a:prstGeom>
        </p:spPr>
        <p:txBody>
          <a:bodyPr anchor="t" rtlCol="false" tIns="0" lIns="0" bIns="0" rIns="0">
            <a:spAutoFit/>
          </a:bodyPr>
          <a:lstStyle/>
          <a:p>
            <a:pPr algn="l">
              <a:lnSpc>
                <a:spcPts val="6480"/>
              </a:lnSpc>
            </a:pPr>
            <a:r>
              <a:rPr lang="en-US" sz="5400" b="true">
                <a:solidFill>
                  <a:srgbClr val="122A3D"/>
                </a:solidFill>
                <a:latin typeface="Open Sans Bold"/>
                <a:ea typeface="Open Sans Bold"/>
                <a:cs typeface="Open Sans Bold"/>
                <a:sym typeface="Open Sans Bold"/>
              </a:rPr>
              <a:t>Cronograma en cascada</a:t>
            </a:r>
          </a:p>
        </p:txBody>
      </p:sp>
      <p:sp>
        <p:nvSpPr>
          <p:cNvPr name="TextBox 4" id="4"/>
          <p:cNvSpPr txBox="true"/>
          <p:nvPr/>
        </p:nvSpPr>
        <p:spPr>
          <a:xfrm rot="0">
            <a:off x="914400" y="1885950"/>
            <a:ext cx="12801600" cy="419100"/>
          </a:xfrm>
          <a:prstGeom prst="rect">
            <a:avLst/>
          </a:prstGeom>
        </p:spPr>
        <p:txBody>
          <a:bodyPr anchor="t" rtlCol="false" tIns="0" lIns="0" bIns="0" rIns="0">
            <a:spAutoFit/>
          </a:bodyPr>
          <a:lstStyle/>
          <a:p>
            <a:pPr algn="l">
              <a:lnSpc>
                <a:spcPts val="3348"/>
              </a:lnSpc>
            </a:pPr>
            <a:r>
              <a:rPr lang="en-US" sz="2790" b="true">
                <a:solidFill>
                  <a:srgbClr val="1765C1"/>
                </a:solidFill>
                <a:latin typeface="Open Sans Bold"/>
                <a:ea typeface="Open Sans Bold"/>
                <a:cs typeface="Open Sans Bold"/>
                <a:sym typeface="Open Sans Bold"/>
              </a:rPr>
              <a:t>Propuesta de validación del equipo</a:t>
            </a:r>
          </a:p>
        </p:txBody>
      </p:sp>
      <p:sp>
        <p:nvSpPr>
          <p:cNvPr name="TextBox 5" id="5"/>
          <p:cNvSpPr txBox="true"/>
          <p:nvPr/>
        </p:nvSpPr>
        <p:spPr>
          <a:xfrm rot="0">
            <a:off x="914400" y="2720340"/>
            <a:ext cx="4686300" cy="411480"/>
          </a:xfrm>
          <a:prstGeom prst="rect">
            <a:avLst/>
          </a:prstGeom>
        </p:spPr>
        <p:txBody>
          <a:bodyPr anchor="t" rtlCol="false" tIns="0" lIns="0" bIns="0" rIns="0">
            <a:spAutoFit/>
          </a:bodyPr>
          <a:lstStyle/>
          <a:p>
            <a:pPr algn="l">
              <a:lnSpc>
                <a:spcPts val="2915"/>
              </a:lnSpc>
            </a:pPr>
            <a:r>
              <a:rPr lang="en-US" sz="2429" b="true">
                <a:solidFill>
                  <a:srgbClr val="122A3D"/>
                </a:solidFill>
                <a:latin typeface="Open Sans Bold"/>
                <a:ea typeface="Open Sans Bold"/>
                <a:cs typeface="Open Sans Bold"/>
                <a:sym typeface="Open Sans Bold"/>
              </a:rPr>
              <a:t>Actividad</a:t>
            </a:r>
          </a:p>
        </p:txBody>
      </p:sp>
      <p:sp>
        <p:nvSpPr>
          <p:cNvPr name="TextBox 6" id="6"/>
          <p:cNvSpPr txBox="true"/>
          <p:nvPr/>
        </p:nvSpPr>
        <p:spPr>
          <a:xfrm rot="0">
            <a:off x="5715000" y="2592705"/>
            <a:ext cx="11315700" cy="367665"/>
          </a:xfrm>
          <a:prstGeom prst="rect">
            <a:avLst/>
          </a:prstGeom>
        </p:spPr>
        <p:txBody>
          <a:bodyPr anchor="t" rtlCol="false" tIns="0" lIns="0" bIns="0" rIns="0">
            <a:spAutoFit/>
          </a:bodyPr>
          <a:lstStyle/>
          <a:p>
            <a:pPr algn="ctr">
              <a:lnSpc>
                <a:spcPts val="2484"/>
              </a:lnSpc>
            </a:pPr>
            <a:r>
              <a:rPr lang="en-US" sz="2070">
                <a:solidFill>
                  <a:srgbClr val="506A7C"/>
                </a:solidFill>
                <a:latin typeface="Open Sans"/>
                <a:ea typeface="Open Sans"/>
                <a:cs typeface="Open Sans"/>
                <a:sym typeface="Open Sans"/>
              </a:rPr>
              <a:t>Semana académica</a:t>
            </a:r>
          </a:p>
        </p:txBody>
      </p:sp>
      <p:graphicFrame>
        <p:nvGraphicFramePr>
          <p:cNvPr name="Table 7" id="7"/>
          <p:cNvGraphicFramePr>
            <a:graphicFrameLocks noGrp="true"/>
          </p:cNvGraphicFramePr>
          <p:nvPr/>
        </p:nvGraphicFramePr>
        <p:xfrm>
          <a:off x="914400" y="3200400"/>
          <a:ext cx="16116300" cy="4799891"/>
        </p:xfrm>
        <a:graphic>
          <a:graphicData uri="http://schemas.openxmlformats.org/drawingml/2006/table">
            <a:tbl>
              <a:tblPr/>
              <a:tblGrid>
                <a:gridCol w="4755506"/>
                <a:gridCol w="627659"/>
                <a:gridCol w="627659"/>
                <a:gridCol w="627659"/>
                <a:gridCol w="627659"/>
                <a:gridCol w="627659"/>
                <a:gridCol w="627659"/>
                <a:gridCol w="627659"/>
                <a:gridCol w="627659"/>
                <a:gridCol w="627659"/>
                <a:gridCol w="627659"/>
                <a:gridCol w="627659"/>
                <a:gridCol w="627659"/>
                <a:gridCol w="627659"/>
                <a:gridCol w="627659"/>
                <a:gridCol w="627659"/>
                <a:gridCol w="627659"/>
                <a:gridCol w="627659"/>
                <a:gridCol w="690584"/>
              </a:tblGrid>
              <a:tr h="686509">
                <a:tc>
                  <a:txBody>
                    <a:bodyPr anchor="t" rtlCol="false"/>
                    <a:lstStyle/>
                    <a:p>
                      <a:pPr algn="l">
                        <a:lnSpc>
                          <a:spcPts val="1679"/>
                        </a:lnSpc>
                        <a:defRPr/>
                      </a:pP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9</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11</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13</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14</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15</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17</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c>
                  <a:txBody>
                    <a:bodyPr anchor="t" rtlCol="false"/>
                    <a:lstStyle/>
                    <a:p>
                      <a:pPr algn="ctr">
                        <a:lnSpc>
                          <a:spcPts val="2592"/>
                        </a:lnSpc>
                        <a:defRPr/>
                      </a:pPr>
                      <a:r>
                        <a:rPr lang="en-US" sz="2160" b="true">
                          <a:solidFill>
                            <a:srgbClr val="FFFFFF"/>
                          </a:solidFill>
                          <a:latin typeface="Open Sans Bold"/>
                          <a:ea typeface="Open Sans Bold"/>
                          <a:cs typeface="Open Sans Bold"/>
                          <a:sym typeface="Open Sans Bold"/>
                        </a:rPr>
                        <a:t>18</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0D1B2A"/>
                    </a:solidFill>
                  </a:tcPr>
                </a:tc>
              </a:tr>
              <a:tr h="686509">
                <a:tc>
                  <a:txBody>
                    <a:bodyPr anchor="t" rtlCol="false"/>
                    <a:lstStyle/>
                    <a:p>
                      <a:pPr algn="l">
                        <a:lnSpc>
                          <a:spcPts val="2700"/>
                        </a:lnSpc>
                        <a:defRPr/>
                      </a:pPr>
                      <a:r>
                        <a:rPr lang="en-US" sz="2250">
                          <a:solidFill>
                            <a:srgbClr val="122A3D"/>
                          </a:solidFill>
                          <a:latin typeface="Open Sans"/>
                          <a:ea typeface="Open Sans"/>
                          <a:cs typeface="Open Sans"/>
                          <a:sym typeface="Open Sans"/>
                        </a:rPr>
                        <a:t>Requisitos y planificación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r>
              <a:tr h="686509">
                <a:tc>
                  <a:txBody>
                    <a:bodyPr anchor="t" rtlCol="false"/>
                    <a:lstStyle/>
                    <a:p>
                      <a:pPr algn="l">
                        <a:lnSpc>
                          <a:spcPts val="2700"/>
                        </a:lnSpc>
                        <a:defRPr/>
                      </a:pPr>
                      <a:r>
                        <a:rPr lang="en-US" sz="2250">
                          <a:solidFill>
                            <a:srgbClr val="122A3D"/>
                          </a:solidFill>
                          <a:latin typeface="Open Sans"/>
                          <a:ea typeface="Open Sans"/>
                          <a:cs typeface="Open Sans"/>
                          <a:sym typeface="Open Sans"/>
                        </a:rPr>
                        <a:t>Diseño de arquitectura y datos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r>
              <a:tr h="686509">
                <a:tc>
                  <a:txBody>
                    <a:bodyPr anchor="t" rtlCol="false"/>
                    <a:lstStyle/>
                    <a:p>
                      <a:pPr algn="l">
                        <a:lnSpc>
                          <a:spcPts val="2700"/>
                        </a:lnSpc>
                        <a:defRPr/>
                      </a:pPr>
                      <a:r>
                        <a:rPr lang="en-US" sz="2250">
                          <a:solidFill>
                            <a:srgbClr val="122A3D"/>
                          </a:solidFill>
                          <a:latin typeface="Open Sans"/>
                          <a:ea typeface="Open Sans"/>
                          <a:cs typeface="Open Sans"/>
                          <a:sym typeface="Open Sans"/>
                        </a:rPr>
                        <a:t>Implementación backend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r>
              <a:tr h="686509">
                <a:tc>
                  <a:txBody>
                    <a:bodyPr anchor="t" rtlCol="false"/>
                    <a:lstStyle/>
                    <a:p>
                      <a:pPr algn="l">
                        <a:lnSpc>
                          <a:spcPts val="2700"/>
                        </a:lnSpc>
                        <a:defRPr/>
                      </a:pPr>
                      <a:r>
                        <a:rPr lang="en-US" sz="2250">
                          <a:solidFill>
                            <a:srgbClr val="122A3D"/>
                          </a:solidFill>
                          <a:latin typeface="Open Sans"/>
                          <a:ea typeface="Open Sans"/>
                          <a:cs typeface="Open Sans"/>
                          <a:sym typeface="Open Sans"/>
                        </a:rPr>
                        <a:t>Implementación web y móvil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FFFFF"/>
                    </a:solidFill>
                  </a:tcPr>
                </a:tc>
              </a:tr>
              <a:tr h="686509">
                <a:tc>
                  <a:txBody>
                    <a:bodyPr anchor="t" rtlCol="false"/>
                    <a:lstStyle/>
                    <a:p>
                      <a:pPr algn="l">
                        <a:lnSpc>
                          <a:spcPts val="2700"/>
                        </a:lnSpc>
                        <a:defRPr/>
                      </a:pPr>
                      <a:r>
                        <a:rPr lang="en-US" sz="2250">
                          <a:solidFill>
                            <a:srgbClr val="122A3D"/>
                          </a:solidFill>
                          <a:latin typeface="Open Sans"/>
                          <a:ea typeface="Open Sans"/>
                          <a:cs typeface="Open Sans"/>
                          <a:sym typeface="Open Sans"/>
                        </a:rPr>
                        <a:t>Pruebas y validación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3">
                      <a:solidFill>
                        <a:srgbClr val="FFFFFF"/>
                      </a:solidFill>
                      <a:prstDash val="solid"/>
                      <a:round/>
                      <a:headEnd type="none" w="med" len="med"/>
                      <a:tailEnd type="none" w="med" len="med"/>
                    </a:lnB>
                    <a:solidFill>
                      <a:srgbClr val="F5F8FB"/>
                    </a:solidFill>
                  </a:tcPr>
                </a:tc>
              </a:tr>
              <a:tr h="680835">
                <a:tc>
                  <a:txBody>
                    <a:bodyPr anchor="t" rtlCol="false"/>
                    <a:lstStyle/>
                    <a:p>
                      <a:pPr algn="l">
                        <a:lnSpc>
                          <a:spcPts val="2700"/>
                        </a:lnSpc>
                        <a:defRPr/>
                      </a:pPr>
                      <a:r>
                        <a:rPr lang="en-US" sz="2250">
                          <a:solidFill>
                            <a:srgbClr val="122A3D"/>
                          </a:solidFill>
                          <a:latin typeface="Open Sans"/>
                          <a:ea typeface="Open Sans"/>
                          <a:cs typeface="Open Sans"/>
                          <a:sym typeface="Open Sans"/>
                        </a:rPr>
                        <a:t>Documentación y cambios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3">
                      <a:solidFill>
                        <a:srgbClr val="FFFFFF"/>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8FB"/>
                    </a:solidFill>
                  </a:tcPr>
                </a:tc>
              </a:tr>
            </a:tbl>
          </a:graphicData>
        </a:graphic>
      </p:graphicFrame>
      <p:grpSp>
        <p:nvGrpSpPr>
          <p:cNvPr name="Group 8" id="8"/>
          <p:cNvGrpSpPr/>
          <p:nvPr/>
        </p:nvGrpSpPr>
        <p:grpSpPr>
          <a:xfrm rot="0">
            <a:off x="5726430" y="4034790"/>
            <a:ext cx="2491740" cy="388620"/>
            <a:chOff x="0" y="0"/>
            <a:chExt cx="3322320" cy="518160"/>
          </a:xfrm>
        </p:grpSpPr>
        <p:sp>
          <p:nvSpPr>
            <p:cNvPr name="Freeform 9" id="9"/>
            <p:cNvSpPr/>
            <p:nvPr/>
          </p:nvSpPr>
          <p:spPr>
            <a:xfrm flipH="false" flipV="false" rot="0">
              <a:off x="0" y="0"/>
              <a:ext cx="3322320" cy="518160"/>
            </a:xfrm>
            <a:custGeom>
              <a:avLst/>
              <a:gdLst/>
              <a:ahLst/>
              <a:cxnLst/>
              <a:rect r="r" b="b" t="t" l="l"/>
              <a:pathLst>
                <a:path h="518160" w="3322320">
                  <a:moveTo>
                    <a:pt x="0" y="0"/>
                  </a:moveTo>
                  <a:lnTo>
                    <a:pt x="3322320" y="0"/>
                  </a:lnTo>
                  <a:lnTo>
                    <a:pt x="3322320" y="518160"/>
                  </a:lnTo>
                  <a:lnTo>
                    <a:pt x="0" y="518160"/>
                  </a:lnTo>
                  <a:close/>
                </a:path>
              </a:pathLst>
            </a:custGeom>
            <a:solidFill>
              <a:srgbClr val="00B3B5"/>
            </a:solidFill>
          </p:spPr>
        </p:sp>
      </p:grpSp>
      <p:grpSp>
        <p:nvGrpSpPr>
          <p:cNvPr name="Group 10" id="10"/>
          <p:cNvGrpSpPr/>
          <p:nvPr/>
        </p:nvGrpSpPr>
        <p:grpSpPr>
          <a:xfrm rot="0">
            <a:off x="8241030" y="4720590"/>
            <a:ext cx="1234440" cy="388620"/>
            <a:chOff x="0" y="0"/>
            <a:chExt cx="1645920" cy="518160"/>
          </a:xfrm>
        </p:grpSpPr>
        <p:sp>
          <p:nvSpPr>
            <p:cNvPr name="Freeform 11" id="11"/>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12" id="12"/>
          <p:cNvGrpSpPr/>
          <p:nvPr/>
        </p:nvGrpSpPr>
        <p:grpSpPr>
          <a:xfrm rot="0">
            <a:off x="9498330" y="5406390"/>
            <a:ext cx="4377690" cy="388620"/>
            <a:chOff x="0" y="0"/>
            <a:chExt cx="5836920" cy="518160"/>
          </a:xfrm>
        </p:grpSpPr>
        <p:sp>
          <p:nvSpPr>
            <p:cNvPr name="Freeform 13" id="13"/>
            <p:cNvSpPr/>
            <p:nvPr/>
          </p:nvSpPr>
          <p:spPr>
            <a:xfrm flipH="false" flipV="false" rot="0">
              <a:off x="0" y="0"/>
              <a:ext cx="5836920" cy="518160"/>
            </a:xfrm>
            <a:custGeom>
              <a:avLst/>
              <a:gdLst/>
              <a:ahLst/>
              <a:cxnLst/>
              <a:rect r="r" b="b" t="t" l="l"/>
              <a:pathLst>
                <a:path h="518160" w="5836920">
                  <a:moveTo>
                    <a:pt x="0" y="0"/>
                  </a:moveTo>
                  <a:lnTo>
                    <a:pt x="5836920" y="0"/>
                  </a:lnTo>
                  <a:lnTo>
                    <a:pt x="5836920" y="518160"/>
                  </a:lnTo>
                  <a:lnTo>
                    <a:pt x="0" y="518160"/>
                  </a:lnTo>
                  <a:close/>
                </a:path>
              </a:pathLst>
            </a:custGeom>
            <a:solidFill>
              <a:srgbClr val="1765C1"/>
            </a:solidFill>
          </p:spPr>
        </p:sp>
      </p:grpSp>
      <p:grpSp>
        <p:nvGrpSpPr>
          <p:cNvPr name="Group 14" id="14"/>
          <p:cNvGrpSpPr/>
          <p:nvPr/>
        </p:nvGrpSpPr>
        <p:grpSpPr>
          <a:xfrm rot="0">
            <a:off x="9498330" y="6092190"/>
            <a:ext cx="4377690" cy="388620"/>
            <a:chOff x="0" y="0"/>
            <a:chExt cx="5836920" cy="518160"/>
          </a:xfrm>
        </p:grpSpPr>
        <p:sp>
          <p:nvSpPr>
            <p:cNvPr name="Freeform 15" id="15"/>
            <p:cNvSpPr/>
            <p:nvPr/>
          </p:nvSpPr>
          <p:spPr>
            <a:xfrm flipH="false" flipV="false" rot="0">
              <a:off x="0" y="0"/>
              <a:ext cx="5836920" cy="518160"/>
            </a:xfrm>
            <a:custGeom>
              <a:avLst/>
              <a:gdLst/>
              <a:ahLst/>
              <a:cxnLst/>
              <a:rect r="r" b="b" t="t" l="l"/>
              <a:pathLst>
                <a:path h="518160" w="5836920">
                  <a:moveTo>
                    <a:pt x="0" y="0"/>
                  </a:moveTo>
                  <a:lnTo>
                    <a:pt x="5836920" y="0"/>
                  </a:lnTo>
                  <a:lnTo>
                    <a:pt x="5836920" y="518160"/>
                  </a:lnTo>
                  <a:lnTo>
                    <a:pt x="0" y="518160"/>
                  </a:lnTo>
                  <a:close/>
                </a:path>
              </a:pathLst>
            </a:custGeom>
            <a:solidFill>
              <a:srgbClr val="1765C1"/>
            </a:solidFill>
          </p:spPr>
        </p:sp>
      </p:grpSp>
      <p:grpSp>
        <p:nvGrpSpPr>
          <p:cNvPr name="Group 16" id="16"/>
          <p:cNvGrpSpPr/>
          <p:nvPr/>
        </p:nvGrpSpPr>
        <p:grpSpPr>
          <a:xfrm rot="0">
            <a:off x="13898880" y="6777990"/>
            <a:ext cx="1234440" cy="388620"/>
            <a:chOff x="0" y="0"/>
            <a:chExt cx="1645920" cy="518160"/>
          </a:xfrm>
        </p:grpSpPr>
        <p:sp>
          <p:nvSpPr>
            <p:cNvPr name="Freeform 17" id="17"/>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18" id="18"/>
          <p:cNvGrpSpPr/>
          <p:nvPr/>
        </p:nvGrpSpPr>
        <p:grpSpPr>
          <a:xfrm rot="0">
            <a:off x="15156180" y="7463790"/>
            <a:ext cx="1863090" cy="388620"/>
            <a:chOff x="0" y="0"/>
            <a:chExt cx="2484120" cy="518160"/>
          </a:xfrm>
        </p:grpSpPr>
        <p:sp>
          <p:nvSpPr>
            <p:cNvPr name="Freeform 19" id="19"/>
            <p:cNvSpPr/>
            <p:nvPr/>
          </p:nvSpPr>
          <p:spPr>
            <a:xfrm flipH="false" flipV="false" rot="0">
              <a:off x="0" y="0"/>
              <a:ext cx="2484120" cy="518160"/>
            </a:xfrm>
            <a:custGeom>
              <a:avLst/>
              <a:gdLst/>
              <a:ahLst/>
              <a:cxnLst/>
              <a:rect r="r" b="b" t="t" l="l"/>
              <a:pathLst>
                <a:path h="518160" w="2484120">
                  <a:moveTo>
                    <a:pt x="0" y="0"/>
                  </a:moveTo>
                  <a:lnTo>
                    <a:pt x="2484120" y="0"/>
                  </a:lnTo>
                  <a:lnTo>
                    <a:pt x="2484120" y="518160"/>
                  </a:lnTo>
                  <a:lnTo>
                    <a:pt x="0" y="518160"/>
                  </a:lnTo>
                  <a:close/>
                </a:path>
              </a:pathLst>
            </a:custGeom>
            <a:solidFill>
              <a:srgbClr val="00B3B5"/>
            </a:solidFill>
          </p:spPr>
        </p:sp>
      </p:grpSp>
      <p:grpSp>
        <p:nvGrpSpPr>
          <p:cNvPr name="Group 20" id="20"/>
          <p:cNvGrpSpPr/>
          <p:nvPr/>
        </p:nvGrpSpPr>
        <p:grpSpPr>
          <a:xfrm rot="0">
            <a:off x="5726430" y="7463790"/>
            <a:ext cx="11292840" cy="388620"/>
            <a:chOff x="0" y="0"/>
            <a:chExt cx="15057120" cy="518160"/>
          </a:xfrm>
        </p:grpSpPr>
        <p:sp>
          <p:nvSpPr>
            <p:cNvPr name="Freeform 21" id="21"/>
            <p:cNvSpPr/>
            <p:nvPr/>
          </p:nvSpPr>
          <p:spPr>
            <a:xfrm flipH="false" flipV="false" rot="0">
              <a:off x="0" y="0"/>
              <a:ext cx="15057120" cy="518160"/>
            </a:xfrm>
            <a:custGeom>
              <a:avLst/>
              <a:gdLst/>
              <a:ahLst/>
              <a:cxnLst/>
              <a:rect r="r" b="b" t="t" l="l"/>
              <a:pathLst>
                <a:path h="518160" w="15057120">
                  <a:moveTo>
                    <a:pt x="0" y="0"/>
                  </a:moveTo>
                  <a:lnTo>
                    <a:pt x="15057120" y="0"/>
                  </a:lnTo>
                  <a:lnTo>
                    <a:pt x="15057120" y="518160"/>
                  </a:lnTo>
                  <a:lnTo>
                    <a:pt x="0" y="518160"/>
                  </a:lnTo>
                  <a:close/>
                </a:path>
              </a:pathLst>
            </a:custGeom>
            <a:solidFill>
              <a:srgbClr val="89D7D5"/>
            </a:solidFill>
          </p:spPr>
        </p:sp>
      </p:grpSp>
      <p:grpSp>
        <p:nvGrpSpPr>
          <p:cNvPr name="Group 22" id="22"/>
          <p:cNvGrpSpPr/>
          <p:nvPr/>
        </p:nvGrpSpPr>
        <p:grpSpPr>
          <a:xfrm rot="0">
            <a:off x="8218170" y="3200400"/>
            <a:ext cx="22860" cy="4800600"/>
            <a:chOff x="0" y="0"/>
            <a:chExt cx="30480" cy="6400800"/>
          </a:xfrm>
        </p:grpSpPr>
        <p:sp>
          <p:nvSpPr>
            <p:cNvPr name="Freeform 23" id="23"/>
            <p:cNvSpPr/>
            <p:nvPr/>
          </p:nvSpPr>
          <p:spPr>
            <a:xfrm flipH="false" flipV="false" rot="0">
              <a:off x="0" y="0"/>
              <a:ext cx="30480" cy="6400800"/>
            </a:xfrm>
            <a:custGeom>
              <a:avLst/>
              <a:gdLst/>
              <a:ahLst/>
              <a:cxnLst/>
              <a:rect r="r" b="b" t="t" l="l"/>
              <a:pathLst>
                <a:path h="6400800" w="30480">
                  <a:moveTo>
                    <a:pt x="0" y="0"/>
                  </a:moveTo>
                  <a:lnTo>
                    <a:pt x="30480" y="0"/>
                  </a:lnTo>
                  <a:lnTo>
                    <a:pt x="30480" y="6400800"/>
                  </a:lnTo>
                  <a:lnTo>
                    <a:pt x="0" y="6400800"/>
                  </a:lnTo>
                  <a:close/>
                </a:path>
              </a:pathLst>
            </a:custGeom>
            <a:solidFill>
              <a:srgbClr val="CDDCE5"/>
            </a:solidFill>
          </p:spPr>
        </p:sp>
      </p:grpSp>
      <p:grpSp>
        <p:nvGrpSpPr>
          <p:cNvPr name="Group 24" id="24"/>
          <p:cNvGrpSpPr/>
          <p:nvPr/>
        </p:nvGrpSpPr>
        <p:grpSpPr>
          <a:xfrm rot="0">
            <a:off x="9475470" y="3200400"/>
            <a:ext cx="22860" cy="4800600"/>
            <a:chOff x="0" y="0"/>
            <a:chExt cx="30480" cy="6400800"/>
          </a:xfrm>
        </p:grpSpPr>
        <p:sp>
          <p:nvSpPr>
            <p:cNvPr name="Freeform 25" id="25"/>
            <p:cNvSpPr/>
            <p:nvPr/>
          </p:nvSpPr>
          <p:spPr>
            <a:xfrm flipH="false" flipV="false" rot="0">
              <a:off x="0" y="0"/>
              <a:ext cx="30480" cy="6400800"/>
            </a:xfrm>
            <a:custGeom>
              <a:avLst/>
              <a:gdLst/>
              <a:ahLst/>
              <a:cxnLst/>
              <a:rect r="r" b="b" t="t" l="l"/>
              <a:pathLst>
                <a:path h="6400800" w="30480">
                  <a:moveTo>
                    <a:pt x="0" y="0"/>
                  </a:moveTo>
                  <a:lnTo>
                    <a:pt x="30480" y="0"/>
                  </a:lnTo>
                  <a:lnTo>
                    <a:pt x="30480" y="6400800"/>
                  </a:lnTo>
                  <a:lnTo>
                    <a:pt x="0" y="6400800"/>
                  </a:lnTo>
                  <a:close/>
                </a:path>
              </a:pathLst>
            </a:custGeom>
            <a:solidFill>
              <a:srgbClr val="CDDCE5"/>
            </a:solidFill>
          </p:spPr>
        </p:sp>
      </p:grpSp>
      <p:grpSp>
        <p:nvGrpSpPr>
          <p:cNvPr name="Group 26" id="26"/>
          <p:cNvGrpSpPr/>
          <p:nvPr/>
        </p:nvGrpSpPr>
        <p:grpSpPr>
          <a:xfrm rot="0">
            <a:off x="13876020" y="3200400"/>
            <a:ext cx="22860" cy="4800600"/>
            <a:chOff x="0" y="0"/>
            <a:chExt cx="30480" cy="6400800"/>
          </a:xfrm>
        </p:grpSpPr>
        <p:sp>
          <p:nvSpPr>
            <p:cNvPr name="Freeform 27" id="27"/>
            <p:cNvSpPr/>
            <p:nvPr/>
          </p:nvSpPr>
          <p:spPr>
            <a:xfrm flipH="false" flipV="false" rot="0">
              <a:off x="0" y="0"/>
              <a:ext cx="30480" cy="6400800"/>
            </a:xfrm>
            <a:custGeom>
              <a:avLst/>
              <a:gdLst/>
              <a:ahLst/>
              <a:cxnLst/>
              <a:rect r="r" b="b" t="t" l="l"/>
              <a:pathLst>
                <a:path h="6400800" w="30480">
                  <a:moveTo>
                    <a:pt x="0" y="0"/>
                  </a:moveTo>
                  <a:lnTo>
                    <a:pt x="30480" y="0"/>
                  </a:lnTo>
                  <a:lnTo>
                    <a:pt x="30480" y="6400800"/>
                  </a:lnTo>
                  <a:lnTo>
                    <a:pt x="0" y="6400800"/>
                  </a:lnTo>
                  <a:close/>
                </a:path>
              </a:pathLst>
            </a:custGeom>
            <a:solidFill>
              <a:srgbClr val="CDDCE5"/>
            </a:solidFill>
          </p:spPr>
        </p:sp>
      </p:grpSp>
      <p:grpSp>
        <p:nvGrpSpPr>
          <p:cNvPr name="Group 28" id="28"/>
          <p:cNvGrpSpPr/>
          <p:nvPr/>
        </p:nvGrpSpPr>
        <p:grpSpPr>
          <a:xfrm rot="0">
            <a:off x="15133320" y="3200400"/>
            <a:ext cx="22860" cy="4800600"/>
            <a:chOff x="0" y="0"/>
            <a:chExt cx="30480" cy="6400800"/>
          </a:xfrm>
        </p:grpSpPr>
        <p:sp>
          <p:nvSpPr>
            <p:cNvPr name="Freeform 29" id="29"/>
            <p:cNvSpPr/>
            <p:nvPr/>
          </p:nvSpPr>
          <p:spPr>
            <a:xfrm flipH="false" flipV="false" rot="0">
              <a:off x="0" y="0"/>
              <a:ext cx="30480" cy="6400800"/>
            </a:xfrm>
            <a:custGeom>
              <a:avLst/>
              <a:gdLst/>
              <a:ahLst/>
              <a:cxnLst/>
              <a:rect r="r" b="b" t="t" l="l"/>
              <a:pathLst>
                <a:path h="6400800" w="30480">
                  <a:moveTo>
                    <a:pt x="0" y="0"/>
                  </a:moveTo>
                  <a:lnTo>
                    <a:pt x="30480" y="0"/>
                  </a:lnTo>
                  <a:lnTo>
                    <a:pt x="30480" y="6400800"/>
                  </a:lnTo>
                  <a:lnTo>
                    <a:pt x="0" y="6400800"/>
                  </a:lnTo>
                  <a:close/>
                </a:path>
              </a:pathLst>
            </a:custGeom>
            <a:solidFill>
              <a:srgbClr val="CDDCE5"/>
            </a:solidFill>
          </p:spPr>
        </p:sp>
      </p:grpSp>
      <p:sp>
        <p:nvSpPr>
          <p:cNvPr name="TextBox 30" id="30"/>
          <p:cNvSpPr txBox="true"/>
          <p:nvPr/>
        </p:nvSpPr>
        <p:spPr>
          <a:xfrm rot="0">
            <a:off x="914400" y="9031605"/>
            <a:ext cx="15887700" cy="501015"/>
          </a:xfrm>
          <a:prstGeom prst="rect">
            <a:avLst/>
          </a:prstGeom>
        </p:spPr>
        <p:txBody>
          <a:bodyPr anchor="t" rtlCol="false" tIns="0" lIns="0" bIns="0" rIns="0">
            <a:spAutoFit/>
          </a:bodyPr>
          <a:lstStyle/>
          <a:p>
            <a:pPr algn="l">
              <a:lnSpc>
                <a:spcPts val="3240"/>
              </a:lnSpc>
            </a:pPr>
            <a:r>
              <a:rPr lang="en-US" sz="2700" b="true">
                <a:solidFill>
                  <a:srgbClr val="122A3D"/>
                </a:solidFill>
                <a:latin typeface="Open Sans Bold"/>
                <a:ea typeface="Open Sans Bold"/>
                <a:cs typeface="Open Sans Bold"/>
                <a:sym typeface="Open Sans Bold"/>
              </a:rPr>
              <a:t>Documentación y control de cambios durante las 18 semanas</a:t>
            </a:r>
          </a:p>
        </p:txBody>
      </p:sp>
      <p:grpSp>
        <p:nvGrpSpPr>
          <p:cNvPr name="Group 31" id="31"/>
          <p:cNvGrpSpPr/>
          <p:nvPr/>
        </p:nvGrpSpPr>
        <p:grpSpPr>
          <a:xfrm rot="0">
            <a:off x="914400" y="2468880"/>
            <a:ext cx="822960" cy="45720"/>
            <a:chOff x="0" y="0"/>
            <a:chExt cx="1097280" cy="60960"/>
          </a:xfrm>
        </p:grpSpPr>
        <p:sp>
          <p:nvSpPr>
            <p:cNvPr name="Freeform 32" id="32"/>
            <p:cNvSpPr/>
            <p:nvPr/>
          </p:nvSpPr>
          <p:spPr>
            <a:xfrm flipH="false" flipV="false" rot="0">
              <a:off x="0" y="0"/>
              <a:ext cx="1097280" cy="60960"/>
            </a:xfrm>
            <a:custGeom>
              <a:avLst/>
              <a:gdLst/>
              <a:ahLst/>
              <a:cxnLst/>
              <a:rect r="r" b="b" t="t" l="l"/>
              <a:pathLst>
                <a:path h="60960" w="1097280">
                  <a:moveTo>
                    <a:pt x="0" y="0"/>
                  </a:moveTo>
                  <a:lnTo>
                    <a:pt x="1097280" y="0"/>
                  </a:lnTo>
                  <a:lnTo>
                    <a:pt x="1097280" y="60960"/>
                  </a:lnTo>
                  <a:lnTo>
                    <a:pt x="0" y="60960"/>
                  </a:lnTo>
                  <a:close/>
                </a:path>
              </a:pathLst>
            </a:custGeom>
            <a:solidFill>
              <a:srgbClr val="00B3B5"/>
            </a:solidFill>
          </p:spPr>
        </p:sp>
      </p:grpSp>
      <p:grpSp>
        <p:nvGrpSpPr>
          <p:cNvPr name="Group 33" id="33"/>
          <p:cNvGrpSpPr/>
          <p:nvPr/>
        </p:nvGrpSpPr>
        <p:grpSpPr>
          <a:xfrm rot="0">
            <a:off x="7615204" y="5406390"/>
            <a:ext cx="4377690" cy="388620"/>
            <a:chOff x="0" y="0"/>
            <a:chExt cx="5836920" cy="518160"/>
          </a:xfrm>
        </p:grpSpPr>
        <p:sp>
          <p:nvSpPr>
            <p:cNvPr name="Freeform 34" id="34"/>
            <p:cNvSpPr/>
            <p:nvPr/>
          </p:nvSpPr>
          <p:spPr>
            <a:xfrm flipH="false" flipV="false" rot="0">
              <a:off x="0" y="0"/>
              <a:ext cx="5836920" cy="518160"/>
            </a:xfrm>
            <a:custGeom>
              <a:avLst/>
              <a:gdLst/>
              <a:ahLst/>
              <a:cxnLst/>
              <a:rect r="r" b="b" t="t" l="l"/>
              <a:pathLst>
                <a:path h="518160" w="5836920">
                  <a:moveTo>
                    <a:pt x="0" y="0"/>
                  </a:moveTo>
                  <a:lnTo>
                    <a:pt x="5836920" y="0"/>
                  </a:lnTo>
                  <a:lnTo>
                    <a:pt x="5836920" y="518160"/>
                  </a:lnTo>
                  <a:lnTo>
                    <a:pt x="0" y="518160"/>
                  </a:lnTo>
                  <a:close/>
                </a:path>
              </a:pathLst>
            </a:custGeom>
            <a:solidFill>
              <a:srgbClr val="1765C1"/>
            </a:solidFill>
          </p:spPr>
        </p:sp>
      </p:grpSp>
      <p:grpSp>
        <p:nvGrpSpPr>
          <p:cNvPr name="Group 35" id="35"/>
          <p:cNvGrpSpPr/>
          <p:nvPr/>
        </p:nvGrpSpPr>
        <p:grpSpPr>
          <a:xfrm rot="0">
            <a:off x="6995160" y="4720590"/>
            <a:ext cx="1234440" cy="388620"/>
            <a:chOff x="0" y="0"/>
            <a:chExt cx="1645920" cy="518160"/>
          </a:xfrm>
        </p:grpSpPr>
        <p:sp>
          <p:nvSpPr>
            <p:cNvPr name="Freeform 36" id="36"/>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37" id="37"/>
          <p:cNvGrpSpPr/>
          <p:nvPr/>
        </p:nvGrpSpPr>
        <p:grpSpPr>
          <a:xfrm rot="0">
            <a:off x="6380764" y="4720590"/>
            <a:ext cx="1234440" cy="388620"/>
            <a:chOff x="0" y="0"/>
            <a:chExt cx="1645920" cy="518160"/>
          </a:xfrm>
        </p:grpSpPr>
        <p:sp>
          <p:nvSpPr>
            <p:cNvPr name="Freeform 38" id="38"/>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39" id="39"/>
          <p:cNvGrpSpPr/>
          <p:nvPr/>
        </p:nvGrpSpPr>
        <p:grpSpPr>
          <a:xfrm rot="0">
            <a:off x="8260080" y="6090285"/>
            <a:ext cx="4377690" cy="388620"/>
            <a:chOff x="0" y="0"/>
            <a:chExt cx="5836920" cy="518160"/>
          </a:xfrm>
        </p:grpSpPr>
        <p:sp>
          <p:nvSpPr>
            <p:cNvPr name="Freeform 40" id="40"/>
            <p:cNvSpPr/>
            <p:nvPr/>
          </p:nvSpPr>
          <p:spPr>
            <a:xfrm flipH="false" flipV="false" rot="0">
              <a:off x="0" y="0"/>
              <a:ext cx="5836920" cy="518160"/>
            </a:xfrm>
            <a:custGeom>
              <a:avLst/>
              <a:gdLst/>
              <a:ahLst/>
              <a:cxnLst/>
              <a:rect r="r" b="b" t="t" l="l"/>
              <a:pathLst>
                <a:path h="518160" w="5836920">
                  <a:moveTo>
                    <a:pt x="0" y="0"/>
                  </a:moveTo>
                  <a:lnTo>
                    <a:pt x="5836920" y="0"/>
                  </a:lnTo>
                  <a:lnTo>
                    <a:pt x="5836920" y="518160"/>
                  </a:lnTo>
                  <a:lnTo>
                    <a:pt x="0" y="518160"/>
                  </a:lnTo>
                  <a:close/>
                </a:path>
              </a:pathLst>
            </a:custGeom>
            <a:solidFill>
              <a:srgbClr val="1765C1"/>
            </a:solidFill>
          </p:spPr>
        </p:sp>
      </p:grpSp>
      <p:grpSp>
        <p:nvGrpSpPr>
          <p:cNvPr name="Group 41" id="41"/>
          <p:cNvGrpSpPr/>
          <p:nvPr/>
        </p:nvGrpSpPr>
        <p:grpSpPr>
          <a:xfrm rot="0">
            <a:off x="12637770" y="6777990"/>
            <a:ext cx="1234440" cy="388620"/>
            <a:chOff x="0" y="0"/>
            <a:chExt cx="1645920" cy="518160"/>
          </a:xfrm>
        </p:grpSpPr>
        <p:sp>
          <p:nvSpPr>
            <p:cNvPr name="Freeform 42" id="42"/>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43" id="43"/>
          <p:cNvGrpSpPr/>
          <p:nvPr/>
        </p:nvGrpSpPr>
        <p:grpSpPr>
          <a:xfrm rot="0">
            <a:off x="11403330" y="6777990"/>
            <a:ext cx="1234440" cy="388620"/>
            <a:chOff x="0" y="0"/>
            <a:chExt cx="1645920" cy="518160"/>
          </a:xfrm>
        </p:grpSpPr>
        <p:sp>
          <p:nvSpPr>
            <p:cNvPr name="Freeform 44" id="44"/>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45" id="45"/>
          <p:cNvGrpSpPr/>
          <p:nvPr/>
        </p:nvGrpSpPr>
        <p:grpSpPr>
          <a:xfrm rot="0">
            <a:off x="10755630" y="6777990"/>
            <a:ext cx="1234440" cy="388620"/>
            <a:chOff x="0" y="0"/>
            <a:chExt cx="1645920" cy="518160"/>
          </a:xfrm>
        </p:grpSpPr>
        <p:sp>
          <p:nvSpPr>
            <p:cNvPr name="Freeform 46" id="46"/>
            <p:cNvSpPr/>
            <p:nvPr/>
          </p:nvSpPr>
          <p:spPr>
            <a:xfrm flipH="false" flipV="false" rot="0">
              <a:off x="0" y="0"/>
              <a:ext cx="1645920" cy="518160"/>
            </a:xfrm>
            <a:custGeom>
              <a:avLst/>
              <a:gdLst/>
              <a:ahLst/>
              <a:cxnLst/>
              <a:rect r="r" b="b" t="t" l="l"/>
              <a:pathLst>
                <a:path h="518160" w="1645920">
                  <a:moveTo>
                    <a:pt x="0" y="0"/>
                  </a:moveTo>
                  <a:lnTo>
                    <a:pt x="1645920" y="0"/>
                  </a:lnTo>
                  <a:lnTo>
                    <a:pt x="1645920" y="518160"/>
                  </a:lnTo>
                  <a:lnTo>
                    <a:pt x="0" y="518160"/>
                  </a:lnTo>
                  <a:close/>
                </a:path>
              </a:pathLst>
            </a:custGeom>
            <a:solidFill>
              <a:srgbClr val="00B3B5"/>
            </a:solidFill>
          </p:spPr>
        </p:sp>
      </p:grpSp>
      <p:grpSp>
        <p:nvGrpSpPr>
          <p:cNvPr name="Group 47" id="47"/>
          <p:cNvGrpSpPr/>
          <p:nvPr/>
        </p:nvGrpSpPr>
        <p:grpSpPr>
          <a:xfrm rot="0">
            <a:off x="16787812" y="9572625"/>
            <a:ext cx="642938" cy="357188"/>
            <a:chOff x="0" y="0"/>
            <a:chExt cx="857250" cy="476250"/>
          </a:xfrm>
        </p:grpSpPr>
        <p:sp>
          <p:nvSpPr>
            <p:cNvPr name="Freeform 48" id="48"/>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49" id="49"/>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11</a:t>
              </a:r>
            </a:p>
          </p:txBody>
        </p:sp>
      </p:grpSp>
      <p:grpSp>
        <p:nvGrpSpPr>
          <p:cNvPr name="Group 50" id="50"/>
          <p:cNvGrpSpPr/>
          <p:nvPr/>
        </p:nvGrpSpPr>
        <p:grpSpPr>
          <a:xfrm rot="0">
            <a:off x="14360804" y="430782"/>
            <a:ext cx="3069946" cy="852936"/>
            <a:chOff x="0" y="0"/>
            <a:chExt cx="2799232" cy="777723"/>
          </a:xfrm>
        </p:grpSpPr>
        <p:sp>
          <p:nvSpPr>
            <p:cNvPr name="Freeform 51" id="51"/>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5"/>
              <a:stretch>
                <a:fillRect l="0" t="0" r="0" b="3"/>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86" t="0" r="-386" b="0"/>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153044"/>
                  </a:solidFill>
                  <a:latin typeface="Aptos Bold"/>
                  <a:ea typeface="Aptos Bold"/>
                  <a:cs typeface="Aptos Bold"/>
                  <a:sym typeface="Aptos Bold"/>
                </a:rPr>
                <a:t>Tecnologías y herramientas</a:t>
              </a:r>
            </a:p>
          </p:txBody>
        </p:sp>
      </p:grpSp>
      <p:grpSp>
        <p:nvGrpSpPr>
          <p:cNvPr name="Group 6" id="6"/>
          <p:cNvGrpSpPr/>
          <p:nvPr/>
        </p:nvGrpSpPr>
        <p:grpSpPr>
          <a:xfrm rot="0">
            <a:off x="914400" y="1928812"/>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567080"/>
                  </a:solidFill>
                  <a:latin typeface="Aptos"/>
                  <a:ea typeface="Aptos"/>
                  <a:cs typeface="Aptos"/>
                  <a:sym typeface="Aptos"/>
                </a:rPr>
                <a:t>Responsabilidad de cada componente</a:t>
              </a:r>
            </a:p>
          </p:txBody>
        </p:sp>
      </p:grpSp>
      <p:grpSp>
        <p:nvGrpSpPr>
          <p:cNvPr name="Group 9" id="9"/>
          <p:cNvGrpSpPr/>
          <p:nvPr/>
        </p:nvGrpSpPr>
        <p:grpSpPr>
          <a:xfrm rot="0">
            <a:off x="914400" y="2886075"/>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12</a:t>
              </a:r>
            </a:p>
          </p:txBody>
        </p:sp>
      </p:grpSp>
      <p:grpSp>
        <p:nvGrpSpPr>
          <p:cNvPr name="Group 14" id="14"/>
          <p:cNvGrpSpPr/>
          <p:nvPr/>
        </p:nvGrpSpPr>
        <p:grpSpPr>
          <a:xfrm rot="0">
            <a:off x="905828" y="2848928"/>
            <a:ext cx="5274945" cy="3057525"/>
            <a:chOff x="0" y="0"/>
            <a:chExt cx="7033260" cy="4076700"/>
          </a:xfrm>
        </p:grpSpPr>
        <p:sp>
          <p:nvSpPr>
            <p:cNvPr name="Freeform 15" id="15"/>
            <p:cNvSpPr/>
            <p:nvPr/>
          </p:nvSpPr>
          <p:spPr>
            <a:xfrm flipH="false" flipV="false" rot="0">
              <a:off x="0" y="0"/>
              <a:ext cx="7033260" cy="4076700"/>
            </a:xfrm>
            <a:custGeom>
              <a:avLst/>
              <a:gdLst/>
              <a:ahLst/>
              <a:cxnLst/>
              <a:rect r="r" b="b" t="t" l="l"/>
              <a:pathLst>
                <a:path h="4076700" w="7033260">
                  <a:moveTo>
                    <a:pt x="0" y="352552"/>
                  </a:moveTo>
                  <a:cubicBezTo>
                    <a:pt x="0" y="157861"/>
                    <a:pt x="157861" y="0"/>
                    <a:pt x="352552" y="0"/>
                  </a:cubicBezTo>
                  <a:lnTo>
                    <a:pt x="6680708" y="0"/>
                  </a:lnTo>
                  <a:cubicBezTo>
                    <a:pt x="6875399" y="0"/>
                    <a:pt x="7033260" y="157861"/>
                    <a:pt x="7033260" y="352552"/>
                  </a:cubicBezTo>
                  <a:lnTo>
                    <a:pt x="7033260" y="3724148"/>
                  </a:lnTo>
                  <a:cubicBezTo>
                    <a:pt x="7033260" y="3918839"/>
                    <a:pt x="6875399" y="4076700"/>
                    <a:pt x="6680708" y="4076700"/>
                  </a:cubicBezTo>
                  <a:lnTo>
                    <a:pt x="352552" y="4076700"/>
                  </a:lnTo>
                  <a:cubicBezTo>
                    <a:pt x="157861" y="4076700"/>
                    <a:pt x="0" y="3918839"/>
                    <a:pt x="0" y="3724148"/>
                  </a:cubicBezTo>
                  <a:close/>
                </a:path>
              </a:pathLst>
            </a:custGeom>
            <a:solidFill>
              <a:srgbClr val="F5F8FA"/>
            </a:solidFill>
            <a:ln w="17146" cap="sq">
              <a:solidFill>
                <a:srgbClr val="D7E4EA"/>
              </a:solidFill>
              <a:prstDash val="solid"/>
              <a:miter/>
            </a:ln>
          </p:spPr>
        </p:sp>
      </p:grpSp>
      <p:grpSp>
        <p:nvGrpSpPr>
          <p:cNvPr name="Group 16" id="16"/>
          <p:cNvGrpSpPr/>
          <p:nvPr/>
        </p:nvGrpSpPr>
        <p:grpSpPr>
          <a:xfrm rot="0">
            <a:off x="1223010" y="3154680"/>
            <a:ext cx="57150" cy="308610"/>
            <a:chOff x="0" y="0"/>
            <a:chExt cx="76200" cy="411480"/>
          </a:xfrm>
        </p:grpSpPr>
        <p:sp>
          <p:nvSpPr>
            <p:cNvPr name="Freeform 17" id="17"/>
            <p:cNvSpPr/>
            <p:nvPr/>
          </p:nvSpPr>
          <p:spPr>
            <a:xfrm flipH="false" flipV="false" rot="0">
              <a:off x="0" y="0"/>
              <a:ext cx="76200" cy="411480"/>
            </a:xfrm>
            <a:custGeom>
              <a:avLst/>
              <a:gdLst/>
              <a:ahLst/>
              <a:cxnLst/>
              <a:rect r="r" b="b" t="t" l="l"/>
              <a:pathLst>
                <a:path h="411480" w="76200">
                  <a:moveTo>
                    <a:pt x="0" y="0"/>
                  </a:moveTo>
                  <a:lnTo>
                    <a:pt x="76200" y="0"/>
                  </a:lnTo>
                  <a:lnTo>
                    <a:pt x="76200" y="411480"/>
                  </a:lnTo>
                  <a:lnTo>
                    <a:pt x="0" y="411480"/>
                  </a:lnTo>
                  <a:close/>
                </a:path>
              </a:pathLst>
            </a:custGeom>
            <a:solidFill>
              <a:srgbClr val="00B3B5"/>
            </a:solidFill>
          </p:spPr>
        </p:sp>
      </p:grpSp>
      <p:sp>
        <p:nvSpPr>
          <p:cNvPr name="TextBox 18" id="18"/>
          <p:cNvSpPr txBox="true"/>
          <p:nvPr/>
        </p:nvSpPr>
        <p:spPr>
          <a:xfrm rot="0">
            <a:off x="1474470" y="3076575"/>
            <a:ext cx="4274820" cy="53530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Web</a:t>
            </a:r>
          </a:p>
        </p:txBody>
      </p:sp>
      <p:grpSp>
        <p:nvGrpSpPr>
          <p:cNvPr name="Group 19" id="19"/>
          <p:cNvGrpSpPr/>
          <p:nvPr/>
        </p:nvGrpSpPr>
        <p:grpSpPr>
          <a:xfrm rot="0">
            <a:off x="1794510" y="3907917"/>
            <a:ext cx="1005840" cy="905256"/>
            <a:chOff x="0" y="0"/>
            <a:chExt cx="1341120" cy="1207008"/>
          </a:xfrm>
        </p:grpSpPr>
        <p:sp>
          <p:nvSpPr>
            <p:cNvPr name="Freeform 20" id="20"/>
            <p:cNvSpPr/>
            <p:nvPr/>
          </p:nvSpPr>
          <p:spPr>
            <a:xfrm flipH="false" flipV="false" rot="0">
              <a:off x="0" y="0"/>
              <a:ext cx="1341120" cy="1207008"/>
            </a:xfrm>
            <a:custGeom>
              <a:avLst/>
              <a:gdLst/>
              <a:ahLst/>
              <a:cxnLst/>
              <a:rect r="r" b="b" t="t" l="l"/>
              <a:pathLst>
                <a:path h="1207008" w="1341120">
                  <a:moveTo>
                    <a:pt x="0" y="0"/>
                  </a:moveTo>
                  <a:lnTo>
                    <a:pt x="1341120" y="0"/>
                  </a:lnTo>
                  <a:lnTo>
                    <a:pt x="1341120" y="1207008"/>
                  </a:lnTo>
                  <a:lnTo>
                    <a:pt x="0" y="1207008"/>
                  </a:lnTo>
                  <a:lnTo>
                    <a:pt x="0" y="0"/>
                  </a:lnTo>
                  <a:close/>
                </a:path>
              </a:pathLst>
            </a:custGeom>
            <a:blipFill>
              <a:blip r:embed="rId5"/>
              <a:stretch>
                <a:fillRect l="0" t="0" r="0" b="0"/>
              </a:stretch>
            </a:blipFill>
          </p:spPr>
        </p:sp>
      </p:grpSp>
      <p:grpSp>
        <p:nvGrpSpPr>
          <p:cNvPr name="Group 21" id="21"/>
          <p:cNvGrpSpPr/>
          <p:nvPr/>
        </p:nvGrpSpPr>
        <p:grpSpPr>
          <a:xfrm rot="0">
            <a:off x="3211830" y="3960495"/>
            <a:ext cx="800100" cy="800100"/>
            <a:chOff x="0" y="0"/>
            <a:chExt cx="1066800" cy="1066800"/>
          </a:xfrm>
        </p:grpSpPr>
        <p:sp>
          <p:nvSpPr>
            <p:cNvPr name="Freeform 22" id="22"/>
            <p:cNvSpPr/>
            <p:nvPr/>
          </p:nvSpPr>
          <p:spPr>
            <a:xfrm flipH="false" flipV="false" rot="0">
              <a:off x="0" y="0"/>
              <a:ext cx="1066800" cy="1066800"/>
            </a:xfrm>
            <a:custGeom>
              <a:avLst/>
              <a:gdLst/>
              <a:ahLst/>
              <a:cxnLst/>
              <a:rect r="r" b="b" t="t" l="l"/>
              <a:pathLst>
                <a:path h="1066800" w="1066800">
                  <a:moveTo>
                    <a:pt x="0" y="0"/>
                  </a:moveTo>
                  <a:lnTo>
                    <a:pt x="1066800" y="0"/>
                  </a:lnTo>
                  <a:lnTo>
                    <a:pt x="1066800" y="1066800"/>
                  </a:lnTo>
                  <a:lnTo>
                    <a:pt x="0" y="1066800"/>
                  </a:lnTo>
                  <a:lnTo>
                    <a:pt x="0" y="0"/>
                  </a:lnTo>
                  <a:close/>
                </a:path>
              </a:pathLst>
            </a:custGeom>
            <a:blipFill>
              <a:blip r:embed="rId6"/>
              <a:stretch>
                <a:fillRect l="0" t="0" r="0" b="0"/>
              </a:stretch>
            </a:blipFill>
          </p:spPr>
        </p:sp>
      </p:grpSp>
      <p:grpSp>
        <p:nvGrpSpPr>
          <p:cNvPr name="Group 23" id="23"/>
          <p:cNvGrpSpPr/>
          <p:nvPr/>
        </p:nvGrpSpPr>
        <p:grpSpPr>
          <a:xfrm rot="0">
            <a:off x="4343400" y="3771900"/>
            <a:ext cx="1028700" cy="1143000"/>
            <a:chOff x="0" y="0"/>
            <a:chExt cx="1371600" cy="1524000"/>
          </a:xfrm>
        </p:grpSpPr>
        <p:sp>
          <p:nvSpPr>
            <p:cNvPr name="Freeform 24" id="24"/>
            <p:cNvSpPr/>
            <p:nvPr/>
          </p:nvSpPr>
          <p:spPr>
            <a:xfrm flipH="false" flipV="false" rot="0">
              <a:off x="0" y="0"/>
              <a:ext cx="1371600" cy="1524000"/>
            </a:xfrm>
            <a:custGeom>
              <a:avLst/>
              <a:gdLst/>
              <a:ahLst/>
              <a:cxnLst/>
              <a:rect r="r" b="b" t="t" l="l"/>
              <a:pathLst>
                <a:path h="1524000" w="1371600">
                  <a:moveTo>
                    <a:pt x="0" y="213360"/>
                  </a:moveTo>
                  <a:cubicBezTo>
                    <a:pt x="0" y="95504"/>
                    <a:pt x="95504" y="0"/>
                    <a:pt x="213360" y="0"/>
                  </a:cubicBezTo>
                  <a:lnTo>
                    <a:pt x="1158240" y="0"/>
                  </a:lnTo>
                  <a:cubicBezTo>
                    <a:pt x="1276096" y="0"/>
                    <a:pt x="1371600" y="95504"/>
                    <a:pt x="1371600" y="213360"/>
                  </a:cubicBezTo>
                  <a:lnTo>
                    <a:pt x="1371600" y="1310640"/>
                  </a:lnTo>
                  <a:cubicBezTo>
                    <a:pt x="1371600" y="1428496"/>
                    <a:pt x="1276096" y="1524000"/>
                    <a:pt x="1158240" y="1524000"/>
                  </a:cubicBezTo>
                  <a:lnTo>
                    <a:pt x="213360" y="1524000"/>
                  </a:lnTo>
                  <a:cubicBezTo>
                    <a:pt x="95504" y="1524000"/>
                    <a:pt x="0" y="1428496"/>
                    <a:pt x="0" y="1310640"/>
                  </a:cubicBezTo>
                  <a:close/>
                </a:path>
              </a:pathLst>
            </a:custGeom>
            <a:solidFill>
              <a:srgbClr val="0D1B2A"/>
            </a:solidFill>
          </p:spPr>
        </p:sp>
      </p:grpSp>
      <p:grpSp>
        <p:nvGrpSpPr>
          <p:cNvPr name="Group 25" id="25"/>
          <p:cNvGrpSpPr/>
          <p:nvPr/>
        </p:nvGrpSpPr>
        <p:grpSpPr>
          <a:xfrm rot="0">
            <a:off x="4423410" y="4096322"/>
            <a:ext cx="868680" cy="528447"/>
            <a:chOff x="0" y="0"/>
            <a:chExt cx="1158240" cy="704596"/>
          </a:xfrm>
        </p:grpSpPr>
        <p:sp>
          <p:nvSpPr>
            <p:cNvPr name="Freeform 26" id="26"/>
            <p:cNvSpPr/>
            <p:nvPr/>
          </p:nvSpPr>
          <p:spPr>
            <a:xfrm flipH="false" flipV="false" rot="0">
              <a:off x="0" y="0"/>
              <a:ext cx="1158240" cy="704596"/>
            </a:xfrm>
            <a:custGeom>
              <a:avLst/>
              <a:gdLst/>
              <a:ahLst/>
              <a:cxnLst/>
              <a:rect r="r" b="b" t="t" l="l"/>
              <a:pathLst>
                <a:path h="704596" w="1158240">
                  <a:moveTo>
                    <a:pt x="0" y="0"/>
                  </a:moveTo>
                  <a:lnTo>
                    <a:pt x="1158240" y="0"/>
                  </a:lnTo>
                  <a:lnTo>
                    <a:pt x="1158240" y="704596"/>
                  </a:lnTo>
                  <a:lnTo>
                    <a:pt x="0" y="704596"/>
                  </a:lnTo>
                  <a:lnTo>
                    <a:pt x="0" y="0"/>
                  </a:lnTo>
                  <a:close/>
                </a:path>
              </a:pathLst>
            </a:custGeom>
            <a:blipFill>
              <a:blip r:embed="rId7"/>
              <a:stretch>
                <a:fillRect l="0" t="0" r="0" b="0"/>
              </a:stretch>
            </a:blipFill>
          </p:spPr>
        </p:sp>
      </p:grpSp>
      <p:sp>
        <p:nvSpPr>
          <p:cNvPr name="TextBox 27" id="27"/>
          <p:cNvSpPr txBox="true"/>
          <p:nvPr/>
        </p:nvSpPr>
        <p:spPr>
          <a:xfrm rot="0">
            <a:off x="1154430" y="5006340"/>
            <a:ext cx="4777740" cy="480060"/>
          </a:xfrm>
          <a:prstGeom prst="rect">
            <a:avLst/>
          </a:prstGeom>
        </p:spPr>
        <p:txBody>
          <a:bodyPr anchor="t" rtlCol="false" tIns="0" lIns="0" bIns="0" rIns="0">
            <a:spAutoFit/>
          </a:bodyPr>
          <a:lstStyle/>
          <a:p>
            <a:pPr algn="ctr">
              <a:lnSpc>
                <a:spcPts val="2808"/>
              </a:lnSpc>
            </a:pPr>
            <a:r>
              <a:rPr lang="en-US" sz="2340" b="true">
                <a:solidFill>
                  <a:srgbClr val="122A3D"/>
                </a:solidFill>
                <a:latin typeface="Open Sans Bold"/>
                <a:ea typeface="Open Sans Bold"/>
                <a:cs typeface="Open Sans Bold"/>
                <a:sym typeface="Open Sans Bold"/>
              </a:rPr>
              <a:t>React 18 · TypeScript · Vite</a:t>
            </a:r>
          </a:p>
        </p:txBody>
      </p:sp>
      <p:sp>
        <p:nvSpPr>
          <p:cNvPr name="TextBox 28" id="28"/>
          <p:cNvSpPr txBox="true"/>
          <p:nvPr/>
        </p:nvSpPr>
        <p:spPr>
          <a:xfrm rot="0">
            <a:off x="1154430" y="5532120"/>
            <a:ext cx="4777740" cy="365760"/>
          </a:xfrm>
          <a:prstGeom prst="rect">
            <a:avLst/>
          </a:prstGeom>
        </p:spPr>
        <p:txBody>
          <a:bodyPr anchor="t" rtlCol="false" tIns="0" lIns="0" bIns="0" rIns="0">
            <a:spAutoFit/>
          </a:bodyPr>
          <a:lstStyle/>
          <a:p>
            <a:pPr algn="ctr">
              <a:lnSpc>
                <a:spcPts val="2375"/>
              </a:lnSpc>
            </a:pPr>
            <a:r>
              <a:rPr lang="en-US" sz="1979">
                <a:solidFill>
                  <a:srgbClr val="506A7C"/>
                </a:solidFill>
                <a:latin typeface="Open Sans"/>
                <a:ea typeface="Open Sans"/>
                <a:cs typeface="Open Sans"/>
                <a:sym typeface="Open Sans"/>
              </a:rPr>
              <a:t>Interfaz de gestión</a:t>
            </a:r>
          </a:p>
        </p:txBody>
      </p:sp>
      <p:grpSp>
        <p:nvGrpSpPr>
          <p:cNvPr name="Group 29" id="29"/>
          <p:cNvGrpSpPr/>
          <p:nvPr/>
        </p:nvGrpSpPr>
        <p:grpSpPr>
          <a:xfrm rot="0">
            <a:off x="6506528" y="2848928"/>
            <a:ext cx="5274945" cy="3057525"/>
            <a:chOff x="0" y="0"/>
            <a:chExt cx="7033260" cy="4076700"/>
          </a:xfrm>
        </p:grpSpPr>
        <p:sp>
          <p:nvSpPr>
            <p:cNvPr name="Freeform 30" id="30"/>
            <p:cNvSpPr/>
            <p:nvPr/>
          </p:nvSpPr>
          <p:spPr>
            <a:xfrm flipH="false" flipV="false" rot="0">
              <a:off x="0" y="0"/>
              <a:ext cx="7033260" cy="4076700"/>
            </a:xfrm>
            <a:custGeom>
              <a:avLst/>
              <a:gdLst/>
              <a:ahLst/>
              <a:cxnLst/>
              <a:rect r="r" b="b" t="t" l="l"/>
              <a:pathLst>
                <a:path h="4076700" w="7033260">
                  <a:moveTo>
                    <a:pt x="0" y="352552"/>
                  </a:moveTo>
                  <a:cubicBezTo>
                    <a:pt x="0" y="157861"/>
                    <a:pt x="157861" y="0"/>
                    <a:pt x="352552" y="0"/>
                  </a:cubicBezTo>
                  <a:lnTo>
                    <a:pt x="6680708" y="0"/>
                  </a:lnTo>
                  <a:cubicBezTo>
                    <a:pt x="6875399" y="0"/>
                    <a:pt x="7033260" y="157861"/>
                    <a:pt x="7033260" y="352552"/>
                  </a:cubicBezTo>
                  <a:lnTo>
                    <a:pt x="7033260" y="3724148"/>
                  </a:lnTo>
                  <a:cubicBezTo>
                    <a:pt x="7033260" y="3918839"/>
                    <a:pt x="6875399" y="4076700"/>
                    <a:pt x="6680708" y="4076700"/>
                  </a:cubicBezTo>
                  <a:lnTo>
                    <a:pt x="352552" y="4076700"/>
                  </a:lnTo>
                  <a:cubicBezTo>
                    <a:pt x="157861" y="4076700"/>
                    <a:pt x="0" y="3918839"/>
                    <a:pt x="0" y="3724148"/>
                  </a:cubicBezTo>
                  <a:close/>
                </a:path>
              </a:pathLst>
            </a:custGeom>
            <a:solidFill>
              <a:srgbClr val="F5F8FA"/>
            </a:solidFill>
            <a:ln w="17146" cap="sq">
              <a:solidFill>
                <a:srgbClr val="D7E4EA"/>
              </a:solidFill>
              <a:prstDash val="solid"/>
              <a:miter/>
            </a:ln>
          </p:spPr>
        </p:sp>
      </p:grpSp>
      <p:grpSp>
        <p:nvGrpSpPr>
          <p:cNvPr name="Group 31" id="31"/>
          <p:cNvGrpSpPr/>
          <p:nvPr/>
        </p:nvGrpSpPr>
        <p:grpSpPr>
          <a:xfrm rot="0">
            <a:off x="6823710" y="3154680"/>
            <a:ext cx="57150" cy="308610"/>
            <a:chOff x="0" y="0"/>
            <a:chExt cx="76200" cy="411480"/>
          </a:xfrm>
        </p:grpSpPr>
        <p:sp>
          <p:nvSpPr>
            <p:cNvPr name="Freeform 32" id="32"/>
            <p:cNvSpPr/>
            <p:nvPr/>
          </p:nvSpPr>
          <p:spPr>
            <a:xfrm flipH="false" flipV="false" rot="0">
              <a:off x="0" y="0"/>
              <a:ext cx="76200" cy="411480"/>
            </a:xfrm>
            <a:custGeom>
              <a:avLst/>
              <a:gdLst/>
              <a:ahLst/>
              <a:cxnLst/>
              <a:rect r="r" b="b" t="t" l="l"/>
              <a:pathLst>
                <a:path h="411480" w="76200">
                  <a:moveTo>
                    <a:pt x="0" y="0"/>
                  </a:moveTo>
                  <a:lnTo>
                    <a:pt x="76200" y="0"/>
                  </a:lnTo>
                  <a:lnTo>
                    <a:pt x="76200" y="411480"/>
                  </a:lnTo>
                  <a:lnTo>
                    <a:pt x="0" y="411480"/>
                  </a:lnTo>
                  <a:close/>
                </a:path>
              </a:pathLst>
            </a:custGeom>
            <a:solidFill>
              <a:srgbClr val="00B3B5"/>
            </a:solidFill>
          </p:spPr>
        </p:sp>
      </p:grpSp>
      <p:sp>
        <p:nvSpPr>
          <p:cNvPr name="TextBox 33" id="33"/>
          <p:cNvSpPr txBox="true"/>
          <p:nvPr/>
        </p:nvSpPr>
        <p:spPr>
          <a:xfrm rot="0">
            <a:off x="7075170" y="3076575"/>
            <a:ext cx="4274820" cy="53530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Móvil</a:t>
            </a:r>
          </a:p>
        </p:txBody>
      </p:sp>
      <p:grpSp>
        <p:nvGrpSpPr>
          <p:cNvPr name="Group 34" id="34"/>
          <p:cNvGrpSpPr/>
          <p:nvPr/>
        </p:nvGrpSpPr>
        <p:grpSpPr>
          <a:xfrm rot="0">
            <a:off x="7881499" y="3863340"/>
            <a:ext cx="1084812" cy="994410"/>
            <a:chOff x="0" y="0"/>
            <a:chExt cx="1446416" cy="1325880"/>
          </a:xfrm>
        </p:grpSpPr>
        <p:sp>
          <p:nvSpPr>
            <p:cNvPr name="Freeform 35" id="35"/>
            <p:cNvSpPr/>
            <p:nvPr/>
          </p:nvSpPr>
          <p:spPr>
            <a:xfrm flipH="false" flipV="false" rot="0">
              <a:off x="0" y="0"/>
              <a:ext cx="1446403" cy="1325880"/>
            </a:xfrm>
            <a:custGeom>
              <a:avLst/>
              <a:gdLst/>
              <a:ahLst/>
              <a:cxnLst/>
              <a:rect r="r" b="b" t="t" l="l"/>
              <a:pathLst>
                <a:path h="1325880" w="1446403">
                  <a:moveTo>
                    <a:pt x="0" y="0"/>
                  </a:moveTo>
                  <a:lnTo>
                    <a:pt x="1446403" y="0"/>
                  </a:lnTo>
                  <a:lnTo>
                    <a:pt x="1446403" y="1325880"/>
                  </a:lnTo>
                  <a:lnTo>
                    <a:pt x="0" y="1325880"/>
                  </a:lnTo>
                  <a:lnTo>
                    <a:pt x="0" y="0"/>
                  </a:lnTo>
                  <a:close/>
                </a:path>
              </a:pathLst>
            </a:custGeom>
            <a:blipFill>
              <a:blip r:embed="rId8"/>
              <a:stretch>
                <a:fillRect l="0" t="0" r="0" b="0"/>
              </a:stretch>
            </a:blipFill>
          </p:spPr>
        </p:sp>
      </p:grpSp>
      <p:grpSp>
        <p:nvGrpSpPr>
          <p:cNvPr name="Group 36" id="36"/>
          <p:cNvGrpSpPr/>
          <p:nvPr/>
        </p:nvGrpSpPr>
        <p:grpSpPr>
          <a:xfrm rot="0">
            <a:off x="9492615" y="3897630"/>
            <a:ext cx="1028700" cy="925830"/>
            <a:chOff x="0" y="0"/>
            <a:chExt cx="1371600" cy="1234440"/>
          </a:xfrm>
        </p:grpSpPr>
        <p:sp>
          <p:nvSpPr>
            <p:cNvPr name="Freeform 37" id="37"/>
            <p:cNvSpPr/>
            <p:nvPr/>
          </p:nvSpPr>
          <p:spPr>
            <a:xfrm flipH="false" flipV="false" rot="0">
              <a:off x="0" y="0"/>
              <a:ext cx="1371600" cy="1234440"/>
            </a:xfrm>
            <a:custGeom>
              <a:avLst/>
              <a:gdLst/>
              <a:ahLst/>
              <a:cxnLst/>
              <a:rect r="r" b="b" t="t" l="l"/>
              <a:pathLst>
                <a:path h="1234440" w="1371600">
                  <a:moveTo>
                    <a:pt x="0" y="0"/>
                  </a:moveTo>
                  <a:lnTo>
                    <a:pt x="1371600" y="0"/>
                  </a:lnTo>
                  <a:lnTo>
                    <a:pt x="1371600" y="1234440"/>
                  </a:lnTo>
                  <a:lnTo>
                    <a:pt x="0" y="1234440"/>
                  </a:lnTo>
                  <a:lnTo>
                    <a:pt x="0" y="0"/>
                  </a:lnTo>
                  <a:close/>
                </a:path>
              </a:pathLst>
            </a:custGeom>
            <a:blipFill>
              <a:blip r:embed="rId5"/>
              <a:stretch>
                <a:fillRect l="0" t="0" r="0" b="0"/>
              </a:stretch>
            </a:blipFill>
          </p:spPr>
        </p:sp>
      </p:grpSp>
      <p:sp>
        <p:nvSpPr>
          <p:cNvPr name="TextBox 38" id="38"/>
          <p:cNvSpPr txBox="true"/>
          <p:nvPr/>
        </p:nvSpPr>
        <p:spPr>
          <a:xfrm rot="0">
            <a:off x="6755130" y="4996815"/>
            <a:ext cx="4777740" cy="489585"/>
          </a:xfrm>
          <a:prstGeom prst="rect">
            <a:avLst/>
          </a:prstGeom>
        </p:spPr>
        <p:txBody>
          <a:bodyPr anchor="t" rtlCol="false" tIns="0" lIns="0" bIns="0" rIns="0">
            <a:spAutoFit/>
          </a:bodyPr>
          <a:lstStyle/>
          <a:p>
            <a:pPr algn="ctr">
              <a:lnSpc>
                <a:spcPts val="3024"/>
              </a:lnSpc>
            </a:pPr>
            <a:r>
              <a:rPr lang="en-US" sz="2520" b="true">
                <a:solidFill>
                  <a:srgbClr val="122A3D"/>
                </a:solidFill>
                <a:latin typeface="Open Sans Bold"/>
                <a:ea typeface="Open Sans Bold"/>
                <a:cs typeface="Open Sans Bold"/>
                <a:sym typeface="Open Sans Bold"/>
              </a:rPr>
              <a:t>Expo · React Native</a:t>
            </a:r>
          </a:p>
        </p:txBody>
      </p:sp>
      <p:sp>
        <p:nvSpPr>
          <p:cNvPr name="TextBox 39" id="39"/>
          <p:cNvSpPr txBox="true"/>
          <p:nvPr/>
        </p:nvSpPr>
        <p:spPr>
          <a:xfrm rot="0">
            <a:off x="6755130" y="5532120"/>
            <a:ext cx="4777740" cy="365760"/>
          </a:xfrm>
          <a:prstGeom prst="rect">
            <a:avLst/>
          </a:prstGeom>
        </p:spPr>
        <p:txBody>
          <a:bodyPr anchor="t" rtlCol="false" tIns="0" lIns="0" bIns="0" rIns="0">
            <a:spAutoFit/>
          </a:bodyPr>
          <a:lstStyle/>
          <a:p>
            <a:pPr algn="ctr">
              <a:lnSpc>
                <a:spcPts val="2375"/>
              </a:lnSpc>
            </a:pPr>
            <a:r>
              <a:rPr lang="en-US" sz="1979">
                <a:solidFill>
                  <a:srgbClr val="506A7C"/>
                </a:solidFill>
                <a:latin typeface="Open Sans"/>
                <a:ea typeface="Open Sans"/>
                <a:cs typeface="Open Sans"/>
                <a:sym typeface="Open Sans"/>
              </a:rPr>
              <a:t>Operación en terreno</a:t>
            </a:r>
          </a:p>
        </p:txBody>
      </p:sp>
      <p:grpSp>
        <p:nvGrpSpPr>
          <p:cNvPr name="Group 40" id="40"/>
          <p:cNvGrpSpPr/>
          <p:nvPr/>
        </p:nvGrpSpPr>
        <p:grpSpPr>
          <a:xfrm rot="0">
            <a:off x="12107228" y="2848928"/>
            <a:ext cx="5274945" cy="3057525"/>
            <a:chOff x="0" y="0"/>
            <a:chExt cx="7033260" cy="4076700"/>
          </a:xfrm>
        </p:grpSpPr>
        <p:sp>
          <p:nvSpPr>
            <p:cNvPr name="Freeform 41" id="41"/>
            <p:cNvSpPr/>
            <p:nvPr/>
          </p:nvSpPr>
          <p:spPr>
            <a:xfrm flipH="false" flipV="false" rot="0">
              <a:off x="0" y="0"/>
              <a:ext cx="7033260" cy="4076700"/>
            </a:xfrm>
            <a:custGeom>
              <a:avLst/>
              <a:gdLst/>
              <a:ahLst/>
              <a:cxnLst/>
              <a:rect r="r" b="b" t="t" l="l"/>
              <a:pathLst>
                <a:path h="4076700" w="7033260">
                  <a:moveTo>
                    <a:pt x="0" y="352552"/>
                  </a:moveTo>
                  <a:cubicBezTo>
                    <a:pt x="0" y="157861"/>
                    <a:pt x="157861" y="0"/>
                    <a:pt x="352552" y="0"/>
                  </a:cubicBezTo>
                  <a:lnTo>
                    <a:pt x="6680708" y="0"/>
                  </a:lnTo>
                  <a:cubicBezTo>
                    <a:pt x="6875399" y="0"/>
                    <a:pt x="7033260" y="157861"/>
                    <a:pt x="7033260" y="352552"/>
                  </a:cubicBezTo>
                  <a:lnTo>
                    <a:pt x="7033260" y="3724148"/>
                  </a:lnTo>
                  <a:cubicBezTo>
                    <a:pt x="7033260" y="3918839"/>
                    <a:pt x="6875399" y="4076700"/>
                    <a:pt x="6680708" y="4076700"/>
                  </a:cubicBezTo>
                  <a:lnTo>
                    <a:pt x="352552" y="4076700"/>
                  </a:lnTo>
                  <a:cubicBezTo>
                    <a:pt x="157861" y="4076700"/>
                    <a:pt x="0" y="3918839"/>
                    <a:pt x="0" y="3724148"/>
                  </a:cubicBezTo>
                  <a:close/>
                </a:path>
              </a:pathLst>
            </a:custGeom>
            <a:solidFill>
              <a:srgbClr val="F5F8FA"/>
            </a:solidFill>
            <a:ln w="17146" cap="sq">
              <a:solidFill>
                <a:srgbClr val="D7E4EA"/>
              </a:solidFill>
              <a:prstDash val="solid"/>
              <a:miter/>
            </a:ln>
          </p:spPr>
        </p:sp>
      </p:grpSp>
      <p:grpSp>
        <p:nvGrpSpPr>
          <p:cNvPr name="Group 42" id="42"/>
          <p:cNvGrpSpPr/>
          <p:nvPr/>
        </p:nvGrpSpPr>
        <p:grpSpPr>
          <a:xfrm rot="0">
            <a:off x="12424410" y="3154680"/>
            <a:ext cx="57150" cy="308610"/>
            <a:chOff x="0" y="0"/>
            <a:chExt cx="76200" cy="411480"/>
          </a:xfrm>
        </p:grpSpPr>
        <p:sp>
          <p:nvSpPr>
            <p:cNvPr name="Freeform 43" id="43"/>
            <p:cNvSpPr/>
            <p:nvPr/>
          </p:nvSpPr>
          <p:spPr>
            <a:xfrm flipH="false" flipV="false" rot="0">
              <a:off x="0" y="0"/>
              <a:ext cx="76200" cy="411480"/>
            </a:xfrm>
            <a:custGeom>
              <a:avLst/>
              <a:gdLst/>
              <a:ahLst/>
              <a:cxnLst/>
              <a:rect r="r" b="b" t="t" l="l"/>
              <a:pathLst>
                <a:path h="411480" w="76200">
                  <a:moveTo>
                    <a:pt x="0" y="0"/>
                  </a:moveTo>
                  <a:lnTo>
                    <a:pt x="76200" y="0"/>
                  </a:lnTo>
                  <a:lnTo>
                    <a:pt x="76200" y="411480"/>
                  </a:lnTo>
                  <a:lnTo>
                    <a:pt x="0" y="411480"/>
                  </a:lnTo>
                  <a:close/>
                </a:path>
              </a:pathLst>
            </a:custGeom>
            <a:solidFill>
              <a:srgbClr val="1765C1"/>
            </a:solidFill>
          </p:spPr>
        </p:sp>
      </p:grpSp>
      <p:sp>
        <p:nvSpPr>
          <p:cNvPr name="TextBox 44" id="44"/>
          <p:cNvSpPr txBox="true"/>
          <p:nvPr/>
        </p:nvSpPr>
        <p:spPr>
          <a:xfrm rot="0">
            <a:off x="12675870" y="3076575"/>
            <a:ext cx="4274820" cy="53530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API</a:t>
            </a:r>
          </a:p>
        </p:txBody>
      </p:sp>
      <p:grpSp>
        <p:nvGrpSpPr>
          <p:cNvPr name="Group 45" id="45"/>
          <p:cNvGrpSpPr/>
          <p:nvPr/>
        </p:nvGrpSpPr>
        <p:grpSpPr>
          <a:xfrm rot="0">
            <a:off x="13258800" y="3863340"/>
            <a:ext cx="994410" cy="994410"/>
            <a:chOff x="0" y="0"/>
            <a:chExt cx="1325880" cy="1325880"/>
          </a:xfrm>
        </p:grpSpPr>
        <p:sp>
          <p:nvSpPr>
            <p:cNvPr name="Freeform 46" id="46"/>
            <p:cNvSpPr/>
            <p:nvPr/>
          </p:nvSpPr>
          <p:spPr>
            <a:xfrm flipH="false" flipV="false" rot="0">
              <a:off x="0" y="0"/>
              <a:ext cx="1325880" cy="1325880"/>
            </a:xfrm>
            <a:custGeom>
              <a:avLst/>
              <a:gdLst/>
              <a:ahLst/>
              <a:cxnLst/>
              <a:rect r="r" b="b" t="t" l="l"/>
              <a:pathLst>
                <a:path h="1325880" w="1325880">
                  <a:moveTo>
                    <a:pt x="0" y="0"/>
                  </a:moveTo>
                  <a:lnTo>
                    <a:pt x="1325880" y="0"/>
                  </a:lnTo>
                  <a:lnTo>
                    <a:pt x="1325880" y="1325880"/>
                  </a:lnTo>
                  <a:lnTo>
                    <a:pt x="0" y="1325880"/>
                  </a:lnTo>
                  <a:lnTo>
                    <a:pt x="0" y="0"/>
                  </a:lnTo>
                  <a:close/>
                </a:path>
              </a:pathLst>
            </a:custGeom>
            <a:blipFill>
              <a:blip r:embed="rId9"/>
              <a:stretch>
                <a:fillRect l="0" t="0" r="0" b="0"/>
              </a:stretch>
            </a:blipFill>
          </p:spPr>
        </p:sp>
      </p:grpSp>
      <p:grpSp>
        <p:nvGrpSpPr>
          <p:cNvPr name="Group 47" id="47"/>
          <p:cNvGrpSpPr/>
          <p:nvPr/>
        </p:nvGrpSpPr>
        <p:grpSpPr>
          <a:xfrm rot="0">
            <a:off x="14990445" y="4153062"/>
            <a:ext cx="1565910" cy="414966"/>
            <a:chOff x="0" y="0"/>
            <a:chExt cx="2087880" cy="553288"/>
          </a:xfrm>
        </p:grpSpPr>
        <p:sp>
          <p:nvSpPr>
            <p:cNvPr name="Freeform 48" id="48"/>
            <p:cNvSpPr/>
            <p:nvPr/>
          </p:nvSpPr>
          <p:spPr>
            <a:xfrm flipH="false" flipV="false" rot="0">
              <a:off x="0" y="0"/>
              <a:ext cx="2087880" cy="553339"/>
            </a:xfrm>
            <a:custGeom>
              <a:avLst/>
              <a:gdLst/>
              <a:ahLst/>
              <a:cxnLst/>
              <a:rect r="r" b="b" t="t" l="l"/>
              <a:pathLst>
                <a:path h="553339" w="2087880">
                  <a:moveTo>
                    <a:pt x="0" y="0"/>
                  </a:moveTo>
                  <a:lnTo>
                    <a:pt x="2087880" y="0"/>
                  </a:lnTo>
                  <a:lnTo>
                    <a:pt x="2087880" y="553339"/>
                  </a:lnTo>
                  <a:lnTo>
                    <a:pt x="0" y="553339"/>
                  </a:lnTo>
                  <a:lnTo>
                    <a:pt x="0" y="0"/>
                  </a:lnTo>
                  <a:close/>
                </a:path>
              </a:pathLst>
            </a:custGeom>
            <a:blipFill>
              <a:blip r:embed="rId10"/>
              <a:stretch>
                <a:fillRect l="0" t="0" r="0" b="9"/>
              </a:stretch>
            </a:blipFill>
          </p:spPr>
        </p:sp>
      </p:grpSp>
      <p:sp>
        <p:nvSpPr>
          <p:cNvPr name="TextBox 49" id="49"/>
          <p:cNvSpPr txBox="true"/>
          <p:nvPr/>
        </p:nvSpPr>
        <p:spPr>
          <a:xfrm rot="0">
            <a:off x="12355830" y="4996815"/>
            <a:ext cx="4777740" cy="489585"/>
          </a:xfrm>
          <a:prstGeom prst="rect">
            <a:avLst/>
          </a:prstGeom>
        </p:spPr>
        <p:txBody>
          <a:bodyPr anchor="t" rtlCol="false" tIns="0" lIns="0" bIns="0" rIns="0">
            <a:spAutoFit/>
          </a:bodyPr>
          <a:lstStyle/>
          <a:p>
            <a:pPr algn="ctr">
              <a:lnSpc>
                <a:spcPts val="3024"/>
              </a:lnSpc>
            </a:pPr>
            <a:r>
              <a:rPr lang="en-US" sz="2520" b="true">
                <a:solidFill>
                  <a:srgbClr val="122A3D"/>
                </a:solidFill>
                <a:latin typeface="Open Sans Bold"/>
                <a:ea typeface="Open Sans Bold"/>
                <a:cs typeface="Open Sans Bold"/>
                <a:sym typeface="Open Sans Bold"/>
              </a:rPr>
              <a:t>Node.js · Express</a:t>
            </a:r>
          </a:p>
        </p:txBody>
      </p:sp>
      <p:sp>
        <p:nvSpPr>
          <p:cNvPr name="TextBox 50" id="50"/>
          <p:cNvSpPr txBox="true"/>
          <p:nvPr/>
        </p:nvSpPr>
        <p:spPr>
          <a:xfrm rot="0">
            <a:off x="12355830" y="5532120"/>
            <a:ext cx="4777740" cy="365760"/>
          </a:xfrm>
          <a:prstGeom prst="rect">
            <a:avLst/>
          </a:prstGeom>
        </p:spPr>
        <p:txBody>
          <a:bodyPr anchor="t" rtlCol="false" tIns="0" lIns="0" bIns="0" rIns="0">
            <a:spAutoFit/>
          </a:bodyPr>
          <a:lstStyle/>
          <a:p>
            <a:pPr algn="ctr">
              <a:lnSpc>
                <a:spcPts val="2375"/>
              </a:lnSpc>
            </a:pPr>
            <a:r>
              <a:rPr lang="en-US" sz="1979">
                <a:solidFill>
                  <a:srgbClr val="506A7C"/>
                </a:solidFill>
                <a:latin typeface="Open Sans"/>
                <a:ea typeface="Open Sans"/>
                <a:cs typeface="Open Sans"/>
                <a:sym typeface="Open Sans"/>
              </a:rPr>
              <a:t>Reglas de negocio y permisos</a:t>
            </a:r>
          </a:p>
        </p:txBody>
      </p:sp>
      <p:grpSp>
        <p:nvGrpSpPr>
          <p:cNvPr name="Group 51" id="51"/>
          <p:cNvGrpSpPr/>
          <p:nvPr/>
        </p:nvGrpSpPr>
        <p:grpSpPr>
          <a:xfrm rot="0">
            <a:off x="905828" y="6186488"/>
            <a:ext cx="5274945" cy="3057525"/>
            <a:chOff x="0" y="0"/>
            <a:chExt cx="7033260" cy="4076700"/>
          </a:xfrm>
        </p:grpSpPr>
        <p:sp>
          <p:nvSpPr>
            <p:cNvPr name="Freeform 52" id="52"/>
            <p:cNvSpPr/>
            <p:nvPr/>
          </p:nvSpPr>
          <p:spPr>
            <a:xfrm flipH="false" flipV="false" rot="0">
              <a:off x="0" y="0"/>
              <a:ext cx="7033260" cy="4076700"/>
            </a:xfrm>
            <a:custGeom>
              <a:avLst/>
              <a:gdLst/>
              <a:ahLst/>
              <a:cxnLst/>
              <a:rect r="r" b="b" t="t" l="l"/>
              <a:pathLst>
                <a:path h="4076700" w="7033260">
                  <a:moveTo>
                    <a:pt x="0" y="352552"/>
                  </a:moveTo>
                  <a:cubicBezTo>
                    <a:pt x="0" y="157861"/>
                    <a:pt x="157861" y="0"/>
                    <a:pt x="352552" y="0"/>
                  </a:cubicBezTo>
                  <a:lnTo>
                    <a:pt x="6680708" y="0"/>
                  </a:lnTo>
                  <a:cubicBezTo>
                    <a:pt x="6875399" y="0"/>
                    <a:pt x="7033260" y="157861"/>
                    <a:pt x="7033260" y="352552"/>
                  </a:cubicBezTo>
                  <a:lnTo>
                    <a:pt x="7033260" y="3724148"/>
                  </a:lnTo>
                  <a:cubicBezTo>
                    <a:pt x="7033260" y="3918839"/>
                    <a:pt x="6875399" y="4076700"/>
                    <a:pt x="6680708" y="4076700"/>
                  </a:cubicBezTo>
                  <a:lnTo>
                    <a:pt x="352552" y="4076700"/>
                  </a:lnTo>
                  <a:cubicBezTo>
                    <a:pt x="157861" y="4076700"/>
                    <a:pt x="0" y="3918839"/>
                    <a:pt x="0" y="3724148"/>
                  </a:cubicBezTo>
                  <a:close/>
                </a:path>
              </a:pathLst>
            </a:custGeom>
            <a:solidFill>
              <a:srgbClr val="F5F8FA"/>
            </a:solidFill>
            <a:ln w="17146" cap="sq">
              <a:solidFill>
                <a:srgbClr val="D7E4EA"/>
              </a:solidFill>
              <a:prstDash val="solid"/>
              <a:miter/>
            </a:ln>
          </p:spPr>
        </p:sp>
      </p:grpSp>
      <p:grpSp>
        <p:nvGrpSpPr>
          <p:cNvPr name="Group 53" id="53"/>
          <p:cNvGrpSpPr/>
          <p:nvPr/>
        </p:nvGrpSpPr>
        <p:grpSpPr>
          <a:xfrm rot="0">
            <a:off x="1223010" y="6492240"/>
            <a:ext cx="57150" cy="308610"/>
            <a:chOff x="0" y="0"/>
            <a:chExt cx="76200" cy="411480"/>
          </a:xfrm>
        </p:grpSpPr>
        <p:sp>
          <p:nvSpPr>
            <p:cNvPr name="Freeform 54" id="54"/>
            <p:cNvSpPr/>
            <p:nvPr/>
          </p:nvSpPr>
          <p:spPr>
            <a:xfrm flipH="false" flipV="false" rot="0">
              <a:off x="0" y="0"/>
              <a:ext cx="76200" cy="411480"/>
            </a:xfrm>
            <a:custGeom>
              <a:avLst/>
              <a:gdLst/>
              <a:ahLst/>
              <a:cxnLst/>
              <a:rect r="r" b="b" t="t" l="l"/>
              <a:pathLst>
                <a:path h="411480" w="76200">
                  <a:moveTo>
                    <a:pt x="0" y="0"/>
                  </a:moveTo>
                  <a:lnTo>
                    <a:pt x="76200" y="0"/>
                  </a:lnTo>
                  <a:lnTo>
                    <a:pt x="76200" y="411480"/>
                  </a:lnTo>
                  <a:lnTo>
                    <a:pt x="0" y="411480"/>
                  </a:lnTo>
                  <a:close/>
                </a:path>
              </a:pathLst>
            </a:custGeom>
            <a:solidFill>
              <a:srgbClr val="00B3B5"/>
            </a:solidFill>
          </p:spPr>
        </p:sp>
      </p:grpSp>
      <p:sp>
        <p:nvSpPr>
          <p:cNvPr name="TextBox 55" id="55"/>
          <p:cNvSpPr txBox="true"/>
          <p:nvPr/>
        </p:nvSpPr>
        <p:spPr>
          <a:xfrm rot="0">
            <a:off x="1474470" y="6414135"/>
            <a:ext cx="4274820" cy="53530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Datos</a:t>
            </a:r>
          </a:p>
        </p:txBody>
      </p:sp>
      <p:grpSp>
        <p:nvGrpSpPr>
          <p:cNvPr name="Group 56" id="56"/>
          <p:cNvGrpSpPr/>
          <p:nvPr/>
        </p:nvGrpSpPr>
        <p:grpSpPr>
          <a:xfrm rot="0">
            <a:off x="3060573" y="7200900"/>
            <a:ext cx="965444" cy="994410"/>
            <a:chOff x="0" y="0"/>
            <a:chExt cx="1287259" cy="1325880"/>
          </a:xfrm>
        </p:grpSpPr>
        <p:sp>
          <p:nvSpPr>
            <p:cNvPr name="Freeform 57" id="57"/>
            <p:cNvSpPr/>
            <p:nvPr/>
          </p:nvSpPr>
          <p:spPr>
            <a:xfrm flipH="false" flipV="false" rot="0">
              <a:off x="0" y="0"/>
              <a:ext cx="1287272" cy="1325880"/>
            </a:xfrm>
            <a:custGeom>
              <a:avLst/>
              <a:gdLst/>
              <a:ahLst/>
              <a:cxnLst/>
              <a:rect r="r" b="b" t="t" l="l"/>
              <a:pathLst>
                <a:path h="1325880" w="1287272">
                  <a:moveTo>
                    <a:pt x="0" y="0"/>
                  </a:moveTo>
                  <a:lnTo>
                    <a:pt x="1287272" y="0"/>
                  </a:lnTo>
                  <a:lnTo>
                    <a:pt x="1287272" y="1325880"/>
                  </a:lnTo>
                  <a:lnTo>
                    <a:pt x="0" y="1325880"/>
                  </a:lnTo>
                  <a:lnTo>
                    <a:pt x="0" y="0"/>
                  </a:lnTo>
                  <a:close/>
                </a:path>
              </a:pathLst>
            </a:custGeom>
            <a:blipFill>
              <a:blip r:embed="rId11"/>
              <a:stretch>
                <a:fillRect l="0" t="0" r="0" b="0"/>
              </a:stretch>
            </a:blipFill>
          </p:spPr>
        </p:sp>
      </p:grpSp>
      <p:sp>
        <p:nvSpPr>
          <p:cNvPr name="TextBox 58" id="58"/>
          <p:cNvSpPr txBox="true"/>
          <p:nvPr/>
        </p:nvSpPr>
        <p:spPr>
          <a:xfrm rot="0">
            <a:off x="1154430" y="8334375"/>
            <a:ext cx="4777740" cy="489585"/>
          </a:xfrm>
          <a:prstGeom prst="rect">
            <a:avLst/>
          </a:prstGeom>
        </p:spPr>
        <p:txBody>
          <a:bodyPr anchor="t" rtlCol="false" tIns="0" lIns="0" bIns="0" rIns="0">
            <a:spAutoFit/>
          </a:bodyPr>
          <a:lstStyle/>
          <a:p>
            <a:pPr algn="ctr">
              <a:lnSpc>
                <a:spcPts val="3024"/>
              </a:lnSpc>
            </a:pPr>
            <a:r>
              <a:rPr lang="en-US" sz="2520" b="true">
                <a:solidFill>
                  <a:srgbClr val="122A3D"/>
                </a:solidFill>
                <a:latin typeface="Open Sans Bold"/>
                <a:ea typeface="Open Sans Bold"/>
                <a:cs typeface="Open Sans Bold"/>
                <a:sym typeface="Open Sans Bold"/>
              </a:rPr>
              <a:t>PostgreSQL</a:t>
            </a:r>
          </a:p>
        </p:txBody>
      </p:sp>
      <p:sp>
        <p:nvSpPr>
          <p:cNvPr name="TextBox 59" id="59"/>
          <p:cNvSpPr txBox="true"/>
          <p:nvPr/>
        </p:nvSpPr>
        <p:spPr>
          <a:xfrm rot="0">
            <a:off x="1154430" y="8869680"/>
            <a:ext cx="4777740" cy="365760"/>
          </a:xfrm>
          <a:prstGeom prst="rect">
            <a:avLst/>
          </a:prstGeom>
        </p:spPr>
        <p:txBody>
          <a:bodyPr anchor="t" rtlCol="false" tIns="0" lIns="0" bIns="0" rIns="0">
            <a:spAutoFit/>
          </a:bodyPr>
          <a:lstStyle/>
          <a:p>
            <a:pPr algn="ctr">
              <a:lnSpc>
                <a:spcPts val="2375"/>
              </a:lnSpc>
            </a:pPr>
            <a:r>
              <a:rPr lang="en-US" sz="1979">
                <a:solidFill>
                  <a:srgbClr val="506A7C"/>
                </a:solidFill>
                <a:latin typeface="Open Sans"/>
                <a:ea typeface="Open Sans"/>
                <a:cs typeface="Open Sans"/>
                <a:sym typeface="Open Sans"/>
              </a:rPr>
              <a:t>Persistencia y trazabilidad</a:t>
            </a:r>
          </a:p>
        </p:txBody>
      </p:sp>
      <p:grpSp>
        <p:nvGrpSpPr>
          <p:cNvPr name="Group 60" id="60"/>
          <p:cNvGrpSpPr/>
          <p:nvPr/>
        </p:nvGrpSpPr>
        <p:grpSpPr>
          <a:xfrm rot="0">
            <a:off x="6506528" y="6186488"/>
            <a:ext cx="5274945" cy="3057525"/>
            <a:chOff x="0" y="0"/>
            <a:chExt cx="7033260" cy="4076700"/>
          </a:xfrm>
        </p:grpSpPr>
        <p:sp>
          <p:nvSpPr>
            <p:cNvPr name="Freeform 61" id="61"/>
            <p:cNvSpPr/>
            <p:nvPr/>
          </p:nvSpPr>
          <p:spPr>
            <a:xfrm flipH="false" flipV="false" rot="0">
              <a:off x="0" y="0"/>
              <a:ext cx="7033260" cy="4076700"/>
            </a:xfrm>
            <a:custGeom>
              <a:avLst/>
              <a:gdLst/>
              <a:ahLst/>
              <a:cxnLst/>
              <a:rect r="r" b="b" t="t" l="l"/>
              <a:pathLst>
                <a:path h="4076700" w="7033260">
                  <a:moveTo>
                    <a:pt x="0" y="352552"/>
                  </a:moveTo>
                  <a:cubicBezTo>
                    <a:pt x="0" y="157861"/>
                    <a:pt x="157861" y="0"/>
                    <a:pt x="352552" y="0"/>
                  </a:cubicBezTo>
                  <a:lnTo>
                    <a:pt x="6680708" y="0"/>
                  </a:lnTo>
                  <a:cubicBezTo>
                    <a:pt x="6875399" y="0"/>
                    <a:pt x="7033260" y="157861"/>
                    <a:pt x="7033260" y="352552"/>
                  </a:cubicBezTo>
                  <a:lnTo>
                    <a:pt x="7033260" y="3724148"/>
                  </a:lnTo>
                  <a:cubicBezTo>
                    <a:pt x="7033260" y="3918839"/>
                    <a:pt x="6875399" y="4076700"/>
                    <a:pt x="6680708" y="4076700"/>
                  </a:cubicBezTo>
                  <a:lnTo>
                    <a:pt x="352552" y="4076700"/>
                  </a:lnTo>
                  <a:cubicBezTo>
                    <a:pt x="157861" y="4076700"/>
                    <a:pt x="0" y="3918839"/>
                    <a:pt x="0" y="3724148"/>
                  </a:cubicBezTo>
                  <a:close/>
                </a:path>
              </a:pathLst>
            </a:custGeom>
            <a:solidFill>
              <a:srgbClr val="F5F8FA"/>
            </a:solidFill>
            <a:ln w="17146" cap="sq">
              <a:solidFill>
                <a:srgbClr val="D7E4EA"/>
              </a:solidFill>
              <a:prstDash val="solid"/>
              <a:miter/>
            </a:ln>
          </p:spPr>
        </p:sp>
      </p:grpSp>
      <p:grpSp>
        <p:nvGrpSpPr>
          <p:cNvPr name="Group 62" id="62"/>
          <p:cNvGrpSpPr/>
          <p:nvPr/>
        </p:nvGrpSpPr>
        <p:grpSpPr>
          <a:xfrm rot="0">
            <a:off x="6823710" y="6492240"/>
            <a:ext cx="57150" cy="308610"/>
            <a:chOff x="0" y="0"/>
            <a:chExt cx="76200" cy="411480"/>
          </a:xfrm>
        </p:grpSpPr>
        <p:sp>
          <p:nvSpPr>
            <p:cNvPr name="Freeform 63" id="63"/>
            <p:cNvSpPr/>
            <p:nvPr/>
          </p:nvSpPr>
          <p:spPr>
            <a:xfrm flipH="false" flipV="false" rot="0">
              <a:off x="0" y="0"/>
              <a:ext cx="76200" cy="411480"/>
            </a:xfrm>
            <a:custGeom>
              <a:avLst/>
              <a:gdLst/>
              <a:ahLst/>
              <a:cxnLst/>
              <a:rect r="r" b="b" t="t" l="l"/>
              <a:pathLst>
                <a:path h="411480" w="76200">
                  <a:moveTo>
                    <a:pt x="0" y="0"/>
                  </a:moveTo>
                  <a:lnTo>
                    <a:pt x="76200" y="0"/>
                  </a:lnTo>
                  <a:lnTo>
                    <a:pt x="76200" y="411480"/>
                  </a:lnTo>
                  <a:lnTo>
                    <a:pt x="0" y="411480"/>
                  </a:lnTo>
                  <a:close/>
                </a:path>
              </a:pathLst>
            </a:custGeom>
            <a:solidFill>
              <a:srgbClr val="00B3B5"/>
            </a:solidFill>
          </p:spPr>
        </p:sp>
      </p:grpSp>
      <p:sp>
        <p:nvSpPr>
          <p:cNvPr name="TextBox 64" id="64"/>
          <p:cNvSpPr txBox="true"/>
          <p:nvPr/>
        </p:nvSpPr>
        <p:spPr>
          <a:xfrm rot="0">
            <a:off x="7075170" y="6414135"/>
            <a:ext cx="4274820" cy="53530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Autenticación</a:t>
            </a:r>
          </a:p>
        </p:txBody>
      </p:sp>
      <p:grpSp>
        <p:nvGrpSpPr>
          <p:cNvPr name="Group 65" id="65"/>
          <p:cNvGrpSpPr/>
          <p:nvPr/>
        </p:nvGrpSpPr>
        <p:grpSpPr>
          <a:xfrm rot="0">
            <a:off x="8646795" y="7200900"/>
            <a:ext cx="994410" cy="994410"/>
            <a:chOff x="0" y="0"/>
            <a:chExt cx="1325880" cy="1325880"/>
          </a:xfrm>
        </p:grpSpPr>
        <p:sp>
          <p:nvSpPr>
            <p:cNvPr name="Freeform 66" id="66"/>
            <p:cNvSpPr/>
            <p:nvPr/>
          </p:nvSpPr>
          <p:spPr>
            <a:xfrm flipH="false" flipV="false" rot="0">
              <a:off x="0" y="0"/>
              <a:ext cx="1325880" cy="1325880"/>
            </a:xfrm>
            <a:custGeom>
              <a:avLst/>
              <a:gdLst/>
              <a:ahLst/>
              <a:cxnLst/>
              <a:rect r="r" b="b" t="t" l="l"/>
              <a:pathLst>
                <a:path h="1325880" w="1325880">
                  <a:moveTo>
                    <a:pt x="0" y="0"/>
                  </a:moveTo>
                  <a:lnTo>
                    <a:pt x="1325880" y="0"/>
                  </a:lnTo>
                  <a:lnTo>
                    <a:pt x="1325880" y="1325880"/>
                  </a:lnTo>
                  <a:lnTo>
                    <a:pt x="0" y="1325880"/>
                  </a:lnTo>
                  <a:lnTo>
                    <a:pt x="0" y="0"/>
                  </a:lnTo>
                  <a:close/>
                </a:path>
              </a:pathLst>
            </a:custGeom>
            <a:blipFill>
              <a:blip r:embed="rId12"/>
              <a:stretch>
                <a:fillRect l="0" t="0" r="0" b="0"/>
              </a:stretch>
            </a:blipFill>
          </p:spPr>
        </p:sp>
      </p:grpSp>
      <p:sp>
        <p:nvSpPr>
          <p:cNvPr name="TextBox 67" id="67"/>
          <p:cNvSpPr txBox="true"/>
          <p:nvPr/>
        </p:nvSpPr>
        <p:spPr>
          <a:xfrm rot="0">
            <a:off x="6755130" y="8334375"/>
            <a:ext cx="4777740" cy="489585"/>
          </a:xfrm>
          <a:prstGeom prst="rect">
            <a:avLst/>
          </a:prstGeom>
        </p:spPr>
        <p:txBody>
          <a:bodyPr anchor="t" rtlCol="false" tIns="0" lIns="0" bIns="0" rIns="0">
            <a:spAutoFit/>
          </a:bodyPr>
          <a:lstStyle/>
          <a:p>
            <a:pPr algn="ctr">
              <a:lnSpc>
                <a:spcPts val="3024"/>
              </a:lnSpc>
            </a:pPr>
            <a:r>
              <a:rPr lang="en-US" sz="2520" b="true">
                <a:solidFill>
                  <a:srgbClr val="122A3D"/>
                </a:solidFill>
                <a:latin typeface="Open Sans Bold"/>
                <a:ea typeface="Open Sans Bold"/>
                <a:cs typeface="Open Sans Bold"/>
                <a:sym typeface="Open Sans Bold"/>
              </a:rPr>
              <a:t>Firebase Auth + Admin</a:t>
            </a:r>
          </a:p>
        </p:txBody>
      </p:sp>
      <p:sp>
        <p:nvSpPr>
          <p:cNvPr name="TextBox 68" id="68"/>
          <p:cNvSpPr txBox="true"/>
          <p:nvPr/>
        </p:nvSpPr>
        <p:spPr>
          <a:xfrm rot="0">
            <a:off x="6755130" y="8869680"/>
            <a:ext cx="4777740" cy="365760"/>
          </a:xfrm>
          <a:prstGeom prst="rect">
            <a:avLst/>
          </a:prstGeom>
        </p:spPr>
        <p:txBody>
          <a:bodyPr anchor="t" rtlCol="false" tIns="0" lIns="0" bIns="0" rIns="0">
            <a:spAutoFit/>
          </a:bodyPr>
          <a:lstStyle/>
          <a:p>
            <a:pPr algn="ctr">
              <a:lnSpc>
                <a:spcPts val="2375"/>
              </a:lnSpc>
            </a:pPr>
            <a:r>
              <a:rPr lang="en-US" sz="1979">
                <a:solidFill>
                  <a:srgbClr val="506A7C"/>
                </a:solidFill>
                <a:latin typeface="Open Sans"/>
                <a:ea typeface="Open Sans"/>
                <a:cs typeface="Open Sans"/>
                <a:sym typeface="Open Sans"/>
              </a:rPr>
              <a:t>Identidad y validación del token</a:t>
            </a:r>
          </a:p>
        </p:txBody>
      </p:sp>
      <p:grpSp>
        <p:nvGrpSpPr>
          <p:cNvPr name="Group 69" id="69"/>
          <p:cNvGrpSpPr/>
          <p:nvPr/>
        </p:nvGrpSpPr>
        <p:grpSpPr>
          <a:xfrm rot="0">
            <a:off x="12107228" y="6186488"/>
            <a:ext cx="5274945" cy="3057525"/>
            <a:chOff x="0" y="0"/>
            <a:chExt cx="7033260" cy="4076700"/>
          </a:xfrm>
        </p:grpSpPr>
        <p:sp>
          <p:nvSpPr>
            <p:cNvPr name="Freeform 70" id="70"/>
            <p:cNvSpPr/>
            <p:nvPr/>
          </p:nvSpPr>
          <p:spPr>
            <a:xfrm flipH="false" flipV="false" rot="0">
              <a:off x="0" y="0"/>
              <a:ext cx="7033260" cy="4076700"/>
            </a:xfrm>
            <a:custGeom>
              <a:avLst/>
              <a:gdLst/>
              <a:ahLst/>
              <a:cxnLst/>
              <a:rect r="r" b="b" t="t" l="l"/>
              <a:pathLst>
                <a:path h="4076700" w="7033260">
                  <a:moveTo>
                    <a:pt x="0" y="352552"/>
                  </a:moveTo>
                  <a:cubicBezTo>
                    <a:pt x="0" y="157861"/>
                    <a:pt x="157861" y="0"/>
                    <a:pt x="352552" y="0"/>
                  </a:cubicBezTo>
                  <a:lnTo>
                    <a:pt x="6680708" y="0"/>
                  </a:lnTo>
                  <a:cubicBezTo>
                    <a:pt x="6875399" y="0"/>
                    <a:pt x="7033260" y="157861"/>
                    <a:pt x="7033260" y="352552"/>
                  </a:cubicBezTo>
                  <a:lnTo>
                    <a:pt x="7033260" y="3724148"/>
                  </a:lnTo>
                  <a:cubicBezTo>
                    <a:pt x="7033260" y="3918839"/>
                    <a:pt x="6875399" y="4076700"/>
                    <a:pt x="6680708" y="4076700"/>
                  </a:cubicBezTo>
                  <a:lnTo>
                    <a:pt x="352552" y="4076700"/>
                  </a:lnTo>
                  <a:cubicBezTo>
                    <a:pt x="157861" y="4076700"/>
                    <a:pt x="0" y="3918839"/>
                    <a:pt x="0" y="3724148"/>
                  </a:cubicBezTo>
                  <a:close/>
                </a:path>
              </a:pathLst>
            </a:custGeom>
            <a:solidFill>
              <a:srgbClr val="F5F8FA"/>
            </a:solidFill>
            <a:ln w="17146" cap="sq">
              <a:solidFill>
                <a:srgbClr val="D7E4EA"/>
              </a:solidFill>
              <a:prstDash val="solid"/>
              <a:miter/>
            </a:ln>
          </p:spPr>
        </p:sp>
      </p:grpSp>
      <p:grpSp>
        <p:nvGrpSpPr>
          <p:cNvPr name="Group 71" id="71"/>
          <p:cNvGrpSpPr/>
          <p:nvPr/>
        </p:nvGrpSpPr>
        <p:grpSpPr>
          <a:xfrm rot="0">
            <a:off x="12424410" y="6492240"/>
            <a:ext cx="57150" cy="308610"/>
            <a:chOff x="0" y="0"/>
            <a:chExt cx="76200" cy="411480"/>
          </a:xfrm>
        </p:grpSpPr>
        <p:sp>
          <p:nvSpPr>
            <p:cNvPr name="Freeform 72" id="72"/>
            <p:cNvSpPr/>
            <p:nvPr/>
          </p:nvSpPr>
          <p:spPr>
            <a:xfrm flipH="false" flipV="false" rot="0">
              <a:off x="0" y="0"/>
              <a:ext cx="76200" cy="411480"/>
            </a:xfrm>
            <a:custGeom>
              <a:avLst/>
              <a:gdLst/>
              <a:ahLst/>
              <a:cxnLst/>
              <a:rect r="r" b="b" t="t" l="l"/>
              <a:pathLst>
                <a:path h="411480" w="76200">
                  <a:moveTo>
                    <a:pt x="0" y="0"/>
                  </a:moveTo>
                  <a:lnTo>
                    <a:pt x="76200" y="0"/>
                  </a:lnTo>
                  <a:lnTo>
                    <a:pt x="76200" y="411480"/>
                  </a:lnTo>
                  <a:lnTo>
                    <a:pt x="0" y="411480"/>
                  </a:lnTo>
                  <a:close/>
                </a:path>
              </a:pathLst>
            </a:custGeom>
            <a:solidFill>
              <a:srgbClr val="00B3B5"/>
            </a:solidFill>
          </p:spPr>
        </p:sp>
      </p:grpSp>
      <p:sp>
        <p:nvSpPr>
          <p:cNvPr name="TextBox 73" id="73"/>
          <p:cNvSpPr txBox="true"/>
          <p:nvPr/>
        </p:nvSpPr>
        <p:spPr>
          <a:xfrm rot="0">
            <a:off x="12675870" y="6414135"/>
            <a:ext cx="4274820" cy="535305"/>
          </a:xfrm>
          <a:prstGeom prst="rect">
            <a:avLst/>
          </a:prstGeom>
        </p:spPr>
        <p:txBody>
          <a:bodyPr anchor="t" rtlCol="false" tIns="0" lIns="0" bIns="0" rIns="0">
            <a:spAutoFit/>
          </a:bodyPr>
          <a:lstStyle/>
          <a:p>
            <a:pPr algn="l">
              <a:lnSpc>
                <a:spcPts val="3131"/>
              </a:lnSpc>
            </a:pPr>
            <a:r>
              <a:rPr lang="en-US" sz="2610" b="true">
                <a:solidFill>
                  <a:srgbClr val="122A3D"/>
                </a:solidFill>
                <a:latin typeface="Open Sans Bold"/>
                <a:ea typeface="Open Sans Bold"/>
                <a:cs typeface="Open Sans Bold"/>
                <a:sym typeface="Open Sans Bold"/>
              </a:rPr>
              <a:t>Analítica auxiliar</a:t>
            </a:r>
          </a:p>
        </p:txBody>
      </p:sp>
      <p:grpSp>
        <p:nvGrpSpPr>
          <p:cNvPr name="Group 74" id="74"/>
          <p:cNvGrpSpPr/>
          <p:nvPr/>
        </p:nvGrpSpPr>
        <p:grpSpPr>
          <a:xfrm rot="0">
            <a:off x="13322798" y="7200900"/>
            <a:ext cx="820693" cy="994410"/>
            <a:chOff x="0" y="0"/>
            <a:chExt cx="1094257" cy="1325880"/>
          </a:xfrm>
        </p:grpSpPr>
        <p:sp>
          <p:nvSpPr>
            <p:cNvPr name="Freeform 75" id="75"/>
            <p:cNvSpPr/>
            <p:nvPr/>
          </p:nvSpPr>
          <p:spPr>
            <a:xfrm flipH="false" flipV="false" rot="0">
              <a:off x="0" y="0"/>
              <a:ext cx="1094232" cy="1325880"/>
            </a:xfrm>
            <a:custGeom>
              <a:avLst/>
              <a:gdLst/>
              <a:ahLst/>
              <a:cxnLst/>
              <a:rect r="r" b="b" t="t" l="l"/>
              <a:pathLst>
                <a:path h="1325880" w="1094232">
                  <a:moveTo>
                    <a:pt x="0" y="0"/>
                  </a:moveTo>
                  <a:lnTo>
                    <a:pt x="1094232" y="0"/>
                  </a:lnTo>
                  <a:lnTo>
                    <a:pt x="1094232" y="1325880"/>
                  </a:lnTo>
                  <a:lnTo>
                    <a:pt x="0" y="1325880"/>
                  </a:lnTo>
                  <a:lnTo>
                    <a:pt x="0" y="0"/>
                  </a:lnTo>
                  <a:close/>
                </a:path>
              </a:pathLst>
            </a:custGeom>
            <a:blipFill>
              <a:blip r:embed="rId13"/>
              <a:stretch>
                <a:fillRect l="0" t="0" r="-2" b="0"/>
              </a:stretch>
            </a:blipFill>
          </p:spPr>
        </p:sp>
      </p:grpSp>
      <p:grpSp>
        <p:nvGrpSpPr>
          <p:cNvPr name="Group 76" id="76"/>
          <p:cNvGrpSpPr/>
          <p:nvPr/>
        </p:nvGrpSpPr>
        <p:grpSpPr>
          <a:xfrm rot="0">
            <a:off x="14636115" y="7075170"/>
            <a:ext cx="1748790" cy="1234440"/>
            <a:chOff x="0" y="0"/>
            <a:chExt cx="2331720" cy="1645920"/>
          </a:xfrm>
        </p:grpSpPr>
        <p:sp>
          <p:nvSpPr>
            <p:cNvPr name="Freeform 77" id="77"/>
            <p:cNvSpPr/>
            <p:nvPr/>
          </p:nvSpPr>
          <p:spPr>
            <a:xfrm flipH="false" flipV="false" rot="0">
              <a:off x="0" y="0"/>
              <a:ext cx="2331720" cy="1645920"/>
            </a:xfrm>
            <a:custGeom>
              <a:avLst/>
              <a:gdLst/>
              <a:ahLst/>
              <a:cxnLst/>
              <a:rect r="r" b="b" t="t" l="l"/>
              <a:pathLst>
                <a:path h="1645920" w="2331720">
                  <a:moveTo>
                    <a:pt x="0" y="213360"/>
                  </a:moveTo>
                  <a:cubicBezTo>
                    <a:pt x="0" y="95504"/>
                    <a:pt x="95504" y="0"/>
                    <a:pt x="213360" y="0"/>
                  </a:cubicBezTo>
                  <a:lnTo>
                    <a:pt x="2118360" y="0"/>
                  </a:lnTo>
                  <a:cubicBezTo>
                    <a:pt x="2236216" y="0"/>
                    <a:pt x="2331720" y="95504"/>
                    <a:pt x="2331720" y="213360"/>
                  </a:cubicBezTo>
                  <a:lnTo>
                    <a:pt x="2331720" y="1432560"/>
                  </a:lnTo>
                  <a:cubicBezTo>
                    <a:pt x="2331720" y="1550416"/>
                    <a:pt x="2236216" y="1645920"/>
                    <a:pt x="2118360" y="1645920"/>
                  </a:cubicBezTo>
                  <a:lnTo>
                    <a:pt x="213360" y="1645920"/>
                  </a:lnTo>
                  <a:cubicBezTo>
                    <a:pt x="95504" y="1645920"/>
                    <a:pt x="0" y="1550416"/>
                    <a:pt x="0" y="1432560"/>
                  </a:cubicBezTo>
                  <a:close/>
                </a:path>
              </a:pathLst>
            </a:custGeom>
            <a:solidFill>
              <a:srgbClr val="FFFFFF"/>
            </a:solidFill>
          </p:spPr>
        </p:sp>
      </p:grpSp>
      <p:grpSp>
        <p:nvGrpSpPr>
          <p:cNvPr name="Group 78" id="78"/>
          <p:cNvGrpSpPr/>
          <p:nvPr/>
        </p:nvGrpSpPr>
        <p:grpSpPr>
          <a:xfrm rot="0">
            <a:off x="15137606" y="7200900"/>
            <a:ext cx="745807" cy="994410"/>
            <a:chOff x="0" y="0"/>
            <a:chExt cx="994410" cy="1325880"/>
          </a:xfrm>
        </p:grpSpPr>
        <p:sp>
          <p:nvSpPr>
            <p:cNvPr name="Freeform 79" id="79"/>
            <p:cNvSpPr/>
            <p:nvPr/>
          </p:nvSpPr>
          <p:spPr>
            <a:xfrm flipH="false" flipV="false" rot="0">
              <a:off x="0" y="0"/>
              <a:ext cx="994410" cy="1325880"/>
            </a:xfrm>
            <a:custGeom>
              <a:avLst/>
              <a:gdLst/>
              <a:ahLst/>
              <a:cxnLst/>
              <a:rect r="r" b="b" t="t" l="l"/>
              <a:pathLst>
                <a:path h="1325880" w="994410">
                  <a:moveTo>
                    <a:pt x="0" y="0"/>
                  </a:moveTo>
                  <a:lnTo>
                    <a:pt x="994410" y="0"/>
                  </a:lnTo>
                  <a:lnTo>
                    <a:pt x="994410" y="1325880"/>
                  </a:lnTo>
                  <a:lnTo>
                    <a:pt x="0" y="1325880"/>
                  </a:lnTo>
                  <a:lnTo>
                    <a:pt x="0" y="0"/>
                  </a:lnTo>
                  <a:close/>
                </a:path>
              </a:pathLst>
            </a:custGeom>
            <a:blipFill>
              <a:blip r:embed="rId14"/>
              <a:stretch>
                <a:fillRect l="0" t="0" r="0" b="0"/>
              </a:stretch>
            </a:blipFill>
          </p:spPr>
        </p:sp>
      </p:grpSp>
      <p:sp>
        <p:nvSpPr>
          <p:cNvPr name="TextBox 80" id="80"/>
          <p:cNvSpPr txBox="true"/>
          <p:nvPr/>
        </p:nvSpPr>
        <p:spPr>
          <a:xfrm rot="0">
            <a:off x="12355830" y="8334375"/>
            <a:ext cx="4777740" cy="489585"/>
          </a:xfrm>
          <a:prstGeom prst="rect">
            <a:avLst/>
          </a:prstGeom>
        </p:spPr>
        <p:txBody>
          <a:bodyPr anchor="t" rtlCol="false" tIns="0" lIns="0" bIns="0" rIns="0">
            <a:spAutoFit/>
          </a:bodyPr>
          <a:lstStyle/>
          <a:p>
            <a:pPr algn="ctr">
              <a:lnSpc>
                <a:spcPts val="3024"/>
              </a:lnSpc>
            </a:pPr>
            <a:r>
              <a:rPr lang="en-US" sz="2520" b="true">
                <a:solidFill>
                  <a:srgbClr val="122A3D"/>
                </a:solidFill>
                <a:latin typeface="Open Sans Bold"/>
                <a:ea typeface="Open Sans Bold"/>
                <a:cs typeface="Open Sans Bold"/>
                <a:sym typeface="Open Sans Bold"/>
              </a:rPr>
              <a:t>Python · pandas</a:t>
            </a:r>
          </a:p>
        </p:txBody>
      </p:sp>
      <p:sp>
        <p:nvSpPr>
          <p:cNvPr name="TextBox 81" id="81"/>
          <p:cNvSpPr txBox="true"/>
          <p:nvPr/>
        </p:nvSpPr>
        <p:spPr>
          <a:xfrm rot="0">
            <a:off x="12355830" y="8869680"/>
            <a:ext cx="4777740" cy="365760"/>
          </a:xfrm>
          <a:prstGeom prst="rect">
            <a:avLst/>
          </a:prstGeom>
        </p:spPr>
        <p:txBody>
          <a:bodyPr anchor="t" rtlCol="false" tIns="0" lIns="0" bIns="0" rIns="0">
            <a:spAutoFit/>
          </a:bodyPr>
          <a:lstStyle/>
          <a:p>
            <a:pPr algn="ctr">
              <a:lnSpc>
                <a:spcPts val="2375"/>
              </a:lnSpc>
            </a:pPr>
            <a:r>
              <a:rPr lang="en-US" sz="1979">
                <a:solidFill>
                  <a:srgbClr val="506A7C"/>
                </a:solidFill>
                <a:latin typeface="Open Sans"/>
                <a:ea typeface="Open Sans"/>
                <a:cs typeface="Open Sans"/>
                <a:sym typeface="Open Sans"/>
              </a:rPr>
              <a:t>Proceso local de solo lectura</a:t>
            </a:r>
          </a:p>
        </p:txBody>
      </p:sp>
      <p:grpSp>
        <p:nvGrpSpPr>
          <p:cNvPr name="Group 82" id="82"/>
          <p:cNvGrpSpPr/>
          <p:nvPr/>
        </p:nvGrpSpPr>
        <p:grpSpPr>
          <a:xfrm rot="0">
            <a:off x="14360804" y="430782"/>
            <a:ext cx="3069946" cy="852936"/>
            <a:chOff x="0" y="0"/>
            <a:chExt cx="2799232" cy="777723"/>
          </a:xfrm>
        </p:grpSpPr>
        <p:sp>
          <p:nvSpPr>
            <p:cNvPr name="Freeform 83" id="83"/>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15"/>
              <a:stretch>
                <a:fillRect l="0" t="0" r="0" b="3"/>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C29"/>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83" t="0" r="-283" b="0"/>
            </a:stretch>
          </a:blipFill>
        </p:spPr>
      </p:sp>
      <p:grpSp>
        <p:nvGrpSpPr>
          <p:cNvPr name="Group 3" id="3"/>
          <p:cNvGrpSpPr/>
          <p:nvPr/>
        </p:nvGrpSpPr>
        <p:grpSpPr>
          <a:xfrm rot="0">
            <a:off x="914400" y="857250"/>
            <a:ext cx="15716250" cy="928688"/>
            <a:chOff x="0" y="0"/>
            <a:chExt cx="20955000" cy="1238250"/>
          </a:xfrm>
        </p:grpSpPr>
        <p:sp>
          <p:nvSpPr>
            <p:cNvPr name="Freeform 4" id="4"/>
            <p:cNvSpPr/>
            <p:nvPr/>
          </p:nvSpPr>
          <p:spPr>
            <a:xfrm flipH="false" flipV="false" rot="0">
              <a:off x="0" y="0"/>
              <a:ext cx="20955000" cy="1238250"/>
            </a:xfrm>
            <a:custGeom>
              <a:avLst/>
              <a:gdLst/>
              <a:ahLst/>
              <a:cxnLst/>
              <a:rect r="r" b="b" t="t" l="l"/>
              <a:pathLst>
                <a:path h="1238250" w="20955000">
                  <a:moveTo>
                    <a:pt x="0" y="0"/>
                  </a:moveTo>
                  <a:lnTo>
                    <a:pt x="20955000" y="0"/>
                  </a:lnTo>
                  <a:lnTo>
                    <a:pt x="20955000" y="1238250"/>
                  </a:lnTo>
                  <a:lnTo>
                    <a:pt x="0" y="1238250"/>
                  </a:lnTo>
                  <a:close/>
                </a:path>
              </a:pathLst>
            </a:custGeom>
            <a:blipFill>
              <a:blip r:embed="rId4">
                <a:alphaModFix amt="0"/>
              </a:blip>
              <a:stretch>
                <a:fillRect l="0" t="-279746" r="0" b="-279746"/>
              </a:stretch>
            </a:blipFill>
          </p:spPr>
        </p:sp>
        <p:sp>
          <p:nvSpPr>
            <p:cNvPr name="TextBox 5" id="5"/>
            <p:cNvSpPr txBox="true"/>
            <p:nvPr/>
          </p:nvSpPr>
          <p:spPr>
            <a:xfrm>
              <a:off x="0" y="9525"/>
              <a:ext cx="20955000" cy="1228725"/>
            </a:xfrm>
            <a:prstGeom prst="rect">
              <a:avLst/>
            </a:prstGeom>
          </p:spPr>
          <p:txBody>
            <a:bodyPr anchor="ctr" rtlCol="false" tIns="0" lIns="0" bIns="0" rIns="0"/>
            <a:lstStyle/>
            <a:p>
              <a:pPr algn="l">
                <a:lnSpc>
                  <a:spcPts val="5670"/>
                </a:lnSpc>
              </a:pPr>
              <a:r>
                <a:rPr lang="en-US" sz="4725" b="true">
                  <a:solidFill>
                    <a:srgbClr val="FFFFFF"/>
                  </a:solidFill>
                  <a:latin typeface="Aptos Bold"/>
                  <a:ea typeface="Aptos Bold"/>
                  <a:cs typeface="Aptos Bold"/>
                  <a:sym typeface="Aptos Bold"/>
                </a:rPr>
                <a:t>Arquitectura de la solución</a:t>
              </a:r>
            </a:p>
          </p:txBody>
        </p:sp>
      </p:grpSp>
      <p:grpSp>
        <p:nvGrpSpPr>
          <p:cNvPr name="Group 6" id="6"/>
          <p:cNvGrpSpPr/>
          <p:nvPr/>
        </p:nvGrpSpPr>
        <p:grpSpPr>
          <a:xfrm rot="0">
            <a:off x="931545" y="1504950"/>
            <a:ext cx="16002000" cy="685800"/>
            <a:chOff x="0" y="0"/>
            <a:chExt cx="21336000" cy="914400"/>
          </a:xfrm>
        </p:grpSpPr>
        <p:sp>
          <p:nvSpPr>
            <p:cNvPr name="Freeform 7" id="7"/>
            <p:cNvSpPr/>
            <p:nvPr/>
          </p:nvSpPr>
          <p:spPr>
            <a:xfrm flipH="false" flipV="false" rot="0">
              <a:off x="0" y="0"/>
              <a:ext cx="21336000" cy="914400"/>
            </a:xfrm>
            <a:custGeom>
              <a:avLst/>
              <a:gdLst/>
              <a:ahLst/>
              <a:cxnLst/>
              <a:rect r="r" b="b" t="t" l="l"/>
              <a:pathLst>
                <a:path h="914400" w="21336000">
                  <a:moveTo>
                    <a:pt x="0" y="0"/>
                  </a:moveTo>
                  <a:lnTo>
                    <a:pt x="21336000" y="0"/>
                  </a:lnTo>
                  <a:lnTo>
                    <a:pt x="21336000" y="914400"/>
                  </a:lnTo>
                  <a:lnTo>
                    <a:pt x="0" y="914400"/>
                  </a:lnTo>
                  <a:close/>
                </a:path>
              </a:pathLst>
            </a:custGeom>
            <a:blipFill>
              <a:blip r:embed="rId4">
                <a:alphaModFix amt="0"/>
              </a:blip>
              <a:stretch>
                <a:fillRect l="0" t="-404650" r="0" b="-404650"/>
              </a:stretch>
            </a:blipFill>
          </p:spPr>
        </p:sp>
        <p:sp>
          <p:nvSpPr>
            <p:cNvPr name="TextBox 8" id="8"/>
            <p:cNvSpPr txBox="true"/>
            <p:nvPr/>
          </p:nvSpPr>
          <p:spPr>
            <a:xfrm>
              <a:off x="0" y="0"/>
              <a:ext cx="21336000" cy="914400"/>
            </a:xfrm>
            <a:prstGeom prst="rect">
              <a:avLst/>
            </a:prstGeom>
          </p:spPr>
          <p:txBody>
            <a:bodyPr anchor="ctr" rtlCol="false" tIns="0" lIns="0" bIns="0" rIns="0"/>
            <a:lstStyle/>
            <a:p>
              <a:pPr algn="l">
                <a:lnSpc>
                  <a:spcPts val="3104"/>
                </a:lnSpc>
              </a:pPr>
              <a:r>
                <a:rPr lang="en-US" sz="2587">
                  <a:solidFill>
                    <a:srgbClr val="B9CEDB"/>
                  </a:solidFill>
                  <a:latin typeface="Aptos"/>
                  <a:ea typeface="Aptos"/>
                  <a:cs typeface="Aptos"/>
                  <a:sym typeface="Aptos"/>
                </a:rPr>
                <a:t>La API concentra permisos, reglas de negocio y acceso a datos</a:t>
              </a:r>
            </a:p>
          </p:txBody>
        </p:sp>
      </p:grpSp>
      <p:grpSp>
        <p:nvGrpSpPr>
          <p:cNvPr name="Group 9" id="9"/>
          <p:cNvGrpSpPr/>
          <p:nvPr/>
        </p:nvGrpSpPr>
        <p:grpSpPr>
          <a:xfrm rot="0">
            <a:off x="960120" y="2190750"/>
            <a:ext cx="1200150" cy="57150"/>
            <a:chOff x="0" y="0"/>
            <a:chExt cx="1600200" cy="76200"/>
          </a:xfrm>
        </p:grpSpPr>
        <p:sp>
          <p:nvSpPr>
            <p:cNvPr name="Freeform 10" id="10"/>
            <p:cNvSpPr/>
            <p:nvPr/>
          </p:nvSpPr>
          <p:spPr>
            <a:xfrm flipH="false" flipV="false" rot="0">
              <a:off x="0" y="0"/>
              <a:ext cx="1600200" cy="76200"/>
            </a:xfrm>
            <a:custGeom>
              <a:avLst/>
              <a:gdLst/>
              <a:ahLst/>
              <a:cxnLst/>
              <a:rect r="r" b="b" t="t" l="l"/>
              <a:pathLst>
                <a:path h="76200" w="1600200">
                  <a:moveTo>
                    <a:pt x="0" y="0"/>
                  </a:moveTo>
                  <a:lnTo>
                    <a:pt x="1600200" y="0"/>
                  </a:lnTo>
                  <a:lnTo>
                    <a:pt x="1600200" y="76200"/>
                  </a:lnTo>
                  <a:lnTo>
                    <a:pt x="0" y="76200"/>
                  </a:lnTo>
                  <a:close/>
                </a:path>
              </a:pathLst>
            </a:custGeom>
            <a:solidFill>
              <a:srgbClr val="00B8BD"/>
            </a:solidFill>
          </p:spPr>
        </p:sp>
      </p:grpSp>
      <p:grpSp>
        <p:nvGrpSpPr>
          <p:cNvPr name="Group 11" id="11"/>
          <p:cNvGrpSpPr/>
          <p:nvPr/>
        </p:nvGrpSpPr>
        <p:grpSpPr>
          <a:xfrm rot="0">
            <a:off x="16787812" y="9572625"/>
            <a:ext cx="642938" cy="357188"/>
            <a:chOff x="0" y="0"/>
            <a:chExt cx="857250" cy="476250"/>
          </a:xfrm>
        </p:grpSpPr>
        <p:sp>
          <p:nvSpPr>
            <p:cNvPr name="Freeform 12" id="12"/>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13" id="13"/>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13</a:t>
              </a:r>
            </a:p>
          </p:txBody>
        </p:sp>
      </p:grpSp>
      <p:grpSp>
        <p:nvGrpSpPr>
          <p:cNvPr name="Group 14" id="14"/>
          <p:cNvGrpSpPr/>
          <p:nvPr/>
        </p:nvGrpSpPr>
        <p:grpSpPr>
          <a:xfrm rot="0">
            <a:off x="14575945" y="490728"/>
            <a:ext cx="2970052" cy="823722"/>
            <a:chOff x="0" y="0"/>
            <a:chExt cx="2762250" cy="766089"/>
          </a:xfrm>
        </p:grpSpPr>
        <p:sp>
          <p:nvSpPr>
            <p:cNvPr name="Freeform 15" id="15"/>
            <p:cNvSpPr/>
            <p:nvPr/>
          </p:nvSpPr>
          <p:spPr>
            <a:xfrm flipH="false" flipV="false" rot="0">
              <a:off x="0" y="0"/>
              <a:ext cx="2762250" cy="766064"/>
            </a:xfrm>
            <a:custGeom>
              <a:avLst/>
              <a:gdLst/>
              <a:ahLst/>
              <a:cxnLst/>
              <a:rect r="r" b="b" t="t" l="l"/>
              <a:pathLst>
                <a:path h="766064" w="2762250">
                  <a:moveTo>
                    <a:pt x="0" y="0"/>
                  </a:moveTo>
                  <a:lnTo>
                    <a:pt x="2762250" y="0"/>
                  </a:lnTo>
                  <a:lnTo>
                    <a:pt x="2762250" y="766064"/>
                  </a:lnTo>
                  <a:lnTo>
                    <a:pt x="0" y="766064"/>
                  </a:lnTo>
                  <a:lnTo>
                    <a:pt x="0" y="0"/>
                  </a:lnTo>
                  <a:close/>
                </a:path>
              </a:pathLst>
            </a:custGeom>
            <a:blipFill>
              <a:blip r:embed="rId5"/>
              <a:stretch>
                <a:fillRect l="0" t="0" r="0" b="-3"/>
              </a:stretch>
            </a:blipFill>
          </p:spPr>
        </p:sp>
      </p:grpSp>
      <p:sp>
        <p:nvSpPr>
          <p:cNvPr name="TextBox 16" id="16"/>
          <p:cNvSpPr txBox="true"/>
          <p:nvPr/>
        </p:nvSpPr>
        <p:spPr>
          <a:xfrm rot="0">
            <a:off x="914400" y="4183380"/>
            <a:ext cx="3771900" cy="365760"/>
          </a:xfrm>
          <a:prstGeom prst="rect">
            <a:avLst/>
          </a:prstGeom>
        </p:spPr>
        <p:txBody>
          <a:bodyPr anchor="t" rtlCol="false" tIns="0" lIns="0" bIns="0" rIns="0">
            <a:spAutoFit/>
          </a:bodyPr>
          <a:lstStyle/>
          <a:p>
            <a:pPr algn="l">
              <a:lnSpc>
                <a:spcPts val="2267"/>
              </a:lnSpc>
            </a:pPr>
            <a:r>
              <a:rPr lang="en-US" sz="1889" b="true">
                <a:solidFill>
                  <a:srgbClr val="56DBD6"/>
                </a:solidFill>
                <a:latin typeface="Open Sans Bold"/>
                <a:ea typeface="Open Sans Bold"/>
                <a:cs typeface="Open Sans Bold"/>
                <a:sym typeface="Open Sans Bold"/>
              </a:rPr>
              <a:t>CLIENTES</a:t>
            </a:r>
          </a:p>
        </p:txBody>
      </p:sp>
      <p:sp>
        <p:nvSpPr>
          <p:cNvPr name="TextBox 17" id="17"/>
          <p:cNvSpPr txBox="true"/>
          <p:nvPr/>
        </p:nvSpPr>
        <p:spPr>
          <a:xfrm rot="0">
            <a:off x="13830300" y="4411980"/>
            <a:ext cx="3543300" cy="365760"/>
          </a:xfrm>
          <a:prstGeom prst="rect">
            <a:avLst/>
          </a:prstGeom>
        </p:spPr>
        <p:txBody>
          <a:bodyPr anchor="t" rtlCol="false" tIns="0" lIns="0" bIns="0" rIns="0">
            <a:spAutoFit/>
          </a:bodyPr>
          <a:lstStyle/>
          <a:p>
            <a:pPr algn="l">
              <a:lnSpc>
                <a:spcPts val="2267"/>
              </a:lnSpc>
            </a:pPr>
            <a:r>
              <a:rPr lang="en-US" sz="1889" b="true">
                <a:solidFill>
                  <a:srgbClr val="56DBD6"/>
                </a:solidFill>
                <a:latin typeface="Open Sans Bold"/>
                <a:ea typeface="Open Sans Bold"/>
                <a:cs typeface="Open Sans Bold"/>
                <a:sym typeface="Open Sans Bold"/>
              </a:rPr>
              <a:t>PERSISTENCIA</a:t>
            </a:r>
          </a:p>
        </p:txBody>
      </p:sp>
      <p:grpSp>
        <p:nvGrpSpPr>
          <p:cNvPr name="Group 18" id="18"/>
          <p:cNvGrpSpPr/>
          <p:nvPr/>
        </p:nvGrpSpPr>
        <p:grpSpPr>
          <a:xfrm rot="0">
            <a:off x="914400" y="4686300"/>
            <a:ext cx="3771900" cy="3166110"/>
            <a:chOff x="0" y="0"/>
            <a:chExt cx="5029200" cy="4221480"/>
          </a:xfrm>
        </p:grpSpPr>
        <p:sp>
          <p:nvSpPr>
            <p:cNvPr name="Freeform 19" id="19"/>
            <p:cNvSpPr/>
            <p:nvPr/>
          </p:nvSpPr>
          <p:spPr>
            <a:xfrm flipH="false" flipV="false" rot="0">
              <a:off x="0" y="0"/>
              <a:ext cx="5029200" cy="4221480"/>
            </a:xfrm>
            <a:custGeom>
              <a:avLst/>
              <a:gdLst/>
              <a:ahLst/>
              <a:cxnLst/>
              <a:rect r="r" b="b" t="t" l="l"/>
              <a:pathLst>
                <a:path h="4221480" w="5029200">
                  <a:moveTo>
                    <a:pt x="0" y="365760"/>
                  </a:moveTo>
                  <a:cubicBezTo>
                    <a:pt x="0" y="163703"/>
                    <a:pt x="163703" y="0"/>
                    <a:pt x="365760" y="0"/>
                  </a:cubicBezTo>
                  <a:lnTo>
                    <a:pt x="4663440" y="0"/>
                  </a:lnTo>
                  <a:cubicBezTo>
                    <a:pt x="4865497" y="0"/>
                    <a:pt x="5029200" y="163703"/>
                    <a:pt x="5029200" y="365760"/>
                  </a:cubicBezTo>
                  <a:lnTo>
                    <a:pt x="5029200" y="3855720"/>
                  </a:lnTo>
                  <a:cubicBezTo>
                    <a:pt x="5029200" y="4057777"/>
                    <a:pt x="4865497" y="4221480"/>
                    <a:pt x="4663440" y="4221480"/>
                  </a:cubicBezTo>
                  <a:lnTo>
                    <a:pt x="365760" y="4221480"/>
                  </a:lnTo>
                  <a:cubicBezTo>
                    <a:pt x="163703" y="4221480"/>
                    <a:pt x="0" y="4057777"/>
                    <a:pt x="0" y="3855720"/>
                  </a:cubicBezTo>
                  <a:close/>
                </a:path>
              </a:pathLst>
            </a:custGeom>
            <a:solidFill>
              <a:srgbClr val="16374E"/>
            </a:solidFill>
          </p:spPr>
        </p:sp>
      </p:grpSp>
      <p:grpSp>
        <p:nvGrpSpPr>
          <p:cNvPr name="Group 20" id="20"/>
          <p:cNvGrpSpPr/>
          <p:nvPr/>
        </p:nvGrpSpPr>
        <p:grpSpPr>
          <a:xfrm rot="0">
            <a:off x="1188720" y="5086350"/>
            <a:ext cx="902970" cy="891540"/>
            <a:chOff x="0" y="0"/>
            <a:chExt cx="1203960" cy="1188720"/>
          </a:xfrm>
        </p:grpSpPr>
        <p:sp>
          <p:nvSpPr>
            <p:cNvPr name="Freeform 21" id="21"/>
            <p:cNvSpPr/>
            <p:nvPr/>
          </p:nvSpPr>
          <p:spPr>
            <a:xfrm flipH="false" flipV="false" rot="0">
              <a:off x="0" y="0"/>
              <a:ext cx="1203960" cy="1188720"/>
            </a:xfrm>
            <a:custGeom>
              <a:avLst/>
              <a:gdLst/>
              <a:ahLst/>
              <a:cxnLst/>
              <a:rect r="r" b="b" t="t" l="l"/>
              <a:pathLst>
                <a:path h="1188720" w="1203960">
                  <a:moveTo>
                    <a:pt x="0" y="198120"/>
                  </a:moveTo>
                  <a:cubicBezTo>
                    <a:pt x="0" y="88646"/>
                    <a:pt x="88646" y="0"/>
                    <a:pt x="198120" y="0"/>
                  </a:cubicBezTo>
                  <a:lnTo>
                    <a:pt x="1005840" y="0"/>
                  </a:lnTo>
                  <a:cubicBezTo>
                    <a:pt x="1115314" y="0"/>
                    <a:pt x="1203960" y="88646"/>
                    <a:pt x="1203960" y="198120"/>
                  </a:cubicBezTo>
                  <a:lnTo>
                    <a:pt x="1203960" y="990600"/>
                  </a:lnTo>
                  <a:cubicBezTo>
                    <a:pt x="1203960" y="1100074"/>
                    <a:pt x="1115314" y="1188720"/>
                    <a:pt x="1005840" y="1188720"/>
                  </a:cubicBezTo>
                  <a:lnTo>
                    <a:pt x="198120" y="1188720"/>
                  </a:lnTo>
                  <a:cubicBezTo>
                    <a:pt x="88646" y="1188720"/>
                    <a:pt x="0" y="1100074"/>
                    <a:pt x="0" y="990600"/>
                  </a:cubicBezTo>
                  <a:close/>
                </a:path>
              </a:pathLst>
            </a:custGeom>
            <a:solidFill>
              <a:srgbClr val="FFFFFF"/>
            </a:solidFill>
          </p:spPr>
        </p:sp>
      </p:grpSp>
      <p:grpSp>
        <p:nvGrpSpPr>
          <p:cNvPr name="Group 22" id="22"/>
          <p:cNvGrpSpPr/>
          <p:nvPr/>
        </p:nvGrpSpPr>
        <p:grpSpPr>
          <a:xfrm rot="0">
            <a:off x="1297305" y="5223510"/>
            <a:ext cx="685800" cy="617220"/>
            <a:chOff x="0" y="0"/>
            <a:chExt cx="914400" cy="822960"/>
          </a:xfrm>
        </p:grpSpPr>
        <p:sp>
          <p:nvSpPr>
            <p:cNvPr name="Freeform 23" id="23"/>
            <p:cNvSpPr/>
            <p:nvPr/>
          </p:nvSpPr>
          <p:spPr>
            <a:xfrm flipH="false" flipV="false" rot="0">
              <a:off x="0" y="0"/>
              <a:ext cx="914400" cy="822960"/>
            </a:xfrm>
            <a:custGeom>
              <a:avLst/>
              <a:gdLst/>
              <a:ahLst/>
              <a:cxnLst/>
              <a:rect r="r" b="b" t="t" l="l"/>
              <a:pathLst>
                <a:path h="822960" w="914400">
                  <a:moveTo>
                    <a:pt x="0" y="0"/>
                  </a:moveTo>
                  <a:lnTo>
                    <a:pt x="914400" y="0"/>
                  </a:lnTo>
                  <a:lnTo>
                    <a:pt x="914400" y="822960"/>
                  </a:lnTo>
                  <a:lnTo>
                    <a:pt x="0" y="822960"/>
                  </a:lnTo>
                  <a:lnTo>
                    <a:pt x="0" y="0"/>
                  </a:lnTo>
                  <a:close/>
                </a:path>
              </a:pathLst>
            </a:custGeom>
            <a:blipFill>
              <a:blip r:embed="rId6"/>
              <a:stretch>
                <a:fillRect l="0" t="0" r="0" b="0"/>
              </a:stretch>
            </a:blipFill>
          </p:spPr>
        </p:sp>
      </p:grpSp>
      <p:sp>
        <p:nvSpPr>
          <p:cNvPr name="TextBox 24" id="24"/>
          <p:cNvSpPr txBox="true"/>
          <p:nvPr/>
        </p:nvSpPr>
        <p:spPr>
          <a:xfrm rot="0">
            <a:off x="2286000" y="5143500"/>
            <a:ext cx="2148840" cy="514350"/>
          </a:xfrm>
          <a:prstGeom prst="rect">
            <a:avLst/>
          </a:prstGeom>
        </p:spPr>
        <p:txBody>
          <a:bodyPr anchor="t" rtlCol="false" tIns="0" lIns="0" bIns="0" rIns="0">
            <a:spAutoFit/>
          </a:bodyPr>
          <a:lstStyle/>
          <a:p>
            <a:pPr algn="l">
              <a:lnSpc>
                <a:spcPts val="3455"/>
              </a:lnSpc>
            </a:pPr>
            <a:r>
              <a:rPr lang="en-US" sz="2879" b="true">
                <a:solidFill>
                  <a:srgbClr val="FFFFFF"/>
                </a:solidFill>
                <a:latin typeface="Open Sans Bold"/>
                <a:ea typeface="Open Sans Bold"/>
                <a:cs typeface="Open Sans Bold"/>
                <a:sym typeface="Open Sans Bold"/>
              </a:rPr>
              <a:t>Web</a:t>
            </a:r>
          </a:p>
        </p:txBody>
      </p:sp>
      <p:sp>
        <p:nvSpPr>
          <p:cNvPr name="TextBox 25" id="25"/>
          <p:cNvSpPr txBox="true"/>
          <p:nvPr/>
        </p:nvSpPr>
        <p:spPr>
          <a:xfrm rot="0">
            <a:off x="2286000" y="5715000"/>
            <a:ext cx="2148840" cy="377190"/>
          </a:xfrm>
          <a:prstGeom prst="rect">
            <a:avLst/>
          </a:prstGeom>
        </p:spPr>
        <p:txBody>
          <a:bodyPr anchor="t" rtlCol="false" tIns="0" lIns="0" bIns="0" rIns="0">
            <a:spAutoFit/>
          </a:bodyPr>
          <a:lstStyle/>
          <a:p>
            <a:pPr algn="l">
              <a:lnSpc>
                <a:spcPts val="2375"/>
              </a:lnSpc>
            </a:pPr>
            <a:r>
              <a:rPr lang="en-US" sz="1979">
                <a:solidFill>
                  <a:srgbClr val="BACDD9"/>
                </a:solidFill>
                <a:latin typeface="Open Sans"/>
                <a:ea typeface="Open Sans"/>
                <a:cs typeface="Open Sans"/>
                <a:sym typeface="Open Sans"/>
              </a:rPr>
              <a:t>React + Vite</a:t>
            </a:r>
          </a:p>
        </p:txBody>
      </p:sp>
      <p:grpSp>
        <p:nvGrpSpPr>
          <p:cNvPr name="Group 26" id="26"/>
          <p:cNvGrpSpPr/>
          <p:nvPr/>
        </p:nvGrpSpPr>
        <p:grpSpPr>
          <a:xfrm rot="0">
            <a:off x="1245870" y="6277928"/>
            <a:ext cx="3108960" cy="17145"/>
            <a:chOff x="0" y="0"/>
            <a:chExt cx="4145280" cy="22860"/>
          </a:xfrm>
        </p:grpSpPr>
        <p:sp>
          <p:nvSpPr>
            <p:cNvPr name="Freeform 27" id="27"/>
            <p:cNvSpPr/>
            <p:nvPr/>
          </p:nvSpPr>
          <p:spPr>
            <a:xfrm flipH="false" flipV="false" rot="0">
              <a:off x="0" y="0"/>
              <a:ext cx="4145280" cy="22860"/>
            </a:xfrm>
            <a:custGeom>
              <a:avLst/>
              <a:gdLst/>
              <a:ahLst/>
              <a:cxnLst/>
              <a:rect r="r" b="b" t="t" l="l"/>
              <a:pathLst>
                <a:path h="22860" w="4145280">
                  <a:moveTo>
                    <a:pt x="0" y="0"/>
                  </a:moveTo>
                  <a:lnTo>
                    <a:pt x="4145280" y="0"/>
                  </a:lnTo>
                  <a:lnTo>
                    <a:pt x="4145280" y="22860"/>
                  </a:lnTo>
                  <a:lnTo>
                    <a:pt x="0" y="22860"/>
                  </a:lnTo>
                  <a:close/>
                </a:path>
              </a:pathLst>
            </a:custGeom>
            <a:solidFill>
              <a:srgbClr val="345269"/>
            </a:solidFill>
          </p:spPr>
        </p:sp>
      </p:grpSp>
      <p:grpSp>
        <p:nvGrpSpPr>
          <p:cNvPr name="Group 28" id="28"/>
          <p:cNvGrpSpPr/>
          <p:nvPr/>
        </p:nvGrpSpPr>
        <p:grpSpPr>
          <a:xfrm rot="0">
            <a:off x="1188720" y="6606540"/>
            <a:ext cx="902970" cy="685800"/>
            <a:chOff x="0" y="0"/>
            <a:chExt cx="1203960" cy="914400"/>
          </a:xfrm>
        </p:grpSpPr>
        <p:sp>
          <p:nvSpPr>
            <p:cNvPr name="Freeform 29" id="29"/>
            <p:cNvSpPr/>
            <p:nvPr/>
          </p:nvSpPr>
          <p:spPr>
            <a:xfrm flipH="false" flipV="false" rot="0">
              <a:off x="0" y="0"/>
              <a:ext cx="1203960" cy="914400"/>
            </a:xfrm>
            <a:custGeom>
              <a:avLst/>
              <a:gdLst/>
              <a:ahLst/>
              <a:cxnLst/>
              <a:rect r="r" b="b" t="t" l="l"/>
              <a:pathLst>
                <a:path h="914400" w="1203960">
                  <a:moveTo>
                    <a:pt x="0" y="182880"/>
                  </a:moveTo>
                  <a:cubicBezTo>
                    <a:pt x="0" y="81915"/>
                    <a:pt x="81915" y="0"/>
                    <a:pt x="182880" y="0"/>
                  </a:cubicBezTo>
                  <a:lnTo>
                    <a:pt x="1021080" y="0"/>
                  </a:lnTo>
                  <a:cubicBezTo>
                    <a:pt x="1122045" y="0"/>
                    <a:pt x="1203960" y="81915"/>
                    <a:pt x="1203960" y="182880"/>
                  </a:cubicBezTo>
                  <a:lnTo>
                    <a:pt x="1203960" y="731520"/>
                  </a:lnTo>
                  <a:cubicBezTo>
                    <a:pt x="1203960" y="832485"/>
                    <a:pt x="1122045" y="914400"/>
                    <a:pt x="1021080" y="914400"/>
                  </a:cubicBezTo>
                  <a:lnTo>
                    <a:pt x="182880" y="914400"/>
                  </a:lnTo>
                  <a:cubicBezTo>
                    <a:pt x="81915" y="914400"/>
                    <a:pt x="0" y="832485"/>
                    <a:pt x="0" y="731520"/>
                  </a:cubicBezTo>
                  <a:close/>
                </a:path>
              </a:pathLst>
            </a:custGeom>
            <a:solidFill>
              <a:srgbClr val="FFFFFF"/>
            </a:solidFill>
          </p:spPr>
        </p:sp>
      </p:grpSp>
      <p:grpSp>
        <p:nvGrpSpPr>
          <p:cNvPr name="Group 30" id="30"/>
          <p:cNvGrpSpPr/>
          <p:nvPr/>
        </p:nvGrpSpPr>
        <p:grpSpPr>
          <a:xfrm rot="0">
            <a:off x="1397060" y="6732270"/>
            <a:ext cx="486289" cy="445770"/>
            <a:chOff x="0" y="0"/>
            <a:chExt cx="648386" cy="594360"/>
          </a:xfrm>
        </p:grpSpPr>
        <p:sp>
          <p:nvSpPr>
            <p:cNvPr name="Freeform 31" id="31"/>
            <p:cNvSpPr/>
            <p:nvPr/>
          </p:nvSpPr>
          <p:spPr>
            <a:xfrm flipH="false" flipV="false" rot="0">
              <a:off x="0" y="0"/>
              <a:ext cx="648335" cy="594360"/>
            </a:xfrm>
            <a:custGeom>
              <a:avLst/>
              <a:gdLst/>
              <a:ahLst/>
              <a:cxnLst/>
              <a:rect r="r" b="b" t="t" l="l"/>
              <a:pathLst>
                <a:path h="594360" w="648335">
                  <a:moveTo>
                    <a:pt x="0" y="0"/>
                  </a:moveTo>
                  <a:lnTo>
                    <a:pt x="648335" y="0"/>
                  </a:lnTo>
                  <a:lnTo>
                    <a:pt x="648335" y="594360"/>
                  </a:lnTo>
                  <a:lnTo>
                    <a:pt x="0" y="594360"/>
                  </a:lnTo>
                  <a:lnTo>
                    <a:pt x="0" y="0"/>
                  </a:lnTo>
                  <a:close/>
                </a:path>
              </a:pathLst>
            </a:custGeom>
            <a:blipFill>
              <a:blip r:embed="rId7"/>
              <a:stretch>
                <a:fillRect l="0" t="0" r="-9" b="0"/>
              </a:stretch>
            </a:blipFill>
          </p:spPr>
        </p:sp>
      </p:grpSp>
      <p:sp>
        <p:nvSpPr>
          <p:cNvPr name="TextBox 32" id="32"/>
          <p:cNvSpPr txBox="true"/>
          <p:nvPr/>
        </p:nvSpPr>
        <p:spPr>
          <a:xfrm rot="0">
            <a:off x="2286000" y="6629400"/>
            <a:ext cx="2148840" cy="514350"/>
          </a:xfrm>
          <a:prstGeom prst="rect">
            <a:avLst/>
          </a:prstGeom>
        </p:spPr>
        <p:txBody>
          <a:bodyPr anchor="t" rtlCol="false" tIns="0" lIns="0" bIns="0" rIns="0">
            <a:spAutoFit/>
          </a:bodyPr>
          <a:lstStyle/>
          <a:p>
            <a:pPr algn="l">
              <a:lnSpc>
                <a:spcPts val="3455"/>
              </a:lnSpc>
            </a:pPr>
            <a:r>
              <a:rPr lang="en-US" sz="2879" b="true">
                <a:solidFill>
                  <a:srgbClr val="FFFFFF"/>
                </a:solidFill>
                <a:latin typeface="Open Sans Bold"/>
                <a:ea typeface="Open Sans Bold"/>
                <a:cs typeface="Open Sans Bold"/>
                <a:sym typeface="Open Sans Bold"/>
              </a:rPr>
              <a:t>Móvil</a:t>
            </a:r>
          </a:p>
        </p:txBody>
      </p:sp>
      <p:sp>
        <p:nvSpPr>
          <p:cNvPr name="TextBox 33" id="33"/>
          <p:cNvSpPr txBox="true"/>
          <p:nvPr/>
        </p:nvSpPr>
        <p:spPr>
          <a:xfrm rot="0">
            <a:off x="1268730" y="7315200"/>
            <a:ext cx="3154680" cy="377190"/>
          </a:xfrm>
          <a:prstGeom prst="rect">
            <a:avLst/>
          </a:prstGeom>
        </p:spPr>
        <p:txBody>
          <a:bodyPr anchor="t" rtlCol="false" tIns="0" lIns="0" bIns="0" rIns="0">
            <a:spAutoFit/>
          </a:bodyPr>
          <a:lstStyle/>
          <a:p>
            <a:pPr algn="l">
              <a:lnSpc>
                <a:spcPts val="2375"/>
              </a:lnSpc>
            </a:pPr>
            <a:r>
              <a:rPr lang="en-US" sz="1979">
                <a:solidFill>
                  <a:srgbClr val="BACDD9"/>
                </a:solidFill>
                <a:latin typeface="Open Sans"/>
                <a:ea typeface="Open Sans"/>
                <a:cs typeface="Open Sans"/>
                <a:sym typeface="Open Sans"/>
              </a:rPr>
              <a:t>Expo / React Native</a:t>
            </a:r>
          </a:p>
        </p:txBody>
      </p:sp>
      <p:grpSp>
        <p:nvGrpSpPr>
          <p:cNvPr name="Group 34" id="34"/>
          <p:cNvGrpSpPr/>
          <p:nvPr/>
        </p:nvGrpSpPr>
        <p:grpSpPr>
          <a:xfrm rot="0">
            <a:off x="6286500" y="2686050"/>
            <a:ext cx="5257800" cy="1371600"/>
            <a:chOff x="0" y="0"/>
            <a:chExt cx="7010400" cy="1828800"/>
          </a:xfrm>
        </p:grpSpPr>
        <p:sp>
          <p:nvSpPr>
            <p:cNvPr name="Freeform 35" id="35"/>
            <p:cNvSpPr/>
            <p:nvPr/>
          </p:nvSpPr>
          <p:spPr>
            <a:xfrm flipH="false" flipV="false" rot="0">
              <a:off x="0" y="0"/>
              <a:ext cx="7010400" cy="1828800"/>
            </a:xfrm>
            <a:custGeom>
              <a:avLst/>
              <a:gdLst/>
              <a:ahLst/>
              <a:cxnLst/>
              <a:rect r="r" b="b" t="t" l="l"/>
              <a:pathLst>
                <a:path h="1828800" w="7010400">
                  <a:moveTo>
                    <a:pt x="0" y="365760"/>
                  </a:moveTo>
                  <a:cubicBezTo>
                    <a:pt x="0" y="163703"/>
                    <a:pt x="163703" y="0"/>
                    <a:pt x="365760" y="0"/>
                  </a:cubicBezTo>
                  <a:lnTo>
                    <a:pt x="6644640" y="0"/>
                  </a:lnTo>
                  <a:cubicBezTo>
                    <a:pt x="6846697" y="0"/>
                    <a:pt x="7010400" y="163703"/>
                    <a:pt x="7010400" y="365760"/>
                  </a:cubicBezTo>
                  <a:lnTo>
                    <a:pt x="7010400" y="1463040"/>
                  </a:lnTo>
                  <a:cubicBezTo>
                    <a:pt x="7010400" y="1665097"/>
                    <a:pt x="6846697" y="1828800"/>
                    <a:pt x="6644640" y="1828800"/>
                  </a:cubicBezTo>
                  <a:lnTo>
                    <a:pt x="365760" y="1828800"/>
                  </a:lnTo>
                  <a:cubicBezTo>
                    <a:pt x="163703" y="1828800"/>
                    <a:pt x="0" y="1665097"/>
                    <a:pt x="0" y="1463040"/>
                  </a:cubicBezTo>
                  <a:close/>
                </a:path>
              </a:pathLst>
            </a:custGeom>
            <a:solidFill>
              <a:srgbClr val="16374E"/>
            </a:solidFill>
          </p:spPr>
        </p:sp>
      </p:grpSp>
      <p:grpSp>
        <p:nvGrpSpPr>
          <p:cNvPr name="Group 36" id="36"/>
          <p:cNvGrpSpPr/>
          <p:nvPr/>
        </p:nvGrpSpPr>
        <p:grpSpPr>
          <a:xfrm rot="0">
            <a:off x="6583680" y="3034665"/>
            <a:ext cx="685800" cy="685800"/>
            <a:chOff x="0" y="0"/>
            <a:chExt cx="914400" cy="914400"/>
          </a:xfrm>
        </p:grpSpPr>
        <p:sp>
          <p:nvSpPr>
            <p:cNvPr name="Freeform 37" id="3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8"/>
              <a:stretch>
                <a:fillRect l="0" t="0" r="0" b="0"/>
              </a:stretch>
            </a:blipFill>
          </p:spPr>
        </p:sp>
      </p:grpSp>
      <p:sp>
        <p:nvSpPr>
          <p:cNvPr name="TextBox 38" id="38"/>
          <p:cNvSpPr txBox="true"/>
          <p:nvPr/>
        </p:nvSpPr>
        <p:spPr>
          <a:xfrm rot="0">
            <a:off x="7509510" y="2891790"/>
            <a:ext cx="3749040" cy="491490"/>
          </a:xfrm>
          <a:prstGeom prst="rect">
            <a:avLst/>
          </a:prstGeom>
        </p:spPr>
        <p:txBody>
          <a:bodyPr anchor="t" rtlCol="false" tIns="0" lIns="0" bIns="0" rIns="0">
            <a:spAutoFit/>
          </a:bodyPr>
          <a:lstStyle/>
          <a:p>
            <a:pPr algn="l">
              <a:lnSpc>
                <a:spcPts val="2915"/>
              </a:lnSpc>
            </a:pPr>
            <a:r>
              <a:rPr lang="en-US" sz="2429" b="true">
                <a:solidFill>
                  <a:srgbClr val="FFFFFF"/>
                </a:solidFill>
                <a:latin typeface="Open Sans Bold"/>
                <a:ea typeface="Open Sans Bold"/>
                <a:cs typeface="Open Sans Bold"/>
                <a:sym typeface="Open Sans Bold"/>
              </a:rPr>
              <a:t>Firebase Authentication</a:t>
            </a:r>
          </a:p>
        </p:txBody>
      </p:sp>
      <p:sp>
        <p:nvSpPr>
          <p:cNvPr name="TextBox 39" id="39"/>
          <p:cNvSpPr txBox="true"/>
          <p:nvPr/>
        </p:nvSpPr>
        <p:spPr>
          <a:xfrm rot="0">
            <a:off x="7509510" y="3495675"/>
            <a:ext cx="3657600" cy="356235"/>
          </a:xfrm>
          <a:prstGeom prst="rect">
            <a:avLst/>
          </a:prstGeom>
        </p:spPr>
        <p:txBody>
          <a:bodyPr anchor="t" rtlCol="false" tIns="0" lIns="0" bIns="0" rIns="0">
            <a:spAutoFit/>
          </a:bodyPr>
          <a:lstStyle/>
          <a:p>
            <a:pPr algn="l">
              <a:lnSpc>
                <a:spcPts val="2592"/>
              </a:lnSpc>
            </a:pPr>
            <a:r>
              <a:rPr lang="en-US" sz="2160">
                <a:solidFill>
                  <a:srgbClr val="BACDD9"/>
                </a:solidFill>
                <a:latin typeface="Open Sans"/>
                <a:ea typeface="Open Sans"/>
                <a:cs typeface="Open Sans"/>
                <a:sym typeface="Open Sans"/>
              </a:rPr>
              <a:t>Identidad</a:t>
            </a:r>
          </a:p>
        </p:txBody>
      </p:sp>
      <p:grpSp>
        <p:nvGrpSpPr>
          <p:cNvPr name="Group 40" id="40"/>
          <p:cNvGrpSpPr/>
          <p:nvPr/>
        </p:nvGrpSpPr>
        <p:grpSpPr>
          <a:xfrm rot="0">
            <a:off x="6286500" y="4914900"/>
            <a:ext cx="5257800" cy="2937510"/>
            <a:chOff x="0" y="0"/>
            <a:chExt cx="7010400" cy="3916680"/>
          </a:xfrm>
        </p:grpSpPr>
        <p:sp>
          <p:nvSpPr>
            <p:cNvPr name="Freeform 41" id="41"/>
            <p:cNvSpPr/>
            <p:nvPr/>
          </p:nvSpPr>
          <p:spPr>
            <a:xfrm flipH="false" flipV="false" rot="0">
              <a:off x="0" y="0"/>
              <a:ext cx="7010400" cy="3916680"/>
            </a:xfrm>
            <a:custGeom>
              <a:avLst/>
              <a:gdLst/>
              <a:ahLst/>
              <a:cxnLst/>
              <a:rect r="r" b="b" t="t" l="l"/>
              <a:pathLst>
                <a:path h="3916680" w="7010400">
                  <a:moveTo>
                    <a:pt x="0" y="396240"/>
                  </a:moveTo>
                  <a:cubicBezTo>
                    <a:pt x="0" y="177419"/>
                    <a:pt x="177419" y="0"/>
                    <a:pt x="396240" y="0"/>
                  </a:cubicBezTo>
                  <a:lnTo>
                    <a:pt x="6614160" y="0"/>
                  </a:lnTo>
                  <a:cubicBezTo>
                    <a:pt x="6832981" y="0"/>
                    <a:pt x="7010400" y="177419"/>
                    <a:pt x="7010400" y="396240"/>
                  </a:cubicBezTo>
                  <a:lnTo>
                    <a:pt x="7010400" y="3520440"/>
                  </a:lnTo>
                  <a:cubicBezTo>
                    <a:pt x="7010400" y="3739261"/>
                    <a:pt x="6832981" y="3916680"/>
                    <a:pt x="6614160" y="3916680"/>
                  </a:cubicBezTo>
                  <a:lnTo>
                    <a:pt x="396240" y="3916680"/>
                  </a:lnTo>
                  <a:cubicBezTo>
                    <a:pt x="177419" y="3916680"/>
                    <a:pt x="0" y="3739261"/>
                    <a:pt x="0" y="3520440"/>
                  </a:cubicBezTo>
                  <a:close/>
                </a:path>
              </a:pathLst>
            </a:custGeom>
            <a:solidFill>
              <a:srgbClr val="FFFFFF"/>
            </a:solidFill>
          </p:spPr>
        </p:sp>
      </p:grpSp>
      <p:grpSp>
        <p:nvGrpSpPr>
          <p:cNvPr name="Group 42" id="42"/>
          <p:cNvGrpSpPr/>
          <p:nvPr/>
        </p:nvGrpSpPr>
        <p:grpSpPr>
          <a:xfrm rot="0">
            <a:off x="6526530" y="4914900"/>
            <a:ext cx="4777740" cy="80010"/>
            <a:chOff x="0" y="0"/>
            <a:chExt cx="6370320" cy="106680"/>
          </a:xfrm>
        </p:grpSpPr>
        <p:sp>
          <p:nvSpPr>
            <p:cNvPr name="Freeform 43" id="43"/>
            <p:cNvSpPr/>
            <p:nvPr/>
          </p:nvSpPr>
          <p:spPr>
            <a:xfrm flipH="false" flipV="false" rot="0">
              <a:off x="0" y="0"/>
              <a:ext cx="6370320" cy="106680"/>
            </a:xfrm>
            <a:custGeom>
              <a:avLst/>
              <a:gdLst/>
              <a:ahLst/>
              <a:cxnLst/>
              <a:rect r="r" b="b" t="t" l="l"/>
              <a:pathLst>
                <a:path h="106680" w="6370320">
                  <a:moveTo>
                    <a:pt x="0" y="0"/>
                  </a:moveTo>
                  <a:lnTo>
                    <a:pt x="6370320" y="0"/>
                  </a:lnTo>
                  <a:lnTo>
                    <a:pt x="6370320" y="106680"/>
                  </a:lnTo>
                  <a:lnTo>
                    <a:pt x="0" y="106680"/>
                  </a:lnTo>
                  <a:close/>
                </a:path>
              </a:pathLst>
            </a:custGeom>
            <a:solidFill>
              <a:srgbClr val="00B3B5"/>
            </a:solidFill>
          </p:spPr>
        </p:sp>
      </p:grpSp>
      <p:sp>
        <p:nvSpPr>
          <p:cNvPr name="TextBox 44" id="44"/>
          <p:cNvSpPr txBox="true"/>
          <p:nvPr/>
        </p:nvSpPr>
        <p:spPr>
          <a:xfrm rot="0">
            <a:off x="6606540" y="5177790"/>
            <a:ext cx="4617720" cy="571500"/>
          </a:xfrm>
          <a:prstGeom prst="rect">
            <a:avLst/>
          </a:prstGeom>
        </p:spPr>
        <p:txBody>
          <a:bodyPr anchor="t" rtlCol="false" tIns="0" lIns="0" bIns="0" rIns="0">
            <a:spAutoFit/>
          </a:bodyPr>
          <a:lstStyle/>
          <a:p>
            <a:pPr algn="l">
              <a:lnSpc>
                <a:spcPts val="3995"/>
              </a:lnSpc>
            </a:pPr>
            <a:r>
              <a:rPr lang="en-US" sz="3329" b="true">
                <a:solidFill>
                  <a:srgbClr val="122A3D"/>
                </a:solidFill>
                <a:latin typeface="Open Sans Bold"/>
                <a:ea typeface="Open Sans Bold"/>
                <a:cs typeface="Open Sans Bold"/>
                <a:sym typeface="Open Sans Bold"/>
              </a:rPr>
              <a:t>API operacional</a:t>
            </a:r>
          </a:p>
        </p:txBody>
      </p:sp>
      <p:sp>
        <p:nvSpPr>
          <p:cNvPr name="TextBox 45" id="45"/>
          <p:cNvSpPr txBox="true"/>
          <p:nvPr/>
        </p:nvSpPr>
        <p:spPr>
          <a:xfrm rot="0">
            <a:off x="6606540" y="5852160"/>
            <a:ext cx="4617720" cy="514350"/>
          </a:xfrm>
          <a:prstGeom prst="rect">
            <a:avLst/>
          </a:prstGeom>
        </p:spPr>
        <p:txBody>
          <a:bodyPr anchor="t" rtlCol="false" tIns="0" lIns="0" bIns="0" rIns="0">
            <a:spAutoFit/>
          </a:bodyPr>
          <a:lstStyle/>
          <a:p>
            <a:pPr algn="l">
              <a:lnSpc>
                <a:spcPts val="3348"/>
              </a:lnSpc>
            </a:pPr>
            <a:r>
              <a:rPr lang="en-US" sz="2790" b="true">
                <a:solidFill>
                  <a:srgbClr val="1765C1"/>
                </a:solidFill>
                <a:latin typeface="Open Sans Bold"/>
                <a:ea typeface="Open Sans Bold"/>
                <a:cs typeface="Open Sans Bold"/>
                <a:sym typeface="Open Sans Bold"/>
              </a:rPr>
              <a:t>Node.js + Express</a:t>
            </a:r>
          </a:p>
        </p:txBody>
      </p:sp>
      <p:grpSp>
        <p:nvGrpSpPr>
          <p:cNvPr name="Group 46" id="46"/>
          <p:cNvGrpSpPr/>
          <p:nvPr/>
        </p:nvGrpSpPr>
        <p:grpSpPr>
          <a:xfrm rot="0">
            <a:off x="6606540" y="6563678"/>
            <a:ext cx="4617720" cy="17145"/>
            <a:chOff x="0" y="0"/>
            <a:chExt cx="6156960" cy="22860"/>
          </a:xfrm>
        </p:grpSpPr>
        <p:sp>
          <p:nvSpPr>
            <p:cNvPr name="Freeform 47" id="47"/>
            <p:cNvSpPr/>
            <p:nvPr/>
          </p:nvSpPr>
          <p:spPr>
            <a:xfrm flipH="false" flipV="false" rot="0">
              <a:off x="0" y="0"/>
              <a:ext cx="6156960" cy="22860"/>
            </a:xfrm>
            <a:custGeom>
              <a:avLst/>
              <a:gdLst/>
              <a:ahLst/>
              <a:cxnLst/>
              <a:rect r="r" b="b" t="t" l="l"/>
              <a:pathLst>
                <a:path h="22860" w="6156960">
                  <a:moveTo>
                    <a:pt x="0" y="0"/>
                  </a:moveTo>
                  <a:lnTo>
                    <a:pt x="6156960" y="0"/>
                  </a:lnTo>
                  <a:lnTo>
                    <a:pt x="6156960" y="22860"/>
                  </a:lnTo>
                  <a:lnTo>
                    <a:pt x="0" y="22860"/>
                  </a:lnTo>
                  <a:close/>
                </a:path>
              </a:pathLst>
            </a:custGeom>
            <a:solidFill>
              <a:srgbClr val="D7E4EA"/>
            </a:solidFill>
          </p:spPr>
        </p:sp>
      </p:grpSp>
      <p:sp>
        <p:nvSpPr>
          <p:cNvPr name="TextBox 48" id="48"/>
          <p:cNvSpPr txBox="true"/>
          <p:nvPr/>
        </p:nvSpPr>
        <p:spPr>
          <a:xfrm rot="0">
            <a:off x="6606540" y="6812280"/>
            <a:ext cx="4617720" cy="445770"/>
          </a:xfrm>
          <a:prstGeom prst="rect">
            <a:avLst/>
          </a:prstGeom>
        </p:spPr>
        <p:txBody>
          <a:bodyPr anchor="t" rtlCol="false" tIns="0" lIns="0" bIns="0" rIns="0">
            <a:spAutoFit/>
          </a:bodyPr>
          <a:lstStyle/>
          <a:p>
            <a:pPr algn="l">
              <a:lnSpc>
                <a:spcPts val="2915"/>
              </a:lnSpc>
            </a:pPr>
            <a:r>
              <a:rPr lang="en-US" sz="2429" b="true">
                <a:solidFill>
                  <a:srgbClr val="122A3D"/>
                </a:solidFill>
                <a:latin typeface="Open Sans Bold"/>
                <a:ea typeface="Open Sans Bold"/>
                <a:cs typeface="Open Sans Bold"/>
                <a:sym typeface="Open Sans Bold"/>
              </a:rPr>
              <a:t>Autoriza cada operación</a:t>
            </a:r>
          </a:p>
        </p:txBody>
      </p:sp>
      <p:sp>
        <p:nvSpPr>
          <p:cNvPr name="TextBox 49" id="49"/>
          <p:cNvSpPr txBox="true"/>
          <p:nvPr/>
        </p:nvSpPr>
        <p:spPr>
          <a:xfrm rot="0">
            <a:off x="6606540" y="7360920"/>
            <a:ext cx="4617720" cy="365760"/>
          </a:xfrm>
          <a:prstGeom prst="rect">
            <a:avLst/>
          </a:prstGeom>
        </p:spPr>
        <p:txBody>
          <a:bodyPr anchor="t" rtlCol="false" tIns="0" lIns="0" bIns="0" rIns="0">
            <a:spAutoFit/>
          </a:bodyPr>
          <a:lstStyle/>
          <a:p>
            <a:pPr algn="l">
              <a:lnSpc>
                <a:spcPts val="2375"/>
              </a:lnSpc>
            </a:pPr>
            <a:r>
              <a:rPr lang="en-US" sz="1979">
                <a:solidFill>
                  <a:srgbClr val="506A7C"/>
                </a:solidFill>
                <a:latin typeface="Open Sans"/>
                <a:ea typeface="Open Sans"/>
                <a:cs typeface="Open Sans"/>
                <a:sym typeface="Open Sans"/>
              </a:rPr>
              <a:t>Permisos, transiciones e integridad</a:t>
            </a:r>
          </a:p>
        </p:txBody>
      </p:sp>
      <p:grpSp>
        <p:nvGrpSpPr>
          <p:cNvPr name="Group 50" id="50"/>
          <p:cNvGrpSpPr/>
          <p:nvPr/>
        </p:nvGrpSpPr>
        <p:grpSpPr>
          <a:xfrm rot="0">
            <a:off x="13830300" y="4914900"/>
            <a:ext cx="3543300" cy="2937510"/>
            <a:chOff x="0" y="0"/>
            <a:chExt cx="4724400" cy="3916680"/>
          </a:xfrm>
        </p:grpSpPr>
        <p:sp>
          <p:nvSpPr>
            <p:cNvPr name="Freeform 51" id="51"/>
            <p:cNvSpPr/>
            <p:nvPr/>
          </p:nvSpPr>
          <p:spPr>
            <a:xfrm flipH="false" flipV="false" rot="0">
              <a:off x="0" y="0"/>
              <a:ext cx="4724400" cy="3916680"/>
            </a:xfrm>
            <a:custGeom>
              <a:avLst/>
              <a:gdLst/>
              <a:ahLst/>
              <a:cxnLst/>
              <a:rect r="r" b="b" t="t" l="l"/>
              <a:pathLst>
                <a:path h="3916680" w="4724400">
                  <a:moveTo>
                    <a:pt x="0" y="365760"/>
                  </a:moveTo>
                  <a:cubicBezTo>
                    <a:pt x="0" y="163703"/>
                    <a:pt x="163703" y="0"/>
                    <a:pt x="365760" y="0"/>
                  </a:cubicBezTo>
                  <a:lnTo>
                    <a:pt x="4358640" y="0"/>
                  </a:lnTo>
                  <a:cubicBezTo>
                    <a:pt x="4560697" y="0"/>
                    <a:pt x="4724400" y="163703"/>
                    <a:pt x="4724400" y="365760"/>
                  </a:cubicBezTo>
                  <a:lnTo>
                    <a:pt x="4724400" y="3550920"/>
                  </a:lnTo>
                  <a:cubicBezTo>
                    <a:pt x="4724400" y="3752977"/>
                    <a:pt x="4560697" y="3916680"/>
                    <a:pt x="4358640" y="3916680"/>
                  </a:cubicBezTo>
                  <a:lnTo>
                    <a:pt x="365760" y="3916680"/>
                  </a:lnTo>
                  <a:cubicBezTo>
                    <a:pt x="163703" y="3916680"/>
                    <a:pt x="0" y="3752977"/>
                    <a:pt x="0" y="3550920"/>
                  </a:cubicBezTo>
                  <a:close/>
                </a:path>
              </a:pathLst>
            </a:custGeom>
            <a:solidFill>
              <a:srgbClr val="16374E"/>
            </a:solidFill>
          </p:spPr>
        </p:sp>
      </p:grpSp>
      <p:grpSp>
        <p:nvGrpSpPr>
          <p:cNvPr name="Group 52" id="52"/>
          <p:cNvGrpSpPr/>
          <p:nvPr/>
        </p:nvGrpSpPr>
        <p:grpSpPr>
          <a:xfrm rot="0">
            <a:off x="15169001" y="5143500"/>
            <a:ext cx="854478" cy="880110"/>
            <a:chOff x="0" y="0"/>
            <a:chExt cx="1139304" cy="1173480"/>
          </a:xfrm>
        </p:grpSpPr>
        <p:sp>
          <p:nvSpPr>
            <p:cNvPr name="Freeform 53" id="53"/>
            <p:cNvSpPr/>
            <p:nvPr/>
          </p:nvSpPr>
          <p:spPr>
            <a:xfrm flipH="false" flipV="false" rot="0">
              <a:off x="0" y="0"/>
              <a:ext cx="1139317" cy="1173480"/>
            </a:xfrm>
            <a:custGeom>
              <a:avLst/>
              <a:gdLst/>
              <a:ahLst/>
              <a:cxnLst/>
              <a:rect r="r" b="b" t="t" l="l"/>
              <a:pathLst>
                <a:path h="1173480" w="1139317">
                  <a:moveTo>
                    <a:pt x="0" y="0"/>
                  </a:moveTo>
                  <a:lnTo>
                    <a:pt x="1139317" y="0"/>
                  </a:lnTo>
                  <a:lnTo>
                    <a:pt x="1139317" y="1173480"/>
                  </a:lnTo>
                  <a:lnTo>
                    <a:pt x="0" y="1173480"/>
                  </a:lnTo>
                  <a:lnTo>
                    <a:pt x="0" y="0"/>
                  </a:lnTo>
                  <a:close/>
                </a:path>
              </a:pathLst>
            </a:custGeom>
            <a:blipFill>
              <a:blip r:embed="rId9"/>
              <a:stretch>
                <a:fillRect l="0" t="0" r="1" b="0"/>
              </a:stretch>
            </a:blipFill>
          </p:spPr>
        </p:sp>
      </p:grpSp>
      <p:sp>
        <p:nvSpPr>
          <p:cNvPr name="TextBox 54" id="54"/>
          <p:cNvSpPr txBox="true"/>
          <p:nvPr/>
        </p:nvSpPr>
        <p:spPr>
          <a:xfrm rot="0">
            <a:off x="14036040" y="6105525"/>
            <a:ext cx="3131820" cy="489585"/>
          </a:xfrm>
          <a:prstGeom prst="rect">
            <a:avLst/>
          </a:prstGeom>
        </p:spPr>
        <p:txBody>
          <a:bodyPr anchor="t" rtlCol="false" tIns="0" lIns="0" bIns="0" rIns="0">
            <a:spAutoFit/>
          </a:bodyPr>
          <a:lstStyle/>
          <a:p>
            <a:pPr algn="ctr">
              <a:lnSpc>
                <a:spcPts val="3240"/>
              </a:lnSpc>
            </a:pPr>
            <a:r>
              <a:rPr lang="en-US" sz="2700" b="true">
                <a:solidFill>
                  <a:srgbClr val="FFFFFF"/>
                </a:solidFill>
                <a:latin typeface="Open Sans Bold"/>
                <a:ea typeface="Open Sans Bold"/>
                <a:cs typeface="Open Sans Bold"/>
                <a:sym typeface="Open Sans Bold"/>
              </a:rPr>
              <a:t>PostgreSQL</a:t>
            </a:r>
          </a:p>
        </p:txBody>
      </p:sp>
      <p:sp>
        <p:nvSpPr>
          <p:cNvPr name="TextBox 55" id="55"/>
          <p:cNvSpPr txBox="true"/>
          <p:nvPr/>
        </p:nvSpPr>
        <p:spPr>
          <a:xfrm rot="0">
            <a:off x="14036040" y="6798945"/>
            <a:ext cx="3131820" cy="379095"/>
          </a:xfrm>
          <a:prstGeom prst="rect">
            <a:avLst/>
          </a:prstGeom>
        </p:spPr>
        <p:txBody>
          <a:bodyPr anchor="t" rtlCol="false" tIns="0" lIns="0" bIns="0" rIns="0">
            <a:spAutoFit/>
          </a:bodyPr>
          <a:lstStyle/>
          <a:p>
            <a:pPr algn="ctr">
              <a:lnSpc>
                <a:spcPts val="2484"/>
              </a:lnSpc>
            </a:pPr>
            <a:r>
              <a:rPr lang="en-US" sz="2070">
                <a:solidFill>
                  <a:srgbClr val="BACDD9"/>
                </a:solidFill>
                <a:latin typeface="Open Sans"/>
                <a:ea typeface="Open Sans"/>
                <a:cs typeface="Open Sans"/>
                <a:sym typeface="Open Sans"/>
              </a:rPr>
              <a:t>Usuarios y rol efectivo</a:t>
            </a:r>
          </a:p>
        </p:txBody>
      </p:sp>
      <p:sp>
        <p:nvSpPr>
          <p:cNvPr name="TextBox 56" id="56"/>
          <p:cNvSpPr txBox="true"/>
          <p:nvPr/>
        </p:nvSpPr>
        <p:spPr>
          <a:xfrm rot="0">
            <a:off x="14036040" y="7290435"/>
            <a:ext cx="3131820" cy="379095"/>
          </a:xfrm>
          <a:prstGeom prst="rect">
            <a:avLst/>
          </a:prstGeom>
        </p:spPr>
        <p:txBody>
          <a:bodyPr anchor="t" rtlCol="false" tIns="0" lIns="0" bIns="0" rIns="0">
            <a:spAutoFit/>
          </a:bodyPr>
          <a:lstStyle/>
          <a:p>
            <a:pPr algn="ctr">
              <a:lnSpc>
                <a:spcPts val="2484"/>
              </a:lnSpc>
            </a:pPr>
            <a:r>
              <a:rPr lang="en-US" sz="2070">
                <a:solidFill>
                  <a:srgbClr val="BACDD9"/>
                </a:solidFill>
                <a:latin typeface="Open Sans"/>
                <a:ea typeface="Open Sans"/>
                <a:cs typeface="Open Sans"/>
                <a:sym typeface="Open Sans"/>
              </a:rPr>
              <a:t>Activos, OS y eventos</a:t>
            </a:r>
          </a:p>
        </p:txBody>
      </p:sp>
      <p:grpSp>
        <p:nvGrpSpPr>
          <p:cNvPr name="Group 57" id="57"/>
          <p:cNvGrpSpPr/>
          <p:nvPr/>
        </p:nvGrpSpPr>
        <p:grpSpPr>
          <a:xfrm rot="0">
            <a:off x="2783205" y="3383280"/>
            <a:ext cx="34290" cy="1303020"/>
            <a:chOff x="0" y="0"/>
            <a:chExt cx="45720" cy="1737360"/>
          </a:xfrm>
        </p:grpSpPr>
        <p:sp>
          <p:nvSpPr>
            <p:cNvPr name="Freeform 58" id="58"/>
            <p:cNvSpPr/>
            <p:nvPr/>
          </p:nvSpPr>
          <p:spPr>
            <a:xfrm flipH="false" flipV="false" rot="0">
              <a:off x="0" y="0"/>
              <a:ext cx="45720" cy="1737360"/>
            </a:xfrm>
            <a:custGeom>
              <a:avLst/>
              <a:gdLst/>
              <a:ahLst/>
              <a:cxnLst/>
              <a:rect r="r" b="b" t="t" l="l"/>
              <a:pathLst>
                <a:path h="1737360" w="45720">
                  <a:moveTo>
                    <a:pt x="0" y="0"/>
                  </a:moveTo>
                  <a:lnTo>
                    <a:pt x="45720" y="0"/>
                  </a:lnTo>
                  <a:lnTo>
                    <a:pt x="45720" y="1737360"/>
                  </a:lnTo>
                  <a:lnTo>
                    <a:pt x="0" y="1737360"/>
                  </a:lnTo>
                  <a:close/>
                </a:path>
              </a:pathLst>
            </a:custGeom>
            <a:solidFill>
              <a:srgbClr val="F5C96B"/>
            </a:solidFill>
          </p:spPr>
        </p:sp>
      </p:grpSp>
      <p:grpSp>
        <p:nvGrpSpPr>
          <p:cNvPr name="Group 59" id="59"/>
          <p:cNvGrpSpPr/>
          <p:nvPr/>
        </p:nvGrpSpPr>
        <p:grpSpPr>
          <a:xfrm rot="0">
            <a:off x="2800350" y="3366135"/>
            <a:ext cx="3486150" cy="34290"/>
            <a:chOff x="0" y="0"/>
            <a:chExt cx="4648200" cy="45720"/>
          </a:xfrm>
        </p:grpSpPr>
        <p:sp>
          <p:nvSpPr>
            <p:cNvPr name="Freeform 60" id="60"/>
            <p:cNvSpPr/>
            <p:nvPr/>
          </p:nvSpPr>
          <p:spPr>
            <a:xfrm flipH="false" flipV="false" rot="0">
              <a:off x="0" y="0"/>
              <a:ext cx="4648200" cy="45720"/>
            </a:xfrm>
            <a:custGeom>
              <a:avLst/>
              <a:gdLst/>
              <a:ahLst/>
              <a:cxnLst/>
              <a:rect r="r" b="b" t="t" l="l"/>
              <a:pathLst>
                <a:path h="45720" w="4648200">
                  <a:moveTo>
                    <a:pt x="0" y="0"/>
                  </a:moveTo>
                  <a:lnTo>
                    <a:pt x="4648200" y="0"/>
                  </a:lnTo>
                  <a:lnTo>
                    <a:pt x="4648200" y="45720"/>
                  </a:lnTo>
                  <a:lnTo>
                    <a:pt x="0" y="45720"/>
                  </a:lnTo>
                  <a:close/>
                </a:path>
              </a:pathLst>
            </a:custGeom>
            <a:solidFill>
              <a:srgbClr val="F5C96B"/>
            </a:solidFill>
          </p:spPr>
        </p:sp>
      </p:grpSp>
      <p:grpSp>
        <p:nvGrpSpPr>
          <p:cNvPr name="Group 61" id="61"/>
          <p:cNvGrpSpPr/>
          <p:nvPr/>
        </p:nvGrpSpPr>
        <p:grpSpPr>
          <a:xfrm rot="0">
            <a:off x="6149340" y="3300984"/>
            <a:ext cx="137160" cy="164592"/>
            <a:chOff x="0" y="0"/>
            <a:chExt cx="182880" cy="219456"/>
          </a:xfrm>
        </p:grpSpPr>
        <p:sp>
          <p:nvSpPr>
            <p:cNvPr name="Freeform 62" id="62"/>
            <p:cNvSpPr/>
            <p:nvPr/>
          </p:nvSpPr>
          <p:spPr>
            <a:xfrm flipH="false" flipV="false" rot="0">
              <a:off x="0" y="0"/>
              <a:ext cx="182880" cy="219456"/>
            </a:xfrm>
            <a:custGeom>
              <a:avLst/>
              <a:gdLst/>
              <a:ahLst/>
              <a:cxnLst/>
              <a:rect r="r" b="b" t="t" l="l"/>
              <a:pathLst>
                <a:path h="219456" w="182880">
                  <a:moveTo>
                    <a:pt x="182880" y="109728"/>
                  </a:moveTo>
                  <a:lnTo>
                    <a:pt x="0" y="0"/>
                  </a:lnTo>
                  <a:lnTo>
                    <a:pt x="0" y="219456"/>
                  </a:lnTo>
                  <a:close/>
                </a:path>
              </a:pathLst>
            </a:custGeom>
            <a:solidFill>
              <a:srgbClr val="F5C96B"/>
            </a:solidFill>
          </p:spPr>
        </p:sp>
      </p:grpSp>
      <p:grpSp>
        <p:nvGrpSpPr>
          <p:cNvPr name="Group 63" id="63"/>
          <p:cNvGrpSpPr/>
          <p:nvPr/>
        </p:nvGrpSpPr>
        <p:grpSpPr>
          <a:xfrm rot="0">
            <a:off x="2718054" y="4549140"/>
            <a:ext cx="164592" cy="137160"/>
            <a:chOff x="0" y="0"/>
            <a:chExt cx="219456" cy="182880"/>
          </a:xfrm>
        </p:grpSpPr>
        <p:sp>
          <p:nvSpPr>
            <p:cNvPr name="Freeform 64" id="64"/>
            <p:cNvSpPr/>
            <p:nvPr/>
          </p:nvSpPr>
          <p:spPr>
            <a:xfrm flipH="false" flipV="false" rot="0">
              <a:off x="0" y="0"/>
              <a:ext cx="219456" cy="182880"/>
            </a:xfrm>
            <a:custGeom>
              <a:avLst/>
              <a:gdLst/>
              <a:ahLst/>
              <a:cxnLst/>
              <a:rect r="r" b="b" t="t" l="l"/>
              <a:pathLst>
                <a:path h="182880" w="219456">
                  <a:moveTo>
                    <a:pt x="109728" y="182880"/>
                  </a:moveTo>
                  <a:lnTo>
                    <a:pt x="0" y="0"/>
                  </a:lnTo>
                  <a:lnTo>
                    <a:pt x="219456" y="0"/>
                  </a:lnTo>
                  <a:close/>
                </a:path>
              </a:pathLst>
            </a:custGeom>
            <a:solidFill>
              <a:srgbClr val="F5C96B"/>
            </a:solidFill>
          </p:spPr>
        </p:sp>
      </p:grpSp>
      <p:sp>
        <p:nvSpPr>
          <p:cNvPr name="TextBox 65" id="65"/>
          <p:cNvSpPr txBox="true"/>
          <p:nvPr/>
        </p:nvSpPr>
        <p:spPr>
          <a:xfrm rot="0">
            <a:off x="960120" y="2849880"/>
            <a:ext cx="4343400" cy="379095"/>
          </a:xfrm>
          <a:prstGeom prst="rect">
            <a:avLst/>
          </a:prstGeom>
        </p:spPr>
        <p:txBody>
          <a:bodyPr anchor="t" rtlCol="false" tIns="0" lIns="0" bIns="0" rIns="0">
            <a:spAutoFit/>
          </a:bodyPr>
          <a:lstStyle/>
          <a:p>
            <a:pPr algn="l">
              <a:lnSpc>
                <a:spcPts val="2484"/>
              </a:lnSpc>
            </a:pPr>
            <a:r>
              <a:rPr lang="en-US" sz="2070">
                <a:solidFill>
                  <a:srgbClr val="F5C96B"/>
                </a:solidFill>
                <a:latin typeface="Open Sans"/>
                <a:ea typeface="Open Sans"/>
                <a:cs typeface="Open Sans"/>
                <a:sym typeface="Open Sans"/>
              </a:rPr>
              <a:t>1 · Login / ID token</a:t>
            </a:r>
          </a:p>
        </p:txBody>
      </p:sp>
      <p:grpSp>
        <p:nvGrpSpPr>
          <p:cNvPr name="Group 66" id="66"/>
          <p:cNvGrpSpPr/>
          <p:nvPr/>
        </p:nvGrpSpPr>
        <p:grpSpPr>
          <a:xfrm rot="0">
            <a:off x="8898255" y="4057650"/>
            <a:ext cx="34290" cy="857250"/>
            <a:chOff x="0" y="0"/>
            <a:chExt cx="45720" cy="1143000"/>
          </a:xfrm>
        </p:grpSpPr>
        <p:sp>
          <p:nvSpPr>
            <p:cNvPr name="Freeform 67" id="67"/>
            <p:cNvSpPr/>
            <p:nvPr/>
          </p:nvSpPr>
          <p:spPr>
            <a:xfrm flipH="false" flipV="false" rot="0">
              <a:off x="0" y="0"/>
              <a:ext cx="45720" cy="1143000"/>
            </a:xfrm>
            <a:custGeom>
              <a:avLst/>
              <a:gdLst/>
              <a:ahLst/>
              <a:cxnLst/>
              <a:rect r="r" b="b" t="t" l="l"/>
              <a:pathLst>
                <a:path h="1143000" w="45720">
                  <a:moveTo>
                    <a:pt x="0" y="0"/>
                  </a:moveTo>
                  <a:lnTo>
                    <a:pt x="45720" y="0"/>
                  </a:lnTo>
                  <a:lnTo>
                    <a:pt x="45720" y="1143000"/>
                  </a:lnTo>
                  <a:lnTo>
                    <a:pt x="0" y="1143000"/>
                  </a:lnTo>
                  <a:close/>
                </a:path>
              </a:pathLst>
            </a:custGeom>
            <a:solidFill>
              <a:srgbClr val="F5C96B"/>
            </a:solidFill>
          </p:spPr>
        </p:sp>
      </p:grpSp>
      <p:grpSp>
        <p:nvGrpSpPr>
          <p:cNvPr name="Group 68" id="68"/>
          <p:cNvGrpSpPr/>
          <p:nvPr/>
        </p:nvGrpSpPr>
        <p:grpSpPr>
          <a:xfrm rot="0">
            <a:off x="8833104" y="4057650"/>
            <a:ext cx="164592" cy="137160"/>
            <a:chOff x="0" y="0"/>
            <a:chExt cx="219456" cy="182880"/>
          </a:xfrm>
        </p:grpSpPr>
        <p:sp>
          <p:nvSpPr>
            <p:cNvPr name="Freeform 69" id="69"/>
            <p:cNvSpPr/>
            <p:nvPr/>
          </p:nvSpPr>
          <p:spPr>
            <a:xfrm flipH="false" flipV="false" rot="0">
              <a:off x="0" y="0"/>
              <a:ext cx="219456" cy="182880"/>
            </a:xfrm>
            <a:custGeom>
              <a:avLst/>
              <a:gdLst/>
              <a:ahLst/>
              <a:cxnLst/>
              <a:rect r="r" b="b" t="t" l="l"/>
              <a:pathLst>
                <a:path h="182880" w="219456">
                  <a:moveTo>
                    <a:pt x="109728" y="0"/>
                  </a:moveTo>
                  <a:lnTo>
                    <a:pt x="0" y="182880"/>
                  </a:lnTo>
                  <a:lnTo>
                    <a:pt x="219456" y="182880"/>
                  </a:lnTo>
                  <a:close/>
                </a:path>
              </a:pathLst>
            </a:custGeom>
            <a:solidFill>
              <a:srgbClr val="F5C96B"/>
            </a:solidFill>
          </p:spPr>
        </p:sp>
      </p:grpSp>
      <p:grpSp>
        <p:nvGrpSpPr>
          <p:cNvPr name="Group 70" id="70"/>
          <p:cNvGrpSpPr/>
          <p:nvPr/>
        </p:nvGrpSpPr>
        <p:grpSpPr>
          <a:xfrm rot="0">
            <a:off x="8833104" y="4777740"/>
            <a:ext cx="164592" cy="137160"/>
            <a:chOff x="0" y="0"/>
            <a:chExt cx="219456" cy="182880"/>
          </a:xfrm>
        </p:grpSpPr>
        <p:sp>
          <p:nvSpPr>
            <p:cNvPr name="Freeform 71" id="71"/>
            <p:cNvSpPr/>
            <p:nvPr/>
          </p:nvSpPr>
          <p:spPr>
            <a:xfrm flipH="false" flipV="false" rot="0">
              <a:off x="0" y="0"/>
              <a:ext cx="219456" cy="182880"/>
            </a:xfrm>
            <a:custGeom>
              <a:avLst/>
              <a:gdLst/>
              <a:ahLst/>
              <a:cxnLst/>
              <a:rect r="r" b="b" t="t" l="l"/>
              <a:pathLst>
                <a:path h="182880" w="219456">
                  <a:moveTo>
                    <a:pt x="109728" y="182880"/>
                  </a:moveTo>
                  <a:lnTo>
                    <a:pt x="0" y="0"/>
                  </a:lnTo>
                  <a:lnTo>
                    <a:pt x="219456" y="0"/>
                  </a:lnTo>
                  <a:close/>
                </a:path>
              </a:pathLst>
            </a:custGeom>
            <a:solidFill>
              <a:srgbClr val="F5C96B"/>
            </a:solidFill>
          </p:spPr>
        </p:sp>
      </p:grpSp>
      <p:sp>
        <p:nvSpPr>
          <p:cNvPr name="TextBox 72" id="72"/>
          <p:cNvSpPr txBox="true"/>
          <p:nvPr/>
        </p:nvSpPr>
        <p:spPr>
          <a:xfrm rot="0">
            <a:off x="9235440" y="4227195"/>
            <a:ext cx="4229100" cy="379095"/>
          </a:xfrm>
          <a:prstGeom prst="rect">
            <a:avLst/>
          </a:prstGeom>
        </p:spPr>
        <p:txBody>
          <a:bodyPr anchor="t" rtlCol="false" tIns="0" lIns="0" bIns="0" rIns="0">
            <a:spAutoFit/>
          </a:bodyPr>
          <a:lstStyle/>
          <a:p>
            <a:pPr algn="l">
              <a:lnSpc>
                <a:spcPts val="2484"/>
              </a:lnSpc>
            </a:pPr>
            <a:r>
              <a:rPr lang="en-US" sz="2070">
                <a:solidFill>
                  <a:srgbClr val="F5C96B"/>
                </a:solidFill>
                <a:latin typeface="Open Sans"/>
                <a:ea typeface="Open Sans"/>
                <a:cs typeface="Open Sans"/>
                <a:sym typeface="Open Sans"/>
              </a:rPr>
              <a:t>3 · Verifica token</a:t>
            </a:r>
          </a:p>
        </p:txBody>
      </p:sp>
      <p:sp>
        <p:nvSpPr>
          <p:cNvPr name="TextBox 73" id="73"/>
          <p:cNvSpPr txBox="true"/>
          <p:nvPr/>
        </p:nvSpPr>
        <p:spPr>
          <a:xfrm rot="0">
            <a:off x="9235440" y="4594860"/>
            <a:ext cx="3280410" cy="274320"/>
          </a:xfrm>
          <a:prstGeom prst="rect">
            <a:avLst/>
          </a:prstGeom>
        </p:spPr>
        <p:txBody>
          <a:bodyPr anchor="t" rtlCol="false" tIns="0" lIns="0" bIns="0" rIns="0">
            <a:spAutoFit/>
          </a:bodyPr>
          <a:lstStyle/>
          <a:p>
            <a:pPr algn="l">
              <a:lnSpc>
                <a:spcPts val="1944"/>
              </a:lnSpc>
            </a:pPr>
            <a:r>
              <a:rPr lang="en-US" sz="1620">
                <a:solidFill>
                  <a:srgbClr val="BACDD9"/>
                </a:solidFill>
                <a:latin typeface="Open Sans"/>
                <a:ea typeface="Open Sans"/>
                <a:cs typeface="Open Sans"/>
                <a:sym typeface="Open Sans"/>
              </a:rPr>
              <a:t>Admin SDK</a:t>
            </a:r>
          </a:p>
        </p:txBody>
      </p:sp>
      <p:grpSp>
        <p:nvGrpSpPr>
          <p:cNvPr name="Group 74" id="74"/>
          <p:cNvGrpSpPr/>
          <p:nvPr/>
        </p:nvGrpSpPr>
        <p:grpSpPr>
          <a:xfrm rot="0">
            <a:off x="4686300" y="6269355"/>
            <a:ext cx="1600200" cy="34290"/>
            <a:chOff x="0" y="0"/>
            <a:chExt cx="2133600" cy="45720"/>
          </a:xfrm>
        </p:grpSpPr>
        <p:sp>
          <p:nvSpPr>
            <p:cNvPr name="Freeform 75" id="75"/>
            <p:cNvSpPr/>
            <p:nvPr/>
          </p:nvSpPr>
          <p:spPr>
            <a:xfrm flipH="false" flipV="false" rot="0">
              <a:off x="0" y="0"/>
              <a:ext cx="2133600" cy="45720"/>
            </a:xfrm>
            <a:custGeom>
              <a:avLst/>
              <a:gdLst/>
              <a:ahLst/>
              <a:cxnLst/>
              <a:rect r="r" b="b" t="t" l="l"/>
              <a:pathLst>
                <a:path h="45720" w="2133600">
                  <a:moveTo>
                    <a:pt x="0" y="0"/>
                  </a:moveTo>
                  <a:lnTo>
                    <a:pt x="2133600" y="0"/>
                  </a:lnTo>
                  <a:lnTo>
                    <a:pt x="2133600" y="45720"/>
                  </a:lnTo>
                  <a:lnTo>
                    <a:pt x="0" y="45720"/>
                  </a:lnTo>
                  <a:close/>
                </a:path>
              </a:pathLst>
            </a:custGeom>
            <a:solidFill>
              <a:srgbClr val="56DBD6"/>
            </a:solidFill>
          </p:spPr>
        </p:sp>
      </p:grpSp>
      <p:grpSp>
        <p:nvGrpSpPr>
          <p:cNvPr name="Group 76" id="76"/>
          <p:cNvGrpSpPr/>
          <p:nvPr/>
        </p:nvGrpSpPr>
        <p:grpSpPr>
          <a:xfrm rot="0">
            <a:off x="6149340" y="6204204"/>
            <a:ext cx="137160" cy="164592"/>
            <a:chOff x="0" y="0"/>
            <a:chExt cx="182880" cy="219456"/>
          </a:xfrm>
        </p:grpSpPr>
        <p:sp>
          <p:nvSpPr>
            <p:cNvPr name="Freeform 77" id="77"/>
            <p:cNvSpPr/>
            <p:nvPr/>
          </p:nvSpPr>
          <p:spPr>
            <a:xfrm flipH="false" flipV="false" rot="0">
              <a:off x="0" y="0"/>
              <a:ext cx="182880" cy="219456"/>
            </a:xfrm>
            <a:custGeom>
              <a:avLst/>
              <a:gdLst/>
              <a:ahLst/>
              <a:cxnLst/>
              <a:rect r="r" b="b" t="t" l="l"/>
              <a:pathLst>
                <a:path h="219456" w="182880">
                  <a:moveTo>
                    <a:pt x="182880" y="109728"/>
                  </a:moveTo>
                  <a:lnTo>
                    <a:pt x="0" y="0"/>
                  </a:lnTo>
                  <a:lnTo>
                    <a:pt x="0" y="219456"/>
                  </a:lnTo>
                  <a:close/>
                </a:path>
              </a:pathLst>
            </a:custGeom>
            <a:solidFill>
              <a:srgbClr val="56DBD6"/>
            </a:solidFill>
          </p:spPr>
        </p:sp>
      </p:grpSp>
      <p:grpSp>
        <p:nvGrpSpPr>
          <p:cNvPr name="Group 78" id="78"/>
          <p:cNvGrpSpPr/>
          <p:nvPr/>
        </p:nvGrpSpPr>
        <p:grpSpPr>
          <a:xfrm rot="0">
            <a:off x="4686300" y="6204204"/>
            <a:ext cx="137160" cy="164592"/>
            <a:chOff x="0" y="0"/>
            <a:chExt cx="182880" cy="219456"/>
          </a:xfrm>
        </p:grpSpPr>
        <p:sp>
          <p:nvSpPr>
            <p:cNvPr name="Freeform 79" id="79"/>
            <p:cNvSpPr/>
            <p:nvPr/>
          </p:nvSpPr>
          <p:spPr>
            <a:xfrm flipH="false" flipV="false" rot="0">
              <a:off x="0" y="0"/>
              <a:ext cx="182880" cy="219456"/>
            </a:xfrm>
            <a:custGeom>
              <a:avLst/>
              <a:gdLst/>
              <a:ahLst/>
              <a:cxnLst/>
              <a:rect r="r" b="b" t="t" l="l"/>
              <a:pathLst>
                <a:path h="219456" w="182880">
                  <a:moveTo>
                    <a:pt x="0" y="109728"/>
                  </a:moveTo>
                  <a:lnTo>
                    <a:pt x="182880" y="0"/>
                  </a:lnTo>
                  <a:lnTo>
                    <a:pt x="182880" y="219456"/>
                  </a:lnTo>
                  <a:close/>
                </a:path>
              </a:pathLst>
            </a:custGeom>
            <a:solidFill>
              <a:srgbClr val="56DBD6"/>
            </a:solidFill>
          </p:spPr>
        </p:sp>
      </p:grpSp>
      <p:sp>
        <p:nvSpPr>
          <p:cNvPr name="TextBox 80" id="80"/>
          <p:cNvSpPr txBox="true"/>
          <p:nvPr/>
        </p:nvSpPr>
        <p:spPr>
          <a:xfrm rot="0">
            <a:off x="4732020" y="5394960"/>
            <a:ext cx="1508760" cy="354330"/>
          </a:xfrm>
          <a:prstGeom prst="rect">
            <a:avLst/>
          </a:prstGeom>
        </p:spPr>
        <p:txBody>
          <a:bodyPr anchor="t" rtlCol="false" tIns="0" lIns="0" bIns="0" rIns="0">
            <a:spAutoFit/>
          </a:bodyPr>
          <a:lstStyle/>
          <a:p>
            <a:pPr algn="ctr">
              <a:lnSpc>
                <a:spcPts val="2375"/>
              </a:lnSpc>
            </a:pPr>
            <a:r>
              <a:rPr lang="en-US" sz="1979" b="true">
                <a:solidFill>
                  <a:srgbClr val="56DBD6"/>
                </a:solidFill>
                <a:latin typeface="Open Sans Bold"/>
                <a:ea typeface="Open Sans Bold"/>
                <a:cs typeface="Open Sans Bold"/>
                <a:sym typeface="Open Sans Bold"/>
              </a:rPr>
              <a:t>2 · HTTP</a:t>
            </a:r>
          </a:p>
        </p:txBody>
      </p:sp>
      <p:sp>
        <p:nvSpPr>
          <p:cNvPr name="TextBox 81" id="81"/>
          <p:cNvSpPr txBox="true"/>
          <p:nvPr/>
        </p:nvSpPr>
        <p:spPr>
          <a:xfrm rot="0">
            <a:off x="4732020" y="5804535"/>
            <a:ext cx="1508760" cy="344805"/>
          </a:xfrm>
          <a:prstGeom prst="rect">
            <a:avLst/>
          </a:prstGeom>
        </p:spPr>
        <p:txBody>
          <a:bodyPr anchor="t" rtlCol="false" tIns="0" lIns="0" bIns="0" rIns="0">
            <a:spAutoFit/>
          </a:bodyPr>
          <a:lstStyle/>
          <a:p>
            <a:pPr algn="ctr">
              <a:lnSpc>
                <a:spcPts val="2052"/>
              </a:lnSpc>
            </a:pPr>
            <a:r>
              <a:rPr lang="en-US" sz="1710">
                <a:solidFill>
                  <a:srgbClr val="56DBD6"/>
                </a:solidFill>
                <a:latin typeface="Open Sans"/>
                <a:ea typeface="Open Sans"/>
                <a:cs typeface="Open Sans"/>
                <a:sym typeface="Open Sans"/>
              </a:rPr>
              <a:t>JSON · Bearer</a:t>
            </a:r>
          </a:p>
        </p:txBody>
      </p:sp>
      <p:grpSp>
        <p:nvGrpSpPr>
          <p:cNvPr name="Group 82" id="82"/>
          <p:cNvGrpSpPr/>
          <p:nvPr/>
        </p:nvGrpSpPr>
        <p:grpSpPr>
          <a:xfrm rot="0">
            <a:off x="11544300" y="6269355"/>
            <a:ext cx="2286000" cy="34290"/>
            <a:chOff x="0" y="0"/>
            <a:chExt cx="3048000" cy="45720"/>
          </a:xfrm>
        </p:grpSpPr>
        <p:sp>
          <p:nvSpPr>
            <p:cNvPr name="Freeform 83" id="83"/>
            <p:cNvSpPr/>
            <p:nvPr/>
          </p:nvSpPr>
          <p:spPr>
            <a:xfrm flipH="false" flipV="false" rot="0">
              <a:off x="0" y="0"/>
              <a:ext cx="3048000" cy="45720"/>
            </a:xfrm>
            <a:custGeom>
              <a:avLst/>
              <a:gdLst/>
              <a:ahLst/>
              <a:cxnLst/>
              <a:rect r="r" b="b" t="t" l="l"/>
              <a:pathLst>
                <a:path h="45720" w="3048000">
                  <a:moveTo>
                    <a:pt x="0" y="0"/>
                  </a:moveTo>
                  <a:lnTo>
                    <a:pt x="3048000" y="0"/>
                  </a:lnTo>
                  <a:lnTo>
                    <a:pt x="3048000" y="45720"/>
                  </a:lnTo>
                  <a:lnTo>
                    <a:pt x="0" y="45720"/>
                  </a:lnTo>
                  <a:close/>
                </a:path>
              </a:pathLst>
            </a:custGeom>
            <a:solidFill>
              <a:srgbClr val="56DBD6"/>
            </a:solidFill>
          </p:spPr>
        </p:sp>
      </p:grpSp>
      <p:grpSp>
        <p:nvGrpSpPr>
          <p:cNvPr name="Group 84" id="84"/>
          <p:cNvGrpSpPr/>
          <p:nvPr/>
        </p:nvGrpSpPr>
        <p:grpSpPr>
          <a:xfrm rot="0">
            <a:off x="13693140" y="6204204"/>
            <a:ext cx="137160" cy="164592"/>
            <a:chOff x="0" y="0"/>
            <a:chExt cx="182880" cy="219456"/>
          </a:xfrm>
        </p:grpSpPr>
        <p:sp>
          <p:nvSpPr>
            <p:cNvPr name="Freeform 85" id="85"/>
            <p:cNvSpPr/>
            <p:nvPr/>
          </p:nvSpPr>
          <p:spPr>
            <a:xfrm flipH="false" flipV="false" rot="0">
              <a:off x="0" y="0"/>
              <a:ext cx="182880" cy="219456"/>
            </a:xfrm>
            <a:custGeom>
              <a:avLst/>
              <a:gdLst/>
              <a:ahLst/>
              <a:cxnLst/>
              <a:rect r="r" b="b" t="t" l="l"/>
              <a:pathLst>
                <a:path h="219456" w="182880">
                  <a:moveTo>
                    <a:pt x="182880" y="109728"/>
                  </a:moveTo>
                  <a:lnTo>
                    <a:pt x="0" y="0"/>
                  </a:lnTo>
                  <a:lnTo>
                    <a:pt x="0" y="219456"/>
                  </a:lnTo>
                  <a:close/>
                </a:path>
              </a:pathLst>
            </a:custGeom>
            <a:solidFill>
              <a:srgbClr val="56DBD6"/>
            </a:solidFill>
          </p:spPr>
        </p:sp>
      </p:grpSp>
      <p:grpSp>
        <p:nvGrpSpPr>
          <p:cNvPr name="Group 86" id="86"/>
          <p:cNvGrpSpPr/>
          <p:nvPr/>
        </p:nvGrpSpPr>
        <p:grpSpPr>
          <a:xfrm rot="0">
            <a:off x="11544300" y="6204204"/>
            <a:ext cx="137160" cy="164592"/>
            <a:chOff x="0" y="0"/>
            <a:chExt cx="182880" cy="219456"/>
          </a:xfrm>
        </p:grpSpPr>
        <p:sp>
          <p:nvSpPr>
            <p:cNvPr name="Freeform 87" id="87"/>
            <p:cNvSpPr/>
            <p:nvPr/>
          </p:nvSpPr>
          <p:spPr>
            <a:xfrm flipH="false" flipV="false" rot="0">
              <a:off x="0" y="0"/>
              <a:ext cx="182880" cy="219456"/>
            </a:xfrm>
            <a:custGeom>
              <a:avLst/>
              <a:gdLst/>
              <a:ahLst/>
              <a:cxnLst/>
              <a:rect r="r" b="b" t="t" l="l"/>
              <a:pathLst>
                <a:path h="219456" w="182880">
                  <a:moveTo>
                    <a:pt x="0" y="109728"/>
                  </a:moveTo>
                  <a:lnTo>
                    <a:pt x="182880" y="0"/>
                  </a:lnTo>
                  <a:lnTo>
                    <a:pt x="182880" y="219456"/>
                  </a:lnTo>
                  <a:close/>
                </a:path>
              </a:pathLst>
            </a:custGeom>
            <a:solidFill>
              <a:srgbClr val="56DBD6"/>
            </a:solidFill>
          </p:spPr>
        </p:sp>
      </p:grpSp>
      <p:sp>
        <p:nvSpPr>
          <p:cNvPr name="TextBox 88" id="88"/>
          <p:cNvSpPr txBox="true"/>
          <p:nvPr/>
        </p:nvSpPr>
        <p:spPr>
          <a:xfrm rot="0">
            <a:off x="11704320" y="5747385"/>
            <a:ext cx="1965960" cy="379095"/>
          </a:xfrm>
          <a:prstGeom prst="rect">
            <a:avLst/>
          </a:prstGeom>
        </p:spPr>
        <p:txBody>
          <a:bodyPr anchor="t" rtlCol="false" tIns="0" lIns="0" bIns="0" rIns="0">
            <a:spAutoFit/>
          </a:bodyPr>
          <a:lstStyle/>
          <a:p>
            <a:pPr algn="ctr">
              <a:lnSpc>
                <a:spcPts val="2592"/>
              </a:lnSpc>
            </a:pPr>
            <a:r>
              <a:rPr lang="en-US" sz="2160" b="true">
                <a:solidFill>
                  <a:srgbClr val="56DBD6"/>
                </a:solidFill>
                <a:latin typeface="Open Sans Bold"/>
                <a:ea typeface="Open Sans Bold"/>
                <a:cs typeface="Open Sans Bold"/>
                <a:sym typeface="Open Sans Bold"/>
              </a:rPr>
              <a:t>4 · SQL</a:t>
            </a:r>
          </a:p>
        </p:txBody>
      </p:sp>
      <p:sp>
        <p:nvSpPr>
          <p:cNvPr name="TextBox 89" id="89"/>
          <p:cNvSpPr txBox="true"/>
          <p:nvPr/>
        </p:nvSpPr>
        <p:spPr>
          <a:xfrm rot="0">
            <a:off x="11658600" y="6560820"/>
            <a:ext cx="2057400" cy="708660"/>
          </a:xfrm>
          <a:prstGeom prst="rect">
            <a:avLst/>
          </a:prstGeom>
        </p:spPr>
        <p:txBody>
          <a:bodyPr anchor="t" rtlCol="false" tIns="0" lIns="0" bIns="0" rIns="0">
            <a:spAutoFit/>
          </a:bodyPr>
          <a:lstStyle/>
          <a:p>
            <a:pPr algn="ctr">
              <a:lnSpc>
                <a:spcPts val="2375"/>
              </a:lnSpc>
            </a:pPr>
            <a:r>
              <a:rPr lang="en-US" sz="1979">
                <a:solidFill>
                  <a:srgbClr val="BACDD9"/>
                </a:solidFill>
                <a:latin typeface="Open Sans"/>
                <a:ea typeface="Open Sans"/>
                <a:cs typeface="Open Sans"/>
                <a:sym typeface="Open Sans"/>
              </a:rPr>
              <a:t>Usuario activo</a:t>
            </a:r>
          </a:p>
          <a:p>
            <a:pPr algn="ctr">
              <a:lnSpc>
                <a:spcPts val="2375"/>
              </a:lnSpc>
            </a:pPr>
            <a:r>
              <a:rPr lang="en-US" sz="1979">
                <a:solidFill>
                  <a:srgbClr val="BACDD9"/>
                </a:solidFill>
                <a:latin typeface="Open Sans"/>
                <a:ea typeface="Open Sans"/>
                <a:cs typeface="Open Sans"/>
                <a:sym typeface="Open Sans"/>
              </a:rPr>
              <a:t>y rol</a:t>
            </a:r>
          </a:p>
        </p:txBody>
      </p:sp>
      <p:grpSp>
        <p:nvGrpSpPr>
          <p:cNvPr name="Group 90" id="90"/>
          <p:cNvGrpSpPr/>
          <p:nvPr/>
        </p:nvGrpSpPr>
        <p:grpSpPr>
          <a:xfrm rot="0">
            <a:off x="6286500" y="8915400"/>
            <a:ext cx="5257800" cy="914400"/>
            <a:chOff x="0" y="0"/>
            <a:chExt cx="7010400" cy="1219200"/>
          </a:xfrm>
        </p:grpSpPr>
        <p:sp>
          <p:nvSpPr>
            <p:cNvPr name="Freeform 91" id="91"/>
            <p:cNvSpPr/>
            <p:nvPr/>
          </p:nvSpPr>
          <p:spPr>
            <a:xfrm flipH="false" flipV="false" rot="0">
              <a:off x="0" y="0"/>
              <a:ext cx="7010400" cy="1219200"/>
            </a:xfrm>
            <a:custGeom>
              <a:avLst/>
              <a:gdLst/>
              <a:ahLst/>
              <a:cxnLst/>
              <a:rect r="r" b="b" t="t" l="l"/>
              <a:pathLst>
                <a:path h="1219200" w="7010400">
                  <a:moveTo>
                    <a:pt x="0" y="304800"/>
                  </a:moveTo>
                  <a:cubicBezTo>
                    <a:pt x="0" y="136525"/>
                    <a:pt x="136525" y="0"/>
                    <a:pt x="304800" y="0"/>
                  </a:cubicBezTo>
                  <a:lnTo>
                    <a:pt x="6705600" y="0"/>
                  </a:lnTo>
                  <a:cubicBezTo>
                    <a:pt x="6873875" y="0"/>
                    <a:pt x="7010400" y="136525"/>
                    <a:pt x="7010400" y="304800"/>
                  </a:cubicBezTo>
                  <a:lnTo>
                    <a:pt x="7010400" y="914400"/>
                  </a:lnTo>
                  <a:cubicBezTo>
                    <a:pt x="7010400" y="1082675"/>
                    <a:pt x="6873875" y="1219200"/>
                    <a:pt x="6705600" y="1219200"/>
                  </a:cubicBezTo>
                  <a:lnTo>
                    <a:pt x="304800" y="1219200"/>
                  </a:lnTo>
                  <a:cubicBezTo>
                    <a:pt x="136525" y="1219200"/>
                    <a:pt x="0" y="1082675"/>
                    <a:pt x="0" y="914400"/>
                  </a:cubicBezTo>
                  <a:close/>
                </a:path>
              </a:pathLst>
            </a:custGeom>
            <a:solidFill>
              <a:srgbClr val="16374E"/>
            </a:solidFill>
          </p:spPr>
        </p:sp>
      </p:grpSp>
      <p:grpSp>
        <p:nvGrpSpPr>
          <p:cNvPr name="Group 92" id="92"/>
          <p:cNvGrpSpPr/>
          <p:nvPr/>
        </p:nvGrpSpPr>
        <p:grpSpPr>
          <a:xfrm rot="0">
            <a:off x="6627886" y="9086850"/>
            <a:ext cx="471668" cy="571500"/>
            <a:chOff x="0" y="0"/>
            <a:chExt cx="628891" cy="762000"/>
          </a:xfrm>
        </p:grpSpPr>
        <p:sp>
          <p:nvSpPr>
            <p:cNvPr name="Freeform 93" id="93"/>
            <p:cNvSpPr/>
            <p:nvPr/>
          </p:nvSpPr>
          <p:spPr>
            <a:xfrm flipH="false" flipV="false" rot="0">
              <a:off x="0" y="0"/>
              <a:ext cx="628904" cy="762000"/>
            </a:xfrm>
            <a:custGeom>
              <a:avLst/>
              <a:gdLst/>
              <a:ahLst/>
              <a:cxnLst/>
              <a:rect r="r" b="b" t="t" l="l"/>
              <a:pathLst>
                <a:path h="762000" w="628904">
                  <a:moveTo>
                    <a:pt x="0" y="0"/>
                  </a:moveTo>
                  <a:lnTo>
                    <a:pt x="628904" y="0"/>
                  </a:lnTo>
                  <a:lnTo>
                    <a:pt x="628904" y="762000"/>
                  </a:lnTo>
                  <a:lnTo>
                    <a:pt x="0" y="762000"/>
                  </a:lnTo>
                  <a:lnTo>
                    <a:pt x="0" y="0"/>
                  </a:lnTo>
                  <a:close/>
                </a:path>
              </a:pathLst>
            </a:custGeom>
            <a:blipFill>
              <a:blip r:embed="rId10"/>
              <a:stretch>
                <a:fillRect l="0" t="0" r="2" b="0"/>
              </a:stretch>
            </a:blipFill>
          </p:spPr>
        </p:sp>
      </p:grpSp>
      <p:sp>
        <p:nvSpPr>
          <p:cNvPr name="TextBox 94" id="94"/>
          <p:cNvSpPr txBox="true"/>
          <p:nvPr/>
        </p:nvSpPr>
        <p:spPr>
          <a:xfrm rot="0">
            <a:off x="7372350" y="8997315"/>
            <a:ext cx="1737360" cy="478155"/>
          </a:xfrm>
          <a:prstGeom prst="rect">
            <a:avLst/>
          </a:prstGeom>
        </p:spPr>
        <p:txBody>
          <a:bodyPr anchor="t" rtlCol="false" tIns="0" lIns="0" bIns="0" rIns="0">
            <a:spAutoFit/>
          </a:bodyPr>
          <a:lstStyle/>
          <a:p>
            <a:pPr algn="l">
              <a:lnSpc>
                <a:spcPts val="3131"/>
              </a:lnSpc>
            </a:pPr>
            <a:r>
              <a:rPr lang="en-US" sz="2610" b="true">
                <a:solidFill>
                  <a:srgbClr val="FFFFFF"/>
                </a:solidFill>
                <a:latin typeface="Open Sans Bold"/>
                <a:ea typeface="Open Sans Bold"/>
                <a:cs typeface="Open Sans Bold"/>
                <a:sym typeface="Open Sans Bold"/>
              </a:rPr>
              <a:t>Python</a:t>
            </a:r>
          </a:p>
        </p:txBody>
      </p:sp>
      <p:sp>
        <p:nvSpPr>
          <p:cNvPr name="TextBox 95" id="95"/>
          <p:cNvSpPr txBox="true"/>
          <p:nvPr/>
        </p:nvSpPr>
        <p:spPr>
          <a:xfrm rot="0">
            <a:off x="7372350" y="9464040"/>
            <a:ext cx="3771900" cy="320040"/>
          </a:xfrm>
          <a:prstGeom prst="rect">
            <a:avLst/>
          </a:prstGeom>
        </p:spPr>
        <p:txBody>
          <a:bodyPr anchor="t" rtlCol="false" tIns="0" lIns="0" bIns="0" rIns="0">
            <a:spAutoFit/>
          </a:bodyPr>
          <a:lstStyle/>
          <a:p>
            <a:pPr algn="l">
              <a:lnSpc>
                <a:spcPts val="2267"/>
              </a:lnSpc>
            </a:pPr>
            <a:r>
              <a:rPr lang="en-US" sz="1889">
                <a:solidFill>
                  <a:srgbClr val="BACDD9"/>
                </a:solidFill>
                <a:latin typeface="Open Sans"/>
                <a:ea typeface="Open Sans"/>
                <a:cs typeface="Open Sans"/>
                <a:sym typeface="Open Sans"/>
              </a:rPr>
              <a:t>Analítica auxiliar</a:t>
            </a:r>
          </a:p>
        </p:txBody>
      </p:sp>
      <p:grpSp>
        <p:nvGrpSpPr>
          <p:cNvPr name="Group 96" id="96"/>
          <p:cNvGrpSpPr/>
          <p:nvPr/>
        </p:nvGrpSpPr>
        <p:grpSpPr>
          <a:xfrm rot="0">
            <a:off x="8898255" y="7852410"/>
            <a:ext cx="34290" cy="91440"/>
            <a:chOff x="0" y="0"/>
            <a:chExt cx="45720" cy="121920"/>
          </a:xfrm>
        </p:grpSpPr>
        <p:sp>
          <p:nvSpPr>
            <p:cNvPr name="Freeform 97" id="97"/>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98" id="98"/>
          <p:cNvGrpSpPr/>
          <p:nvPr/>
        </p:nvGrpSpPr>
        <p:grpSpPr>
          <a:xfrm rot="0">
            <a:off x="8898255" y="8035290"/>
            <a:ext cx="34290" cy="91440"/>
            <a:chOff x="0" y="0"/>
            <a:chExt cx="45720" cy="121920"/>
          </a:xfrm>
        </p:grpSpPr>
        <p:sp>
          <p:nvSpPr>
            <p:cNvPr name="Freeform 99" id="99"/>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00" id="100"/>
          <p:cNvGrpSpPr/>
          <p:nvPr/>
        </p:nvGrpSpPr>
        <p:grpSpPr>
          <a:xfrm rot="0">
            <a:off x="8898255" y="8218170"/>
            <a:ext cx="34290" cy="91440"/>
            <a:chOff x="0" y="0"/>
            <a:chExt cx="45720" cy="121920"/>
          </a:xfrm>
        </p:grpSpPr>
        <p:sp>
          <p:nvSpPr>
            <p:cNvPr name="Freeform 101" id="101"/>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02" id="102"/>
          <p:cNvGrpSpPr/>
          <p:nvPr/>
        </p:nvGrpSpPr>
        <p:grpSpPr>
          <a:xfrm rot="0">
            <a:off x="8898255" y="8401050"/>
            <a:ext cx="34290" cy="91440"/>
            <a:chOff x="0" y="0"/>
            <a:chExt cx="45720" cy="121920"/>
          </a:xfrm>
        </p:grpSpPr>
        <p:sp>
          <p:nvSpPr>
            <p:cNvPr name="Freeform 103" id="103"/>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04" id="104"/>
          <p:cNvGrpSpPr/>
          <p:nvPr/>
        </p:nvGrpSpPr>
        <p:grpSpPr>
          <a:xfrm rot="0">
            <a:off x="8898255" y="8583930"/>
            <a:ext cx="34290" cy="91440"/>
            <a:chOff x="0" y="0"/>
            <a:chExt cx="45720" cy="121920"/>
          </a:xfrm>
        </p:grpSpPr>
        <p:sp>
          <p:nvSpPr>
            <p:cNvPr name="Freeform 105" id="105"/>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06" id="106"/>
          <p:cNvGrpSpPr/>
          <p:nvPr/>
        </p:nvGrpSpPr>
        <p:grpSpPr>
          <a:xfrm rot="0">
            <a:off x="8898255" y="8766810"/>
            <a:ext cx="34290" cy="91440"/>
            <a:chOff x="0" y="0"/>
            <a:chExt cx="45720" cy="121920"/>
          </a:xfrm>
        </p:grpSpPr>
        <p:sp>
          <p:nvSpPr>
            <p:cNvPr name="Freeform 107" id="107"/>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08" id="108"/>
          <p:cNvGrpSpPr/>
          <p:nvPr/>
        </p:nvGrpSpPr>
        <p:grpSpPr>
          <a:xfrm rot="0">
            <a:off x="8846820" y="8801100"/>
            <a:ext cx="137160" cy="114300"/>
            <a:chOff x="0" y="0"/>
            <a:chExt cx="182880" cy="152400"/>
          </a:xfrm>
        </p:grpSpPr>
        <p:sp>
          <p:nvSpPr>
            <p:cNvPr name="Freeform 109" id="109"/>
            <p:cNvSpPr/>
            <p:nvPr/>
          </p:nvSpPr>
          <p:spPr>
            <a:xfrm flipH="false" flipV="false" rot="0">
              <a:off x="0" y="0"/>
              <a:ext cx="182880" cy="152400"/>
            </a:xfrm>
            <a:custGeom>
              <a:avLst/>
              <a:gdLst/>
              <a:ahLst/>
              <a:cxnLst/>
              <a:rect r="r" b="b" t="t" l="l"/>
              <a:pathLst>
                <a:path h="152400" w="182880">
                  <a:moveTo>
                    <a:pt x="91440" y="152400"/>
                  </a:moveTo>
                  <a:lnTo>
                    <a:pt x="0" y="0"/>
                  </a:lnTo>
                  <a:lnTo>
                    <a:pt x="182880" y="0"/>
                  </a:lnTo>
                  <a:close/>
                </a:path>
              </a:pathLst>
            </a:custGeom>
            <a:solidFill>
              <a:srgbClr val="BACDD9"/>
            </a:solidFill>
          </p:spPr>
        </p:sp>
      </p:grpSp>
      <p:grpSp>
        <p:nvGrpSpPr>
          <p:cNvPr name="Group 110" id="110"/>
          <p:cNvGrpSpPr/>
          <p:nvPr/>
        </p:nvGrpSpPr>
        <p:grpSpPr>
          <a:xfrm rot="0">
            <a:off x="8846820" y="7852410"/>
            <a:ext cx="137160" cy="114300"/>
            <a:chOff x="0" y="0"/>
            <a:chExt cx="182880" cy="152400"/>
          </a:xfrm>
        </p:grpSpPr>
        <p:sp>
          <p:nvSpPr>
            <p:cNvPr name="Freeform 111" id="111"/>
            <p:cNvSpPr/>
            <p:nvPr/>
          </p:nvSpPr>
          <p:spPr>
            <a:xfrm flipH="false" flipV="false" rot="0">
              <a:off x="0" y="0"/>
              <a:ext cx="182880" cy="152400"/>
            </a:xfrm>
            <a:custGeom>
              <a:avLst/>
              <a:gdLst/>
              <a:ahLst/>
              <a:cxnLst/>
              <a:rect r="r" b="b" t="t" l="l"/>
              <a:pathLst>
                <a:path h="152400" w="182880">
                  <a:moveTo>
                    <a:pt x="91440" y="0"/>
                  </a:moveTo>
                  <a:lnTo>
                    <a:pt x="0" y="152400"/>
                  </a:lnTo>
                  <a:lnTo>
                    <a:pt x="182880" y="152400"/>
                  </a:lnTo>
                  <a:close/>
                </a:path>
              </a:pathLst>
            </a:custGeom>
            <a:solidFill>
              <a:srgbClr val="BACDD9"/>
            </a:solidFill>
          </p:spPr>
        </p:sp>
      </p:grpSp>
      <p:sp>
        <p:nvSpPr>
          <p:cNvPr name="TextBox 112" id="112"/>
          <p:cNvSpPr txBox="true"/>
          <p:nvPr/>
        </p:nvSpPr>
        <p:spPr>
          <a:xfrm rot="0">
            <a:off x="9178290" y="8103870"/>
            <a:ext cx="3348990" cy="354330"/>
          </a:xfrm>
          <a:prstGeom prst="rect">
            <a:avLst/>
          </a:prstGeom>
        </p:spPr>
        <p:txBody>
          <a:bodyPr anchor="t" rtlCol="false" tIns="0" lIns="0" bIns="0" rIns="0">
            <a:spAutoFit/>
          </a:bodyPr>
          <a:lstStyle/>
          <a:p>
            <a:pPr algn="l">
              <a:lnSpc>
                <a:spcPts val="2375"/>
              </a:lnSpc>
            </a:pPr>
            <a:r>
              <a:rPr lang="en-US" sz="1979">
                <a:solidFill>
                  <a:srgbClr val="BACDD9"/>
                </a:solidFill>
                <a:latin typeface="Open Sans"/>
                <a:ea typeface="Open Sans"/>
                <a:cs typeface="Open Sans"/>
                <a:sym typeface="Open Sans"/>
              </a:rPr>
              <a:t>Opcional · JSON</a:t>
            </a:r>
          </a:p>
        </p:txBody>
      </p:sp>
      <p:sp>
        <p:nvSpPr>
          <p:cNvPr name="TextBox 113" id="113"/>
          <p:cNvSpPr txBox="true"/>
          <p:nvPr/>
        </p:nvSpPr>
        <p:spPr>
          <a:xfrm rot="0">
            <a:off x="9178290" y="8538210"/>
            <a:ext cx="3348990" cy="331470"/>
          </a:xfrm>
          <a:prstGeom prst="rect">
            <a:avLst/>
          </a:prstGeom>
        </p:spPr>
        <p:txBody>
          <a:bodyPr anchor="t" rtlCol="false" tIns="0" lIns="0" bIns="0" rIns="0">
            <a:spAutoFit/>
          </a:bodyPr>
          <a:lstStyle/>
          <a:p>
            <a:pPr algn="l">
              <a:lnSpc>
                <a:spcPts val="2267"/>
              </a:lnSpc>
            </a:pPr>
            <a:r>
              <a:rPr lang="en-US" sz="1889">
                <a:solidFill>
                  <a:srgbClr val="BACDD9"/>
                </a:solidFill>
                <a:latin typeface="Open Sans"/>
                <a:ea typeface="Open Sans"/>
                <a:cs typeface="Open Sans"/>
                <a:sym typeface="Open Sans"/>
              </a:rPr>
              <a:t>Proceso local</a:t>
            </a:r>
          </a:p>
        </p:txBody>
      </p:sp>
      <p:grpSp>
        <p:nvGrpSpPr>
          <p:cNvPr name="Group 114" id="114"/>
          <p:cNvGrpSpPr/>
          <p:nvPr/>
        </p:nvGrpSpPr>
        <p:grpSpPr>
          <a:xfrm rot="0">
            <a:off x="11544300" y="9355455"/>
            <a:ext cx="91440" cy="34290"/>
            <a:chOff x="0" y="0"/>
            <a:chExt cx="121920" cy="45720"/>
          </a:xfrm>
        </p:grpSpPr>
        <p:sp>
          <p:nvSpPr>
            <p:cNvPr name="Freeform 115" id="115"/>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16" id="116"/>
          <p:cNvGrpSpPr/>
          <p:nvPr/>
        </p:nvGrpSpPr>
        <p:grpSpPr>
          <a:xfrm rot="0">
            <a:off x="11727180" y="9355455"/>
            <a:ext cx="91440" cy="34290"/>
            <a:chOff x="0" y="0"/>
            <a:chExt cx="121920" cy="45720"/>
          </a:xfrm>
        </p:grpSpPr>
        <p:sp>
          <p:nvSpPr>
            <p:cNvPr name="Freeform 117" id="117"/>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18" id="118"/>
          <p:cNvGrpSpPr/>
          <p:nvPr/>
        </p:nvGrpSpPr>
        <p:grpSpPr>
          <a:xfrm rot="0">
            <a:off x="11910060" y="9355455"/>
            <a:ext cx="91440" cy="34290"/>
            <a:chOff x="0" y="0"/>
            <a:chExt cx="121920" cy="45720"/>
          </a:xfrm>
        </p:grpSpPr>
        <p:sp>
          <p:nvSpPr>
            <p:cNvPr name="Freeform 119" id="119"/>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20" id="120"/>
          <p:cNvGrpSpPr/>
          <p:nvPr/>
        </p:nvGrpSpPr>
        <p:grpSpPr>
          <a:xfrm rot="0">
            <a:off x="12092940" y="9355455"/>
            <a:ext cx="91440" cy="34290"/>
            <a:chOff x="0" y="0"/>
            <a:chExt cx="121920" cy="45720"/>
          </a:xfrm>
        </p:grpSpPr>
        <p:sp>
          <p:nvSpPr>
            <p:cNvPr name="Freeform 121" id="121"/>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22" id="122"/>
          <p:cNvGrpSpPr/>
          <p:nvPr/>
        </p:nvGrpSpPr>
        <p:grpSpPr>
          <a:xfrm rot="0">
            <a:off x="12275820" y="9355455"/>
            <a:ext cx="91440" cy="34290"/>
            <a:chOff x="0" y="0"/>
            <a:chExt cx="121920" cy="45720"/>
          </a:xfrm>
        </p:grpSpPr>
        <p:sp>
          <p:nvSpPr>
            <p:cNvPr name="Freeform 123" id="123"/>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24" id="124"/>
          <p:cNvGrpSpPr/>
          <p:nvPr/>
        </p:nvGrpSpPr>
        <p:grpSpPr>
          <a:xfrm rot="0">
            <a:off x="12458700" y="9355455"/>
            <a:ext cx="91440" cy="34290"/>
            <a:chOff x="0" y="0"/>
            <a:chExt cx="121920" cy="45720"/>
          </a:xfrm>
        </p:grpSpPr>
        <p:sp>
          <p:nvSpPr>
            <p:cNvPr name="Freeform 125" id="125"/>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26" id="126"/>
          <p:cNvGrpSpPr/>
          <p:nvPr/>
        </p:nvGrpSpPr>
        <p:grpSpPr>
          <a:xfrm rot="0">
            <a:off x="12641580" y="9355455"/>
            <a:ext cx="45720" cy="34290"/>
            <a:chOff x="0" y="0"/>
            <a:chExt cx="60960" cy="45720"/>
          </a:xfrm>
        </p:grpSpPr>
        <p:sp>
          <p:nvSpPr>
            <p:cNvPr name="Freeform 127" id="127"/>
            <p:cNvSpPr/>
            <p:nvPr/>
          </p:nvSpPr>
          <p:spPr>
            <a:xfrm flipH="false" flipV="false" rot="0">
              <a:off x="0" y="0"/>
              <a:ext cx="60960" cy="45720"/>
            </a:xfrm>
            <a:custGeom>
              <a:avLst/>
              <a:gdLst/>
              <a:ahLst/>
              <a:cxnLst/>
              <a:rect r="r" b="b" t="t" l="l"/>
              <a:pathLst>
                <a:path h="45720" w="60960">
                  <a:moveTo>
                    <a:pt x="0" y="0"/>
                  </a:moveTo>
                  <a:lnTo>
                    <a:pt x="60960" y="0"/>
                  </a:lnTo>
                  <a:lnTo>
                    <a:pt x="60960" y="45720"/>
                  </a:lnTo>
                  <a:lnTo>
                    <a:pt x="0" y="45720"/>
                  </a:lnTo>
                  <a:close/>
                </a:path>
              </a:pathLst>
            </a:custGeom>
            <a:solidFill>
              <a:srgbClr val="BACDD9"/>
            </a:solidFill>
          </p:spPr>
        </p:sp>
      </p:grpSp>
      <p:grpSp>
        <p:nvGrpSpPr>
          <p:cNvPr name="Group 128" id="128"/>
          <p:cNvGrpSpPr/>
          <p:nvPr/>
        </p:nvGrpSpPr>
        <p:grpSpPr>
          <a:xfrm rot="0">
            <a:off x="12670155" y="9281160"/>
            <a:ext cx="34290" cy="91440"/>
            <a:chOff x="0" y="0"/>
            <a:chExt cx="45720" cy="121920"/>
          </a:xfrm>
        </p:grpSpPr>
        <p:sp>
          <p:nvSpPr>
            <p:cNvPr name="Freeform 129" id="129"/>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30" id="130"/>
          <p:cNvGrpSpPr/>
          <p:nvPr/>
        </p:nvGrpSpPr>
        <p:grpSpPr>
          <a:xfrm rot="0">
            <a:off x="12670155" y="9098280"/>
            <a:ext cx="34290" cy="91440"/>
            <a:chOff x="0" y="0"/>
            <a:chExt cx="45720" cy="121920"/>
          </a:xfrm>
        </p:grpSpPr>
        <p:sp>
          <p:nvSpPr>
            <p:cNvPr name="Freeform 131" id="131"/>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32" id="132"/>
          <p:cNvGrpSpPr/>
          <p:nvPr/>
        </p:nvGrpSpPr>
        <p:grpSpPr>
          <a:xfrm rot="0">
            <a:off x="12670155" y="8915400"/>
            <a:ext cx="34290" cy="91440"/>
            <a:chOff x="0" y="0"/>
            <a:chExt cx="45720" cy="121920"/>
          </a:xfrm>
        </p:grpSpPr>
        <p:sp>
          <p:nvSpPr>
            <p:cNvPr name="Freeform 133" id="133"/>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34" id="134"/>
          <p:cNvGrpSpPr/>
          <p:nvPr/>
        </p:nvGrpSpPr>
        <p:grpSpPr>
          <a:xfrm rot="0">
            <a:off x="12670155" y="8732520"/>
            <a:ext cx="34290" cy="91440"/>
            <a:chOff x="0" y="0"/>
            <a:chExt cx="45720" cy="121920"/>
          </a:xfrm>
        </p:grpSpPr>
        <p:sp>
          <p:nvSpPr>
            <p:cNvPr name="Freeform 135" id="135"/>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36" id="136"/>
          <p:cNvGrpSpPr/>
          <p:nvPr/>
        </p:nvGrpSpPr>
        <p:grpSpPr>
          <a:xfrm rot="0">
            <a:off x="12670155" y="8549640"/>
            <a:ext cx="34290" cy="91440"/>
            <a:chOff x="0" y="0"/>
            <a:chExt cx="45720" cy="121920"/>
          </a:xfrm>
        </p:grpSpPr>
        <p:sp>
          <p:nvSpPr>
            <p:cNvPr name="Freeform 137" id="137"/>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38" id="138"/>
          <p:cNvGrpSpPr/>
          <p:nvPr/>
        </p:nvGrpSpPr>
        <p:grpSpPr>
          <a:xfrm rot="0">
            <a:off x="12670155" y="8366760"/>
            <a:ext cx="34290" cy="91440"/>
            <a:chOff x="0" y="0"/>
            <a:chExt cx="45720" cy="121920"/>
          </a:xfrm>
        </p:grpSpPr>
        <p:sp>
          <p:nvSpPr>
            <p:cNvPr name="Freeform 139" id="139"/>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40" id="140"/>
          <p:cNvGrpSpPr/>
          <p:nvPr/>
        </p:nvGrpSpPr>
        <p:grpSpPr>
          <a:xfrm rot="0">
            <a:off x="12670155" y="8183880"/>
            <a:ext cx="34290" cy="91440"/>
            <a:chOff x="0" y="0"/>
            <a:chExt cx="45720" cy="121920"/>
          </a:xfrm>
        </p:grpSpPr>
        <p:sp>
          <p:nvSpPr>
            <p:cNvPr name="Freeform 141" id="141"/>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42" id="142"/>
          <p:cNvGrpSpPr/>
          <p:nvPr/>
        </p:nvGrpSpPr>
        <p:grpSpPr>
          <a:xfrm rot="0">
            <a:off x="12670155" y="8001000"/>
            <a:ext cx="34290" cy="91440"/>
            <a:chOff x="0" y="0"/>
            <a:chExt cx="45720" cy="121920"/>
          </a:xfrm>
        </p:grpSpPr>
        <p:sp>
          <p:nvSpPr>
            <p:cNvPr name="Freeform 143" id="143"/>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44" id="144"/>
          <p:cNvGrpSpPr/>
          <p:nvPr/>
        </p:nvGrpSpPr>
        <p:grpSpPr>
          <a:xfrm rot="0">
            <a:off x="12670155" y="7818120"/>
            <a:ext cx="34290" cy="91440"/>
            <a:chOff x="0" y="0"/>
            <a:chExt cx="45720" cy="121920"/>
          </a:xfrm>
        </p:grpSpPr>
        <p:sp>
          <p:nvSpPr>
            <p:cNvPr name="Freeform 145" id="145"/>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46" id="146"/>
          <p:cNvGrpSpPr/>
          <p:nvPr/>
        </p:nvGrpSpPr>
        <p:grpSpPr>
          <a:xfrm rot="0">
            <a:off x="12670155" y="7635240"/>
            <a:ext cx="34290" cy="91440"/>
            <a:chOff x="0" y="0"/>
            <a:chExt cx="45720" cy="121920"/>
          </a:xfrm>
        </p:grpSpPr>
        <p:sp>
          <p:nvSpPr>
            <p:cNvPr name="Freeform 147" id="147"/>
            <p:cNvSpPr/>
            <p:nvPr/>
          </p:nvSpPr>
          <p:spPr>
            <a:xfrm flipH="false" flipV="false" rot="0">
              <a:off x="0" y="0"/>
              <a:ext cx="45720" cy="121920"/>
            </a:xfrm>
            <a:custGeom>
              <a:avLst/>
              <a:gdLst/>
              <a:ahLst/>
              <a:cxnLst/>
              <a:rect r="r" b="b" t="t" l="l"/>
              <a:pathLst>
                <a:path h="121920" w="45720">
                  <a:moveTo>
                    <a:pt x="0" y="0"/>
                  </a:moveTo>
                  <a:lnTo>
                    <a:pt x="45720" y="0"/>
                  </a:lnTo>
                  <a:lnTo>
                    <a:pt x="45720" y="121920"/>
                  </a:lnTo>
                  <a:lnTo>
                    <a:pt x="0" y="121920"/>
                  </a:lnTo>
                  <a:close/>
                </a:path>
              </a:pathLst>
            </a:custGeom>
            <a:solidFill>
              <a:srgbClr val="BACDD9"/>
            </a:solidFill>
          </p:spPr>
        </p:sp>
      </p:grpSp>
      <p:grpSp>
        <p:nvGrpSpPr>
          <p:cNvPr name="Group 148" id="148"/>
          <p:cNvGrpSpPr/>
          <p:nvPr/>
        </p:nvGrpSpPr>
        <p:grpSpPr>
          <a:xfrm rot="0">
            <a:off x="12687300" y="7526655"/>
            <a:ext cx="91440" cy="34290"/>
            <a:chOff x="0" y="0"/>
            <a:chExt cx="121920" cy="45720"/>
          </a:xfrm>
        </p:grpSpPr>
        <p:sp>
          <p:nvSpPr>
            <p:cNvPr name="Freeform 149" id="149"/>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50" id="150"/>
          <p:cNvGrpSpPr/>
          <p:nvPr/>
        </p:nvGrpSpPr>
        <p:grpSpPr>
          <a:xfrm rot="0">
            <a:off x="12870180" y="7526655"/>
            <a:ext cx="91440" cy="34290"/>
            <a:chOff x="0" y="0"/>
            <a:chExt cx="121920" cy="45720"/>
          </a:xfrm>
        </p:grpSpPr>
        <p:sp>
          <p:nvSpPr>
            <p:cNvPr name="Freeform 151" id="151"/>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52" id="152"/>
          <p:cNvGrpSpPr/>
          <p:nvPr/>
        </p:nvGrpSpPr>
        <p:grpSpPr>
          <a:xfrm rot="0">
            <a:off x="13053060" y="7526655"/>
            <a:ext cx="91440" cy="34290"/>
            <a:chOff x="0" y="0"/>
            <a:chExt cx="121920" cy="45720"/>
          </a:xfrm>
        </p:grpSpPr>
        <p:sp>
          <p:nvSpPr>
            <p:cNvPr name="Freeform 153" id="153"/>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54" id="154"/>
          <p:cNvGrpSpPr/>
          <p:nvPr/>
        </p:nvGrpSpPr>
        <p:grpSpPr>
          <a:xfrm rot="0">
            <a:off x="13235940" y="7526655"/>
            <a:ext cx="91440" cy="34290"/>
            <a:chOff x="0" y="0"/>
            <a:chExt cx="121920" cy="45720"/>
          </a:xfrm>
        </p:grpSpPr>
        <p:sp>
          <p:nvSpPr>
            <p:cNvPr name="Freeform 155" id="155"/>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56" id="156"/>
          <p:cNvGrpSpPr/>
          <p:nvPr/>
        </p:nvGrpSpPr>
        <p:grpSpPr>
          <a:xfrm rot="0">
            <a:off x="13418820" y="7526655"/>
            <a:ext cx="91440" cy="34290"/>
            <a:chOff x="0" y="0"/>
            <a:chExt cx="121920" cy="45720"/>
          </a:xfrm>
        </p:grpSpPr>
        <p:sp>
          <p:nvSpPr>
            <p:cNvPr name="Freeform 157" id="157"/>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58" id="158"/>
          <p:cNvGrpSpPr/>
          <p:nvPr/>
        </p:nvGrpSpPr>
        <p:grpSpPr>
          <a:xfrm rot="0">
            <a:off x="13601700" y="7526655"/>
            <a:ext cx="91440" cy="34290"/>
            <a:chOff x="0" y="0"/>
            <a:chExt cx="121920" cy="45720"/>
          </a:xfrm>
        </p:grpSpPr>
        <p:sp>
          <p:nvSpPr>
            <p:cNvPr name="Freeform 159" id="159"/>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60" id="160"/>
          <p:cNvGrpSpPr/>
          <p:nvPr/>
        </p:nvGrpSpPr>
        <p:grpSpPr>
          <a:xfrm rot="0">
            <a:off x="13784580" y="7526655"/>
            <a:ext cx="45720" cy="34290"/>
            <a:chOff x="0" y="0"/>
            <a:chExt cx="60960" cy="45720"/>
          </a:xfrm>
        </p:grpSpPr>
        <p:sp>
          <p:nvSpPr>
            <p:cNvPr name="Freeform 161" id="161"/>
            <p:cNvSpPr/>
            <p:nvPr/>
          </p:nvSpPr>
          <p:spPr>
            <a:xfrm flipH="false" flipV="false" rot="0">
              <a:off x="0" y="0"/>
              <a:ext cx="60960" cy="45720"/>
            </a:xfrm>
            <a:custGeom>
              <a:avLst/>
              <a:gdLst/>
              <a:ahLst/>
              <a:cxnLst/>
              <a:rect r="r" b="b" t="t" l="l"/>
              <a:pathLst>
                <a:path h="45720" w="60960">
                  <a:moveTo>
                    <a:pt x="0" y="0"/>
                  </a:moveTo>
                  <a:lnTo>
                    <a:pt x="60960" y="0"/>
                  </a:lnTo>
                  <a:lnTo>
                    <a:pt x="60960" y="45720"/>
                  </a:lnTo>
                  <a:lnTo>
                    <a:pt x="0" y="45720"/>
                  </a:lnTo>
                  <a:close/>
                </a:path>
              </a:pathLst>
            </a:custGeom>
            <a:solidFill>
              <a:srgbClr val="BACDD9"/>
            </a:solidFill>
          </p:spPr>
        </p:sp>
      </p:grpSp>
      <p:grpSp>
        <p:nvGrpSpPr>
          <p:cNvPr name="Group 162" id="162"/>
          <p:cNvGrpSpPr/>
          <p:nvPr/>
        </p:nvGrpSpPr>
        <p:grpSpPr>
          <a:xfrm rot="0">
            <a:off x="13716000" y="7475220"/>
            <a:ext cx="114300" cy="137160"/>
            <a:chOff x="0" y="0"/>
            <a:chExt cx="152400" cy="182880"/>
          </a:xfrm>
        </p:grpSpPr>
        <p:sp>
          <p:nvSpPr>
            <p:cNvPr name="Freeform 163" id="163"/>
            <p:cNvSpPr/>
            <p:nvPr/>
          </p:nvSpPr>
          <p:spPr>
            <a:xfrm flipH="false" flipV="false" rot="0">
              <a:off x="0" y="0"/>
              <a:ext cx="152400" cy="182880"/>
            </a:xfrm>
            <a:custGeom>
              <a:avLst/>
              <a:gdLst/>
              <a:ahLst/>
              <a:cxnLst/>
              <a:rect r="r" b="b" t="t" l="l"/>
              <a:pathLst>
                <a:path h="182880" w="152400">
                  <a:moveTo>
                    <a:pt x="152400" y="91440"/>
                  </a:moveTo>
                  <a:lnTo>
                    <a:pt x="0" y="0"/>
                  </a:lnTo>
                  <a:lnTo>
                    <a:pt x="0" y="182880"/>
                  </a:lnTo>
                  <a:close/>
                </a:path>
              </a:pathLst>
            </a:custGeom>
            <a:solidFill>
              <a:srgbClr val="BACDD9"/>
            </a:solidFill>
          </p:spPr>
        </p:sp>
      </p:grpSp>
      <p:sp>
        <p:nvSpPr>
          <p:cNvPr name="TextBox 164" id="164"/>
          <p:cNvSpPr txBox="true"/>
          <p:nvPr/>
        </p:nvSpPr>
        <p:spPr>
          <a:xfrm rot="0">
            <a:off x="13041630" y="8444865"/>
            <a:ext cx="4034790" cy="390525"/>
          </a:xfrm>
          <a:prstGeom prst="rect">
            <a:avLst/>
          </a:prstGeom>
        </p:spPr>
        <p:txBody>
          <a:bodyPr anchor="t" rtlCol="false" tIns="0" lIns="0" bIns="0" rIns="0">
            <a:spAutoFit/>
          </a:bodyPr>
          <a:lstStyle/>
          <a:p>
            <a:pPr algn="l">
              <a:lnSpc>
                <a:spcPts val="2484"/>
              </a:lnSpc>
            </a:pPr>
            <a:r>
              <a:rPr lang="en-US" sz="2070">
                <a:solidFill>
                  <a:srgbClr val="BACDD9"/>
                </a:solidFill>
                <a:latin typeface="Open Sans"/>
                <a:ea typeface="Open Sans"/>
                <a:cs typeface="Open Sans"/>
                <a:sym typeface="Open Sans"/>
              </a:rPr>
              <a:t>Solo SELECT</a:t>
            </a:r>
          </a:p>
        </p:txBody>
      </p:sp>
      <p:grpSp>
        <p:nvGrpSpPr>
          <p:cNvPr name="Group 165" id="165"/>
          <p:cNvGrpSpPr/>
          <p:nvPr/>
        </p:nvGrpSpPr>
        <p:grpSpPr>
          <a:xfrm rot="0">
            <a:off x="914400" y="8532495"/>
            <a:ext cx="411480" cy="34290"/>
            <a:chOff x="0" y="0"/>
            <a:chExt cx="548640" cy="45720"/>
          </a:xfrm>
        </p:grpSpPr>
        <p:sp>
          <p:nvSpPr>
            <p:cNvPr name="Freeform 166" id="166"/>
            <p:cNvSpPr/>
            <p:nvPr/>
          </p:nvSpPr>
          <p:spPr>
            <a:xfrm flipH="false" flipV="false" rot="0">
              <a:off x="0" y="0"/>
              <a:ext cx="548640" cy="45720"/>
            </a:xfrm>
            <a:custGeom>
              <a:avLst/>
              <a:gdLst/>
              <a:ahLst/>
              <a:cxnLst/>
              <a:rect r="r" b="b" t="t" l="l"/>
              <a:pathLst>
                <a:path h="45720" w="548640">
                  <a:moveTo>
                    <a:pt x="0" y="0"/>
                  </a:moveTo>
                  <a:lnTo>
                    <a:pt x="548640" y="0"/>
                  </a:lnTo>
                  <a:lnTo>
                    <a:pt x="548640" y="45720"/>
                  </a:lnTo>
                  <a:lnTo>
                    <a:pt x="0" y="45720"/>
                  </a:lnTo>
                  <a:close/>
                </a:path>
              </a:pathLst>
            </a:custGeom>
            <a:solidFill>
              <a:srgbClr val="F5C96B"/>
            </a:solidFill>
          </p:spPr>
        </p:sp>
      </p:grpSp>
      <p:sp>
        <p:nvSpPr>
          <p:cNvPr name="TextBox 167" id="167"/>
          <p:cNvSpPr txBox="true"/>
          <p:nvPr/>
        </p:nvSpPr>
        <p:spPr>
          <a:xfrm rot="0">
            <a:off x="1485900" y="8355330"/>
            <a:ext cx="2571750" cy="400050"/>
          </a:xfrm>
          <a:prstGeom prst="rect">
            <a:avLst/>
          </a:prstGeom>
        </p:spPr>
        <p:txBody>
          <a:bodyPr anchor="t" rtlCol="false" tIns="0" lIns="0" bIns="0" rIns="0">
            <a:spAutoFit/>
          </a:bodyPr>
          <a:lstStyle/>
          <a:p>
            <a:pPr algn="l">
              <a:lnSpc>
                <a:spcPts val="2267"/>
              </a:lnSpc>
            </a:pPr>
            <a:r>
              <a:rPr lang="en-US" sz="1889">
                <a:solidFill>
                  <a:srgbClr val="BACDD9"/>
                </a:solidFill>
                <a:latin typeface="Open Sans"/>
                <a:ea typeface="Open Sans"/>
                <a:cs typeface="Open Sans"/>
                <a:sym typeface="Open Sans"/>
              </a:rPr>
              <a:t>Identidad</a:t>
            </a:r>
          </a:p>
        </p:txBody>
      </p:sp>
      <p:grpSp>
        <p:nvGrpSpPr>
          <p:cNvPr name="Group 168" id="168"/>
          <p:cNvGrpSpPr/>
          <p:nvPr/>
        </p:nvGrpSpPr>
        <p:grpSpPr>
          <a:xfrm rot="0">
            <a:off x="914400" y="9001125"/>
            <a:ext cx="411480" cy="34290"/>
            <a:chOff x="0" y="0"/>
            <a:chExt cx="548640" cy="45720"/>
          </a:xfrm>
        </p:grpSpPr>
        <p:sp>
          <p:nvSpPr>
            <p:cNvPr name="Freeform 169" id="169"/>
            <p:cNvSpPr/>
            <p:nvPr/>
          </p:nvSpPr>
          <p:spPr>
            <a:xfrm flipH="false" flipV="false" rot="0">
              <a:off x="0" y="0"/>
              <a:ext cx="548640" cy="45720"/>
            </a:xfrm>
            <a:custGeom>
              <a:avLst/>
              <a:gdLst/>
              <a:ahLst/>
              <a:cxnLst/>
              <a:rect r="r" b="b" t="t" l="l"/>
              <a:pathLst>
                <a:path h="45720" w="548640">
                  <a:moveTo>
                    <a:pt x="0" y="0"/>
                  </a:moveTo>
                  <a:lnTo>
                    <a:pt x="548640" y="0"/>
                  </a:lnTo>
                  <a:lnTo>
                    <a:pt x="548640" y="45720"/>
                  </a:lnTo>
                  <a:lnTo>
                    <a:pt x="0" y="45720"/>
                  </a:lnTo>
                  <a:close/>
                </a:path>
              </a:pathLst>
            </a:custGeom>
            <a:solidFill>
              <a:srgbClr val="56DBD6"/>
            </a:solidFill>
          </p:spPr>
        </p:sp>
      </p:grpSp>
      <p:sp>
        <p:nvSpPr>
          <p:cNvPr name="TextBox 170" id="170"/>
          <p:cNvSpPr txBox="true"/>
          <p:nvPr/>
        </p:nvSpPr>
        <p:spPr>
          <a:xfrm rot="0">
            <a:off x="1485900" y="8823960"/>
            <a:ext cx="2800350" cy="400050"/>
          </a:xfrm>
          <a:prstGeom prst="rect">
            <a:avLst/>
          </a:prstGeom>
        </p:spPr>
        <p:txBody>
          <a:bodyPr anchor="t" rtlCol="false" tIns="0" lIns="0" bIns="0" rIns="0">
            <a:spAutoFit/>
          </a:bodyPr>
          <a:lstStyle/>
          <a:p>
            <a:pPr algn="l">
              <a:lnSpc>
                <a:spcPts val="2267"/>
              </a:lnSpc>
            </a:pPr>
            <a:r>
              <a:rPr lang="en-US" sz="1889">
                <a:solidFill>
                  <a:srgbClr val="BACDD9"/>
                </a:solidFill>
                <a:latin typeface="Open Sans"/>
                <a:ea typeface="Open Sans"/>
                <a:cs typeface="Open Sans"/>
                <a:sym typeface="Open Sans"/>
              </a:rPr>
              <a:t>Operación</a:t>
            </a:r>
          </a:p>
        </p:txBody>
      </p:sp>
      <p:grpSp>
        <p:nvGrpSpPr>
          <p:cNvPr name="Group 171" id="171"/>
          <p:cNvGrpSpPr/>
          <p:nvPr/>
        </p:nvGrpSpPr>
        <p:grpSpPr>
          <a:xfrm rot="0">
            <a:off x="914400" y="9469755"/>
            <a:ext cx="91440" cy="34290"/>
            <a:chOff x="0" y="0"/>
            <a:chExt cx="121920" cy="45720"/>
          </a:xfrm>
        </p:grpSpPr>
        <p:sp>
          <p:nvSpPr>
            <p:cNvPr name="Freeform 172" id="172"/>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73" id="173"/>
          <p:cNvGrpSpPr/>
          <p:nvPr/>
        </p:nvGrpSpPr>
        <p:grpSpPr>
          <a:xfrm rot="0">
            <a:off x="1097280" y="9469755"/>
            <a:ext cx="91440" cy="34290"/>
            <a:chOff x="0" y="0"/>
            <a:chExt cx="121920" cy="45720"/>
          </a:xfrm>
        </p:grpSpPr>
        <p:sp>
          <p:nvSpPr>
            <p:cNvPr name="Freeform 174" id="174"/>
            <p:cNvSpPr/>
            <p:nvPr/>
          </p:nvSpPr>
          <p:spPr>
            <a:xfrm flipH="false" flipV="false" rot="0">
              <a:off x="0" y="0"/>
              <a:ext cx="121920" cy="45720"/>
            </a:xfrm>
            <a:custGeom>
              <a:avLst/>
              <a:gdLst/>
              <a:ahLst/>
              <a:cxnLst/>
              <a:rect r="r" b="b" t="t" l="l"/>
              <a:pathLst>
                <a:path h="45720" w="121920">
                  <a:moveTo>
                    <a:pt x="0" y="0"/>
                  </a:moveTo>
                  <a:lnTo>
                    <a:pt x="121920" y="0"/>
                  </a:lnTo>
                  <a:lnTo>
                    <a:pt x="121920" y="45720"/>
                  </a:lnTo>
                  <a:lnTo>
                    <a:pt x="0" y="45720"/>
                  </a:lnTo>
                  <a:close/>
                </a:path>
              </a:pathLst>
            </a:custGeom>
            <a:solidFill>
              <a:srgbClr val="BACDD9"/>
            </a:solidFill>
          </p:spPr>
        </p:sp>
      </p:grpSp>
      <p:grpSp>
        <p:nvGrpSpPr>
          <p:cNvPr name="Group 175" id="175"/>
          <p:cNvGrpSpPr/>
          <p:nvPr/>
        </p:nvGrpSpPr>
        <p:grpSpPr>
          <a:xfrm rot="0">
            <a:off x="1280160" y="9469755"/>
            <a:ext cx="45720" cy="34290"/>
            <a:chOff x="0" y="0"/>
            <a:chExt cx="60960" cy="45720"/>
          </a:xfrm>
        </p:grpSpPr>
        <p:sp>
          <p:nvSpPr>
            <p:cNvPr name="Freeform 176" id="176"/>
            <p:cNvSpPr/>
            <p:nvPr/>
          </p:nvSpPr>
          <p:spPr>
            <a:xfrm flipH="false" flipV="false" rot="0">
              <a:off x="0" y="0"/>
              <a:ext cx="60960" cy="45720"/>
            </a:xfrm>
            <a:custGeom>
              <a:avLst/>
              <a:gdLst/>
              <a:ahLst/>
              <a:cxnLst/>
              <a:rect r="r" b="b" t="t" l="l"/>
              <a:pathLst>
                <a:path h="45720" w="60960">
                  <a:moveTo>
                    <a:pt x="0" y="0"/>
                  </a:moveTo>
                  <a:lnTo>
                    <a:pt x="60960" y="0"/>
                  </a:lnTo>
                  <a:lnTo>
                    <a:pt x="60960" y="45720"/>
                  </a:lnTo>
                  <a:lnTo>
                    <a:pt x="0" y="45720"/>
                  </a:lnTo>
                  <a:close/>
                </a:path>
              </a:pathLst>
            </a:custGeom>
            <a:solidFill>
              <a:srgbClr val="BACDD9"/>
            </a:solidFill>
          </p:spPr>
        </p:sp>
      </p:grpSp>
      <p:sp>
        <p:nvSpPr>
          <p:cNvPr name="TextBox 177" id="177"/>
          <p:cNvSpPr txBox="true"/>
          <p:nvPr/>
        </p:nvSpPr>
        <p:spPr>
          <a:xfrm rot="0">
            <a:off x="1485900" y="9292590"/>
            <a:ext cx="3589020" cy="400050"/>
          </a:xfrm>
          <a:prstGeom prst="rect">
            <a:avLst/>
          </a:prstGeom>
        </p:spPr>
        <p:txBody>
          <a:bodyPr anchor="t" rtlCol="false" tIns="0" lIns="0" bIns="0" rIns="0">
            <a:spAutoFit/>
          </a:bodyPr>
          <a:lstStyle/>
          <a:p>
            <a:pPr algn="l">
              <a:lnSpc>
                <a:spcPts val="2267"/>
              </a:lnSpc>
            </a:pPr>
            <a:r>
              <a:rPr lang="en-US" sz="1889">
                <a:solidFill>
                  <a:srgbClr val="BACDD9"/>
                </a:solidFill>
                <a:latin typeface="Open Sans"/>
                <a:ea typeface="Open Sans"/>
                <a:cs typeface="Open Sans"/>
                <a:sym typeface="Open Sans"/>
              </a:rPr>
              <a:t>Analítica opcional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59" r="0" b="-9259"/>
            </a:stretch>
          </a:blipFill>
        </p:spPr>
      </p:sp>
      <p:grpSp>
        <p:nvGrpSpPr>
          <p:cNvPr name="Group 3" id="3"/>
          <p:cNvGrpSpPr/>
          <p:nvPr/>
        </p:nvGrpSpPr>
        <p:grpSpPr>
          <a:xfrm rot="0">
            <a:off x="17050283" y="9801669"/>
            <a:ext cx="642938" cy="357188"/>
            <a:chOff x="0" y="0"/>
            <a:chExt cx="857250" cy="476250"/>
          </a:xfrm>
        </p:grpSpPr>
        <p:sp>
          <p:nvSpPr>
            <p:cNvPr name="Freeform 4" id="4"/>
            <p:cNvSpPr/>
            <p:nvPr/>
          </p:nvSpPr>
          <p:spPr>
            <a:xfrm flipH="false" flipV="false" rot="0">
              <a:off x="0" y="0"/>
              <a:ext cx="857250" cy="476250"/>
            </a:xfrm>
            <a:custGeom>
              <a:avLst/>
              <a:gdLst/>
              <a:ahLst/>
              <a:cxnLst/>
              <a:rect r="r" b="b" t="t" l="l"/>
              <a:pathLst>
                <a:path h="476250" w="857250">
                  <a:moveTo>
                    <a:pt x="0" y="0"/>
                  </a:moveTo>
                  <a:lnTo>
                    <a:pt x="857250" y="0"/>
                  </a:lnTo>
                  <a:lnTo>
                    <a:pt x="857250" y="476250"/>
                  </a:lnTo>
                  <a:lnTo>
                    <a:pt x="0" y="476250"/>
                  </a:lnTo>
                  <a:close/>
                </a:path>
              </a:pathLst>
            </a:custGeom>
            <a:blipFill>
              <a:blip r:embed="rId4">
                <a:alphaModFix amt="0"/>
              </a:blip>
              <a:stretch>
                <a:fillRect l="-21279" t="0" r="-21279" b="0"/>
              </a:stretch>
            </a:blipFill>
          </p:spPr>
        </p:sp>
        <p:sp>
          <p:nvSpPr>
            <p:cNvPr name="TextBox 5" id="5"/>
            <p:cNvSpPr txBox="true"/>
            <p:nvPr/>
          </p:nvSpPr>
          <p:spPr>
            <a:xfrm>
              <a:off x="0" y="0"/>
              <a:ext cx="857250" cy="476250"/>
            </a:xfrm>
            <a:prstGeom prst="rect">
              <a:avLst/>
            </a:prstGeom>
          </p:spPr>
          <p:txBody>
            <a:bodyPr anchor="ctr" rtlCol="false" tIns="0" lIns="0" bIns="0" rIns="0"/>
            <a:lstStyle/>
            <a:p>
              <a:pPr algn="l">
                <a:lnSpc>
                  <a:spcPts val="2160"/>
                </a:lnSpc>
              </a:pPr>
              <a:r>
                <a:rPr lang="en-US" sz="1800">
                  <a:solidFill>
                    <a:srgbClr val="1766C8"/>
                  </a:solidFill>
                  <a:latin typeface="Aptos"/>
                  <a:ea typeface="Aptos"/>
                  <a:cs typeface="Aptos"/>
                  <a:sym typeface="Aptos"/>
                </a:rPr>
                <a:t>14</a:t>
              </a:r>
            </a:p>
          </p:txBody>
        </p:sp>
      </p:grpSp>
      <p:sp>
        <p:nvSpPr>
          <p:cNvPr name="Freeform 6" id="6"/>
          <p:cNvSpPr/>
          <p:nvPr/>
        </p:nvSpPr>
        <p:spPr>
          <a:xfrm flipH="false" flipV="false" rot="0">
            <a:off x="491402" y="474526"/>
            <a:ext cx="16767898" cy="9327143"/>
          </a:xfrm>
          <a:custGeom>
            <a:avLst/>
            <a:gdLst/>
            <a:ahLst/>
            <a:cxnLst/>
            <a:rect r="r" b="b" t="t" l="l"/>
            <a:pathLst>
              <a:path h="9327143" w="16767898">
                <a:moveTo>
                  <a:pt x="0" y="0"/>
                </a:moveTo>
                <a:lnTo>
                  <a:pt x="16767898" y="0"/>
                </a:lnTo>
                <a:lnTo>
                  <a:pt x="16767898" y="9327143"/>
                </a:lnTo>
                <a:lnTo>
                  <a:pt x="0" y="9327143"/>
                </a:lnTo>
                <a:lnTo>
                  <a:pt x="0" y="0"/>
                </a:lnTo>
                <a:close/>
              </a:path>
            </a:pathLst>
          </a:custGeom>
          <a:blipFill>
            <a:blip r:embed="rId5"/>
            <a:stretch>
              <a:fillRect l="0" t="0" r="0" b="0"/>
            </a:stretch>
          </a:blipFill>
        </p:spPr>
      </p:sp>
      <p:grpSp>
        <p:nvGrpSpPr>
          <p:cNvPr name="Group 7" id="7"/>
          <p:cNvGrpSpPr/>
          <p:nvPr/>
        </p:nvGrpSpPr>
        <p:grpSpPr>
          <a:xfrm rot="0">
            <a:off x="14360804" y="430782"/>
            <a:ext cx="3069946" cy="852936"/>
            <a:chOff x="0" y="0"/>
            <a:chExt cx="2799232" cy="777723"/>
          </a:xfrm>
        </p:grpSpPr>
        <p:sp>
          <p:nvSpPr>
            <p:cNvPr name="Freeform 8" id="8"/>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6"/>
              <a:stretch>
                <a:fillRect l="0" t="0" r="0" b="3"/>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86" t="0" r="-386" b="0"/>
            </a:stretch>
          </a:blipFill>
        </p:spPr>
      </p:sp>
      <p:grpSp>
        <p:nvGrpSpPr>
          <p:cNvPr name="Group 3" id="3"/>
          <p:cNvGrpSpPr/>
          <p:nvPr/>
        </p:nvGrpSpPr>
        <p:grpSpPr>
          <a:xfrm rot="0">
            <a:off x="914400" y="923925"/>
            <a:ext cx="15668625" cy="781050"/>
            <a:chOff x="0" y="0"/>
            <a:chExt cx="20891500" cy="1041400"/>
          </a:xfrm>
        </p:grpSpPr>
        <p:sp>
          <p:nvSpPr>
            <p:cNvPr name="Freeform 4" id="4"/>
            <p:cNvSpPr/>
            <p:nvPr/>
          </p:nvSpPr>
          <p:spPr>
            <a:xfrm flipH="false" flipV="false" rot="0">
              <a:off x="0" y="0"/>
              <a:ext cx="20891500" cy="1041400"/>
            </a:xfrm>
            <a:custGeom>
              <a:avLst/>
              <a:gdLst/>
              <a:ahLst/>
              <a:cxnLst/>
              <a:rect r="r" b="b" t="t" l="l"/>
              <a:pathLst>
                <a:path h="1041400" w="20891500">
                  <a:moveTo>
                    <a:pt x="0" y="0"/>
                  </a:moveTo>
                  <a:lnTo>
                    <a:pt x="20891500" y="0"/>
                  </a:lnTo>
                  <a:lnTo>
                    <a:pt x="20891500" y="1041400"/>
                  </a:lnTo>
                  <a:lnTo>
                    <a:pt x="0" y="1041400"/>
                  </a:lnTo>
                  <a:close/>
                </a:path>
              </a:pathLst>
            </a:custGeom>
            <a:blipFill>
              <a:blip r:embed="rId3">
                <a:alphaModFix amt="0"/>
              </a:blip>
              <a:stretch>
                <a:fillRect l="0" t="-340888" r="0" b="-340888"/>
              </a:stretch>
            </a:blipFill>
          </p:spPr>
        </p:sp>
        <p:sp>
          <p:nvSpPr>
            <p:cNvPr name="TextBox 5" id="5"/>
            <p:cNvSpPr txBox="true"/>
            <p:nvPr/>
          </p:nvSpPr>
          <p:spPr>
            <a:xfrm>
              <a:off x="0" y="0"/>
              <a:ext cx="20891500" cy="1041400"/>
            </a:xfrm>
            <a:prstGeom prst="rect">
              <a:avLst/>
            </a:prstGeom>
          </p:spPr>
          <p:txBody>
            <a:bodyPr anchor="ctr" rtlCol="false" tIns="0" lIns="0" bIns="0" rIns="0"/>
            <a:lstStyle/>
            <a:p>
              <a:pPr algn="l">
                <a:lnSpc>
                  <a:spcPts val="5130"/>
                </a:lnSpc>
              </a:pPr>
              <a:r>
                <a:rPr lang="en-US" sz="4275" b="true">
                  <a:solidFill>
                    <a:srgbClr val="153044"/>
                  </a:solidFill>
                  <a:latin typeface="Open Sans Bold"/>
                  <a:ea typeface="Open Sans Bold"/>
                  <a:cs typeface="Open Sans Bold"/>
                  <a:sym typeface="Open Sans Bold"/>
                </a:rPr>
                <a:t>Valor, innovación y experiencia de uso</a:t>
              </a:r>
            </a:p>
          </p:txBody>
        </p:sp>
      </p:grpSp>
      <p:grpSp>
        <p:nvGrpSpPr>
          <p:cNvPr name="Group 6" id="6"/>
          <p:cNvGrpSpPr/>
          <p:nvPr/>
        </p:nvGrpSpPr>
        <p:grpSpPr>
          <a:xfrm rot="0">
            <a:off x="914400" y="1866900"/>
            <a:ext cx="16002000" cy="495300"/>
            <a:chOff x="0" y="0"/>
            <a:chExt cx="21336000" cy="660400"/>
          </a:xfrm>
        </p:grpSpPr>
        <p:sp>
          <p:nvSpPr>
            <p:cNvPr name="Freeform 7" id="7"/>
            <p:cNvSpPr/>
            <p:nvPr/>
          </p:nvSpPr>
          <p:spPr>
            <a:xfrm flipH="false" flipV="false" rot="0">
              <a:off x="0" y="0"/>
              <a:ext cx="21336000" cy="660400"/>
            </a:xfrm>
            <a:custGeom>
              <a:avLst/>
              <a:gdLst/>
              <a:ahLst/>
              <a:cxnLst/>
              <a:rect r="r" b="b" t="t" l="l"/>
              <a:pathLst>
                <a:path h="660400" w="21336000">
                  <a:moveTo>
                    <a:pt x="0" y="0"/>
                  </a:moveTo>
                  <a:lnTo>
                    <a:pt x="21336000" y="0"/>
                  </a:lnTo>
                  <a:lnTo>
                    <a:pt x="21336000" y="660400"/>
                  </a:lnTo>
                  <a:lnTo>
                    <a:pt x="0" y="660400"/>
                  </a:lnTo>
                  <a:close/>
                </a:path>
              </a:pathLst>
            </a:custGeom>
            <a:blipFill>
              <a:blip r:embed="rId3">
                <a:alphaModFix amt="0"/>
              </a:blip>
              <a:stretch>
                <a:fillRect l="0" t="-579516" r="0" b="-579516"/>
              </a:stretch>
            </a:blipFill>
          </p:spPr>
        </p:sp>
        <p:sp>
          <p:nvSpPr>
            <p:cNvPr name="TextBox 8" id="8"/>
            <p:cNvSpPr txBox="true"/>
            <p:nvPr/>
          </p:nvSpPr>
          <p:spPr>
            <a:xfrm>
              <a:off x="0" y="0"/>
              <a:ext cx="21336000" cy="660400"/>
            </a:xfrm>
            <a:prstGeom prst="rect">
              <a:avLst/>
            </a:prstGeom>
          </p:spPr>
          <p:txBody>
            <a:bodyPr anchor="ctr" rtlCol="false" tIns="0" lIns="0" bIns="0" rIns="0"/>
            <a:lstStyle/>
            <a:p>
              <a:pPr algn="l">
                <a:lnSpc>
                  <a:spcPts val="2790"/>
                </a:lnSpc>
              </a:pPr>
              <a:r>
                <a:rPr lang="en-US" sz="2325">
                  <a:solidFill>
                    <a:srgbClr val="587286"/>
                  </a:solidFill>
                  <a:latin typeface="Open Sans"/>
                  <a:ea typeface="Open Sans"/>
                  <a:cs typeface="Open Sans"/>
                  <a:sym typeface="Open Sans"/>
                </a:rPr>
                <a:t>PMP Suite · Aplicación organizacional al mantenimiento de activos</a:t>
              </a:r>
            </a:p>
          </p:txBody>
        </p:sp>
      </p:grpSp>
      <p:grpSp>
        <p:nvGrpSpPr>
          <p:cNvPr name="Group 9" id="9"/>
          <p:cNvGrpSpPr/>
          <p:nvPr/>
        </p:nvGrpSpPr>
        <p:grpSpPr>
          <a:xfrm rot="0">
            <a:off x="914400" y="2533650"/>
            <a:ext cx="1200150" cy="47625"/>
            <a:chOff x="0" y="0"/>
            <a:chExt cx="1600200" cy="63500"/>
          </a:xfrm>
        </p:grpSpPr>
        <p:sp>
          <p:nvSpPr>
            <p:cNvPr name="Freeform 10" id="10"/>
            <p:cNvSpPr/>
            <p:nvPr/>
          </p:nvSpPr>
          <p:spPr>
            <a:xfrm flipH="false" flipV="false" rot="0">
              <a:off x="0" y="0"/>
              <a:ext cx="1600200" cy="63500"/>
            </a:xfrm>
            <a:custGeom>
              <a:avLst/>
              <a:gdLst/>
              <a:ahLst/>
              <a:cxnLst/>
              <a:rect r="r" b="b" t="t" l="l"/>
              <a:pathLst>
                <a:path h="63500" w="1600200">
                  <a:moveTo>
                    <a:pt x="0" y="0"/>
                  </a:moveTo>
                  <a:lnTo>
                    <a:pt x="1600200" y="0"/>
                  </a:lnTo>
                  <a:lnTo>
                    <a:pt x="1600200" y="63500"/>
                  </a:lnTo>
                  <a:lnTo>
                    <a:pt x="0" y="63500"/>
                  </a:lnTo>
                  <a:close/>
                </a:path>
              </a:pathLst>
            </a:custGeom>
            <a:solidFill>
              <a:srgbClr val="00B3B5"/>
            </a:solidFill>
          </p:spPr>
        </p:sp>
      </p:grpSp>
      <p:grpSp>
        <p:nvGrpSpPr>
          <p:cNvPr name="Group 11" id="11"/>
          <p:cNvGrpSpPr/>
          <p:nvPr/>
        </p:nvGrpSpPr>
        <p:grpSpPr>
          <a:xfrm rot="0">
            <a:off x="914400" y="3038475"/>
            <a:ext cx="5181600" cy="6229350"/>
            <a:chOff x="0" y="0"/>
            <a:chExt cx="6908800" cy="8305800"/>
          </a:xfrm>
        </p:grpSpPr>
        <p:sp>
          <p:nvSpPr>
            <p:cNvPr name="Freeform 12" id="12"/>
            <p:cNvSpPr/>
            <p:nvPr/>
          </p:nvSpPr>
          <p:spPr>
            <a:xfrm flipH="false" flipV="false" rot="0">
              <a:off x="0" y="0"/>
              <a:ext cx="6908800" cy="8305800"/>
            </a:xfrm>
            <a:custGeom>
              <a:avLst/>
              <a:gdLst/>
              <a:ahLst/>
              <a:cxnLst/>
              <a:rect r="r" b="b" t="t" l="l"/>
              <a:pathLst>
                <a:path h="8305800" w="6908800">
                  <a:moveTo>
                    <a:pt x="0" y="0"/>
                  </a:moveTo>
                  <a:lnTo>
                    <a:pt x="6908800" y="0"/>
                  </a:lnTo>
                  <a:lnTo>
                    <a:pt x="6908800" y="8305800"/>
                  </a:lnTo>
                  <a:lnTo>
                    <a:pt x="0" y="8305800"/>
                  </a:lnTo>
                  <a:close/>
                </a:path>
              </a:pathLst>
            </a:custGeom>
            <a:solidFill>
              <a:srgbClr val="FFFFFF"/>
            </a:solidFill>
          </p:spPr>
        </p:sp>
      </p:grpSp>
      <p:grpSp>
        <p:nvGrpSpPr>
          <p:cNvPr name="Group 13" id="13"/>
          <p:cNvGrpSpPr/>
          <p:nvPr/>
        </p:nvGrpSpPr>
        <p:grpSpPr>
          <a:xfrm rot="0">
            <a:off x="914400" y="3038475"/>
            <a:ext cx="5181600" cy="790575"/>
            <a:chOff x="0" y="0"/>
            <a:chExt cx="6908800" cy="1054100"/>
          </a:xfrm>
        </p:grpSpPr>
        <p:sp>
          <p:nvSpPr>
            <p:cNvPr name="Freeform 14" id="14"/>
            <p:cNvSpPr/>
            <p:nvPr/>
          </p:nvSpPr>
          <p:spPr>
            <a:xfrm flipH="false" flipV="false" rot="0">
              <a:off x="0" y="0"/>
              <a:ext cx="6908800" cy="1054100"/>
            </a:xfrm>
            <a:custGeom>
              <a:avLst/>
              <a:gdLst/>
              <a:ahLst/>
              <a:cxnLst/>
              <a:rect r="r" b="b" t="t" l="l"/>
              <a:pathLst>
                <a:path h="1054100" w="6908800">
                  <a:moveTo>
                    <a:pt x="0" y="0"/>
                  </a:moveTo>
                  <a:lnTo>
                    <a:pt x="6908800" y="0"/>
                  </a:lnTo>
                  <a:lnTo>
                    <a:pt x="6908800" y="1054100"/>
                  </a:lnTo>
                  <a:lnTo>
                    <a:pt x="0" y="1054100"/>
                  </a:lnTo>
                  <a:close/>
                </a:path>
              </a:pathLst>
            </a:custGeom>
            <a:solidFill>
              <a:srgbClr val="0D1B2A"/>
            </a:solidFill>
          </p:spPr>
        </p:sp>
      </p:grpSp>
      <p:grpSp>
        <p:nvGrpSpPr>
          <p:cNvPr name="Group 15" id="15"/>
          <p:cNvGrpSpPr/>
          <p:nvPr/>
        </p:nvGrpSpPr>
        <p:grpSpPr>
          <a:xfrm rot="-10800000">
            <a:off x="1181100" y="3752850"/>
            <a:ext cx="228600" cy="171450"/>
            <a:chOff x="0" y="0"/>
            <a:chExt cx="304800" cy="228600"/>
          </a:xfrm>
        </p:grpSpPr>
        <p:sp>
          <p:nvSpPr>
            <p:cNvPr name="Freeform 16" id="16"/>
            <p:cNvSpPr/>
            <p:nvPr/>
          </p:nvSpPr>
          <p:spPr>
            <a:xfrm flipH="false" flipV="false" rot="0">
              <a:off x="0" y="0"/>
              <a:ext cx="304800" cy="228600"/>
            </a:xfrm>
            <a:custGeom>
              <a:avLst/>
              <a:gdLst/>
              <a:ahLst/>
              <a:cxnLst/>
              <a:rect r="r" b="b" t="t" l="l"/>
              <a:pathLst>
                <a:path h="228600" w="304800">
                  <a:moveTo>
                    <a:pt x="0" y="228600"/>
                  </a:moveTo>
                  <a:lnTo>
                    <a:pt x="152400" y="0"/>
                  </a:lnTo>
                  <a:lnTo>
                    <a:pt x="304800" y="228600"/>
                  </a:lnTo>
                  <a:close/>
                </a:path>
              </a:pathLst>
            </a:custGeom>
            <a:solidFill>
              <a:srgbClr val="0D1B2A"/>
            </a:solidFill>
          </p:spPr>
        </p:sp>
      </p:grpSp>
      <p:grpSp>
        <p:nvGrpSpPr>
          <p:cNvPr name="Group 17" id="17"/>
          <p:cNvGrpSpPr/>
          <p:nvPr/>
        </p:nvGrpSpPr>
        <p:grpSpPr>
          <a:xfrm rot="0">
            <a:off x="1181100" y="3152775"/>
            <a:ext cx="4648200" cy="571500"/>
            <a:chOff x="0" y="0"/>
            <a:chExt cx="6197600" cy="762000"/>
          </a:xfrm>
        </p:grpSpPr>
        <p:sp>
          <p:nvSpPr>
            <p:cNvPr name="Freeform 18" id="18"/>
            <p:cNvSpPr/>
            <p:nvPr/>
          </p:nvSpPr>
          <p:spPr>
            <a:xfrm flipH="false" flipV="false" rot="0">
              <a:off x="0" y="0"/>
              <a:ext cx="6197600" cy="762000"/>
            </a:xfrm>
            <a:custGeom>
              <a:avLst/>
              <a:gdLst/>
              <a:ahLst/>
              <a:cxnLst/>
              <a:rect r="r" b="b" t="t" l="l"/>
              <a:pathLst>
                <a:path h="762000" w="6197600">
                  <a:moveTo>
                    <a:pt x="0" y="0"/>
                  </a:moveTo>
                  <a:lnTo>
                    <a:pt x="6197600" y="0"/>
                  </a:lnTo>
                  <a:lnTo>
                    <a:pt x="6197600" y="762000"/>
                  </a:lnTo>
                  <a:lnTo>
                    <a:pt x="0" y="762000"/>
                  </a:lnTo>
                  <a:close/>
                </a:path>
              </a:pathLst>
            </a:custGeom>
            <a:blipFill>
              <a:blip r:embed="rId3">
                <a:alphaModFix amt="0"/>
              </a:blip>
              <a:stretch>
                <a:fillRect l="0" t="-108478" r="0" b="-108478"/>
              </a:stretch>
            </a:blipFill>
          </p:spPr>
        </p:sp>
        <p:sp>
          <p:nvSpPr>
            <p:cNvPr name="TextBox 19" id="19"/>
            <p:cNvSpPr txBox="true"/>
            <p:nvPr/>
          </p:nvSpPr>
          <p:spPr>
            <a:xfrm>
              <a:off x="0" y="-9525"/>
              <a:ext cx="6197600" cy="771525"/>
            </a:xfrm>
            <a:prstGeom prst="rect">
              <a:avLst/>
            </a:prstGeom>
          </p:spPr>
          <p:txBody>
            <a:bodyPr anchor="ctr" rtlCol="false" tIns="0" lIns="0" bIns="0" rIns="0"/>
            <a:lstStyle/>
            <a:p>
              <a:pPr algn="l">
                <a:lnSpc>
                  <a:spcPts val="3240"/>
                </a:lnSpc>
              </a:pPr>
              <a:r>
                <a:rPr lang="en-US" sz="2700" b="true">
                  <a:solidFill>
                    <a:srgbClr val="FFFFFF"/>
                  </a:solidFill>
                  <a:latin typeface="Open Sans Bold"/>
                  <a:ea typeface="Open Sans Bold"/>
                  <a:cs typeface="Open Sans Bold"/>
                  <a:sym typeface="Open Sans Bold"/>
                </a:rPr>
                <a:t>Modelo y sostenibilidad</a:t>
              </a:r>
            </a:p>
          </p:txBody>
        </p:sp>
      </p:grpSp>
      <p:grpSp>
        <p:nvGrpSpPr>
          <p:cNvPr name="Group 20" id="20"/>
          <p:cNvGrpSpPr/>
          <p:nvPr/>
        </p:nvGrpSpPr>
        <p:grpSpPr>
          <a:xfrm rot="0">
            <a:off x="6553200" y="3038475"/>
            <a:ext cx="5181600" cy="6229350"/>
            <a:chOff x="0" y="0"/>
            <a:chExt cx="6908800" cy="8305800"/>
          </a:xfrm>
        </p:grpSpPr>
        <p:sp>
          <p:nvSpPr>
            <p:cNvPr name="Freeform 21" id="21"/>
            <p:cNvSpPr/>
            <p:nvPr/>
          </p:nvSpPr>
          <p:spPr>
            <a:xfrm flipH="false" flipV="false" rot="0">
              <a:off x="0" y="0"/>
              <a:ext cx="6908800" cy="8305800"/>
            </a:xfrm>
            <a:custGeom>
              <a:avLst/>
              <a:gdLst/>
              <a:ahLst/>
              <a:cxnLst/>
              <a:rect r="r" b="b" t="t" l="l"/>
              <a:pathLst>
                <a:path h="8305800" w="6908800">
                  <a:moveTo>
                    <a:pt x="0" y="0"/>
                  </a:moveTo>
                  <a:lnTo>
                    <a:pt x="6908800" y="0"/>
                  </a:lnTo>
                  <a:lnTo>
                    <a:pt x="6908800" y="8305800"/>
                  </a:lnTo>
                  <a:lnTo>
                    <a:pt x="0" y="8305800"/>
                  </a:lnTo>
                  <a:close/>
                </a:path>
              </a:pathLst>
            </a:custGeom>
            <a:solidFill>
              <a:srgbClr val="FFFFFF"/>
            </a:solidFill>
          </p:spPr>
        </p:sp>
      </p:grpSp>
      <p:grpSp>
        <p:nvGrpSpPr>
          <p:cNvPr name="Group 22" id="22"/>
          <p:cNvGrpSpPr/>
          <p:nvPr/>
        </p:nvGrpSpPr>
        <p:grpSpPr>
          <a:xfrm rot="0">
            <a:off x="6553200" y="3038475"/>
            <a:ext cx="5181600" cy="790575"/>
            <a:chOff x="0" y="0"/>
            <a:chExt cx="6908800" cy="1054100"/>
          </a:xfrm>
        </p:grpSpPr>
        <p:sp>
          <p:nvSpPr>
            <p:cNvPr name="Freeform 23" id="23"/>
            <p:cNvSpPr/>
            <p:nvPr/>
          </p:nvSpPr>
          <p:spPr>
            <a:xfrm flipH="false" flipV="false" rot="0">
              <a:off x="0" y="0"/>
              <a:ext cx="6908800" cy="1054100"/>
            </a:xfrm>
            <a:custGeom>
              <a:avLst/>
              <a:gdLst/>
              <a:ahLst/>
              <a:cxnLst/>
              <a:rect r="r" b="b" t="t" l="l"/>
              <a:pathLst>
                <a:path h="1054100" w="6908800">
                  <a:moveTo>
                    <a:pt x="0" y="0"/>
                  </a:moveTo>
                  <a:lnTo>
                    <a:pt x="6908800" y="0"/>
                  </a:lnTo>
                  <a:lnTo>
                    <a:pt x="6908800" y="1054100"/>
                  </a:lnTo>
                  <a:lnTo>
                    <a:pt x="0" y="1054100"/>
                  </a:lnTo>
                  <a:close/>
                </a:path>
              </a:pathLst>
            </a:custGeom>
            <a:solidFill>
              <a:srgbClr val="1766C8"/>
            </a:solidFill>
          </p:spPr>
        </p:sp>
      </p:grpSp>
      <p:grpSp>
        <p:nvGrpSpPr>
          <p:cNvPr name="Group 24" id="24"/>
          <p:cNvGrpSpPr/>
          <p:nvPr/>
        </p:nvGrpSpPr>
        <p:grpSpPr>
          <a:xfrm rot="-10800000">
            <a:off x="6819900" y="3752850"/>
            <a:ext cx="228600" cy="171450"/>
            <a:chOff x="0" y="0"/>
            <a:chExt cx="304800" cy="228600"/>
          </a:xfrm>
        </p:grpSpPr>
        <p:sp>
          <p:nvSpPr>
            <p:cNvPr name="Freeform 25" id="25"/>
            <p:cNvSpPr/>
            <p:nvPr/>
          </p:nvSpPr>
          <p:spPr>
            <a:xfrm flipH="false" flipV="false" rot="0">
              <a:off x="0" y="0"/>
              <a:ext cx="304800" cy="228600"/>
            </a:xfrm>
            <a:custGeom>
              <a:avLst/>
              <a:gdLst/>
              <a:ahLst/>
              <a:cxnLst/>
              <a:rect r="r" b="b" t="t" l="l"/>
              <a:pathLst>
                <a:path h="228600" w="304800">
                  <a:moveTo>
                    <a:pt x="0" y="228600"/>
                  </a:moveTo>
                  <a:lnTo>
                    <a:pt x="152400" y="0"/>
                  </a:lnTo>
                  <a:lnTo>
                    <a:pt x="304800" y="228600"/>
                  </a:lnTo>
                  <a:close/>
                </a:path>
              </a:pathLst>
            </a:custGeom>
            <a:solidFill>
              <a:srgbClr val="1766C8"/>
            </a:solidFill>
          </p:spPr>
        </p:sp>
      </p:grpSp>
      <p:grpSp>
        <p:nvGrpSpPr>
          <p:cNvPr name="Group 26" id="26"/>
          <p:cNvGrpSpPr/>
          <p:nvPr/>
        </p:nvGrpSpPr>
        <p:grpSpPr>
          <a:xfrm rot="0">
            <a:off x="6819900" y="3152775"/>
            <a:ext cx="4648200" cy="571500"/>
            <a:chOff x="0" y="0"/>
            <a:chExt cx="6197600" cy="762000"/>
          </a:xfrm>
        </p:grpSpPr>
        <p:sp>
          <p:nvSpPr>
            <p:cNvPr name="Freeform 27" id="27"/>
            <p:cNvSpPr/>
            <p:nvPr/>
          </p:nvSpPr>
          <p:spPr>
            <a:xfrm flipH="false" flipV="false" rot="0">
              <a:off x="0" y="0"/>
              <a:ext cx="6197600" cy="762000"/>
            </a:xfrm>
            <a:custGeom>
              <a:avLst/>
              <a:gdLst/>
              <a:ahLst/>
              <a:cxnLst/>
              <a:rect r="r" b="b" t="t" l="l"/>
              <a:pathLst>
                <a:path h="762000" w="6197600">
                  <a:moveTo>
                    <a:pt x="0" y="0"/>
                  </a:moveTo>
                  <a:lnTo>
                    <a:pt x="6197600" y="0"/>
                  </a:lnTo>
                  <a:lnTo>
                    <a:pt x="6197600" y="762000"/>
                  </a:lnTo>
                  <a:lnTo>
                    <a:pt x="0" y="762000"/>
                  </a:lnTo>
                  <a:close/>
                </a:path>
              </a:pathLst>
            </a:custGeom>
            <a:blipFill>
              <a:blip r:embed="rId3">
                <a:alphaModFix amt="0"/>
              </a:blip>
              <a:stretch>
                <a:fillRect l="0" t="-108478" r="0" b="-108478"/>
              </a:stretch>
            </a:blipFill>
          </p:spPr>
        </p:sp>
        <p:sp>
          <p:nvSpPr>
            <p:cNvPr name="TextBox 28" id="28"/>
            <p:cNvSpPr txBox="true"/>
            <p:nvPr/>
          </p:nvSpPr>
          <p:spPr>
            <a:xfrm>
              <a:off x="0" y="-9525"/>
              <a:ext cx="6197600" cy="771525"/>
            </a:xfrm>
            <a:prstGeom prst="rect">
              <a:avLst/>
            </a:prstGeom>
          </p:spPr>
          <p:txBody>
            <a:bodyPr anchor="ctr" rtlCol="false" tIns="0" lIns="0" bIns="0" rIns="0"/>
            <a:lstStyle/>
            <a:p>
              <a:pPr algn="l">
                <a:lnSpc>
                  <a:spcPts val="3240"/>
                </a:lnSpc>
              </a:pPr>
              <a:r>
                <a:rPr lang="en-US" sz="2700" b="true">
                  <a:solidFill>
                    <a:srgbClr val="FFFFFF"/>
                  </a:solidFill>
                  <a:latin typeface="Open Sans Bold"/>
                  <a:ea typeface="Open Sans Bold"/>
                  <a:cs typeface="Open Sans Bold"/>
                  <a:sym typeface="Open Sans Bold"/>
                </a:rPr>
                <a:t>Innovación aplicada</a:t>
              </a:r>
            </a:p>
          </p:txBody>
        </p:sp>
      </p:grpSp>
      <p:grpSp>
        <p:nvGrpSpPr>
          <p:cNvPr name="Group 29" id="29"/>
          <p:cNvGrpSpPr/>
          <p:nvPr/>
        </p:nvGrpSpPr>
        <p:grpSpPr>
          <a:xfrm rot="0">
            <a:off x="12192000" y="3038475"/>
            <a:ext cx="5181600" cy="6229350"/>
            <a:chOff x="0" y="0"/>
            <a:chExt cx="6908800" cy="8305800"/>
          </a:xfrm>
        </p:grpSpPr>
        <p:sp>
          <p:nvSpPr>
            <p:cNvPr name="Freeform 30" id="30"/>
            <p:cNvSpPr/>
            <p:nvPr/>
          </p:nvSpPr>
          <p:spPr>
            <a:xfrm flipH="false" flipV="false" rot="0">
              <a:off x="0" y="0"/>
              <a:ext cx="6908800" cy="8305800"/>
            </a:xfrm>
            <a:custGeom>
              <a:avLst/>
              <a:gdLst/>
              <a:ahLst/>
              <a:cxnLst/>
              <a:rect r="r" b="b" t="t" l="l"/>
              <a:pathLst>
                <a:path h="8305800" w="6908800">
                  <a:moveTo>
                    <a:pt x="0" y="0"/>
                  </a:moveTo>
                  <a:lnTo>
                    <a:pt x="6908800" y="0"/>
                  </a:lnTo>
                  <a:lnTo>
                    <a:pt x="6908800" y="8305800"/>
                  </a:lnTo>
                  <a:lnTo>
                    <a:pt x="0" y="8305800"/>
                  </a:lnTo>
                  <a:close/>
                </a:path>
              </a:pathLst>
            </a:custGeom>
            <a:solidFill>
              <a:srgbClr val="FFFFFF"/>
            </a:solidFill>
          </p:spPr>
        </p:sp>
      </p:grpSp>
      <p:grpSp>
        <p:nvGrpSpPr>
          <p:cNvPr name="Group 31" id="31"/>
          <p:cNvGrpSpPr/>
          <p:nvPr/>
        </p:nvGrpSpPr>
        <p:grpSpPr>
          <a:xfrm rot="0">
            <a:off x="12192000" y="3038475"/>
            <a:ext cx="5181600" cy="790575"/>
            <a:chOff x="0" y="0"/>
            <a:chExt cx="6908800" cy="1054100"/>
          </a:xfrm>
        </p:grpSpPr>
        <p:sp>
          <p:nvSpPr>
            <p:cNvPr name="Freeform 32" id="32"/>
            <p:cNvSpPr/>
            <p:nvPr/>
          </p:nvSpPr>
          <p:spPr>
            <a:xfrm flipH="false" flipV="false" rot="0">
              <a:off x="0" y="0"/>
              <a:ext cx="6908800" cy="1054100"/>
            </a:xfrm>
            <a:custGeom>
              <a:avLst/>
              <a:gdLst/>
              <a:ahLst/>
              <a:cxnLst/>
              <a:rect r="r" b="b" t="t" l="l"/>
              <a:pathLst>
                <a:path h="1054100" w="6908800">
                  <a:moveTo>
                    <a:pt x="0" y="0"/>
                  </a:moveTo>
                  <a:lnTo>
                    <a:pt x="6908800" y="0"/>
                  </a:lnTo>
                  <a:lnTo>
                    <a:pt x="6908800" y="1054100"/>
                  </a:lnTo>
                  <a:lnTo>
                    <a:pt x="0" y="1054100"/>
                  </a:lnTo>
                  <a:close/>
                </a:path>
              </a:pathLst>
            </a:custGeom>
            <a:solidFill>
              <a:srgbClr val="007F89"/>
            </a:solidFill>
          </p:spPr>
        </p:sp>
      </p:grpSp>
      <p:grpSp>
        <p:nvGrpSpPr>
          <p:cNvPr name="Group 33" id="33"/>
          <p:cNvGrpSpPr/>
          <p:nvPr/>
        </p:nvGrpSpPr>
        <p:grpSpPr>
          <a:xfrm rot="-10800000">
            <a:off x="12458700" y="3752850"/>
            <a:ext cx="228600" cy="171450"/>
            <a:chOff x="0" y="0"/>
            <a:chExt cx="304800" cy="228600"/>
          </a:xfrm>
        </p:grpSpPr>
        <p:sp>
          <p:nvSpPr>
            <p:cNvPr name="Freeform 34" id="34"/>
            <p:cNvSpPr/>
            <p:nvPr/>
          </p:nvSpPr>
          <p:spPr>
            <a:xfrm flipH="false" flipV="false" rot="0">
              <a:off x="0" y="0"/>
              <a:ext cx="304800" cy="228600"/>
            </a:xfrm>
            <a:custGeom>
              <a:avLst/>
              <a:gdLst/>
              <a:ahLst/>
              <a:cxnLst/>
              <a:rect r="r" b="b" t="t" l="l"/>
              <a:pathLst>
                <a:path h="228600" w="304800">
                  <a:moveTo>
                    <a:pt x="0" y="228600"/>
                  </a:moveTo>
                  <a:lnTo>
                    <a:pt x="152400" y="0"/>
                  </a:lnTo>
                  <a:lnTo>
                    <a:pt x="304800" y="228600"/>
                  </a:lnTo>
                  <a:close/>
                </a:path>
              </a:pathLst>
            </a:custGeom>
            <a:solidFill>
              <a:srgbClr val="007F89"/>
            </a:solidFill>
          </p:spPr>
        </p:sp>
      </p:grpSp>
      <p:grpSp>
        <p:nvGrpSpPr>
          <p:cNvPr name="Group 35" id="35"/>
          <p:cNvGrpSpPr/>
          <p:nvPr/>
        </p:nvGrpSpPr>
        <p:grpSpPr>
          <a:xfrm rot="0">
            <a:off x="12458700" y="3152775"/>
            <a:ext cx="4648200" cy="571500"/>
            <a:chOff x="0" y="0"/>
            <a:chExt cx="6197600" cy="762000"/>
          </a:xfrm>
        </p:grpSpPr>
        <p:sp>
          <p:nvSpPr>
            <p:cNvPr name="Freeform 36" id="36"/>
            <p:cNvSpPr/>
            <p:nvPr/>
          </p:nvSpPr>
          <p:spPr>
            <a:xfrm flipH="false" flipV="false" rot="0">
              <a:off x="0" y="0"/>
              <a:ext cx="6197600" cy="762000"/>
            </a:xfrm>
            <a:custGeom>
              <a:avLst/>
              <a:gdLst/>
              <a:ahLst/>
              <a:cxnLst/>
              <a:rect r="r" b="b" t="t" l="l"/>
              <a:pathLst>
                <a:path h="762000" w="6197600">
                  <a:moveTo>
                    <a:pt x="0" y="0"/>
                  </a:moveTo>
                  <a:lnTo>
                    <a:pt x="6197600" y="0"/>
                  </a:lnTo>
                  <a:lnTo>
                    <a:pt x="6197600" y="762000"/>
                  </a:lnTo>
                  <a:lnTo>
                    <a:pt x="0" y="762000"/>
                  </a:lnTo>
                  <a:close/>
                </a:path>
              </a:pathLst>
            </a:custGeom>
            <a:blipFill>
              <a:blip r:embed="rId3">
                <a:alphaModFix amt="0"/>
              </a:blip>
              <a:stretch>
                <a:fillRect l="0" t="-108478" r="0" b="-108478"/>
              </a:stretch>
            </a:blipFill>
          </p:spPr>
        </p:sp>
        <p:sp>
          <p:nvSpPr>
            <p:cNvPr name="TextBox 37" id="37"/>
            <p:cNvSpPr txBox="true"/>
            <p:nvPr/>
          </p:nvSpPr>
          <p:spPr>
            <a:xfrm>
              <a:off x="0" y="-9525"/>
              <a:ext cx="6197600" cy="771525"/>
            </a:xfrm>
            <a:prstGeom prst="rect">
              <a:avLst/>
            </a:prstGeom>
          </p:spPr>
          <p:txBody>
            <a:bodyPr anchor="ctr" rtlCol="false" tIns="0" lIns="0" bIns="0" rIns="0"/>
            <a:lstStyle/>
            <a:p>
              <a:pPr algn="l">
                <a:lnSpc>
                  <a:spcPts val="3240"/>
                </a:lnSpc>
              </a:pPr>
              <a:r>
                <a:rPr lang="en-US" sz="2700" b="true">
                  <a:solidFill>
                    <a:srgbClr val="FFFFFF"/>
                  </a:solidFill>
                  <a:latin typeface="Open Sans Bold"/>
                  <a:ea typeface="Open Sans Bold"/>
                  <a:cs typeface="Open Sans Bold"/>
                  <a:sym typeface="Open Sans Bold"/>
                </a:rPr>
                <a:t>Experiencia por rol</a:t>
              </a:r>
            </a:p>
          </p:txBody>
        </p:sp>
      </p:grpSp>
      <p:grpSp>
        <p:nvGrpSpPr>
          <p:cNvPr name="Group 38" id="38"/>
          <p:cNvGrpSpPr/>
          <p:nvPr/>
        </p:nvGrpSpPr>
        <p:grpSpPr>
          <a:xfrm rot="0">
            <a:off x="1181100" y="4095750"/>
            <a:ext cx="4648200" cy="371475"/>
            <a:chOff x="0" y="0"/>
            <a:chExt cx="6197600" cy="495300"/>
          </a:xfrm>
        </p:grpSpPr>
        <p:sp>
          <p:nvSpPr>
            <p:cNvPr name="Freeform 39" id="39"/>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40" id="40"/>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0D1B2A"/>
                  </a:solidFill>
                  <a:latin typeface="Open Sans Bold"/>
                  <a:ea typeface="Open Sans Bold"/>
                  <a:cs typeface="Open Sans Bold"/>
                  <a:sym typeface="Open Sans Bold"/>
                </a:rPr>
                <a:t>Usuarios:</a:t>
              </a:r>
            </a:p>
          </p:txBody>
        </p:sp>
      </p:grpSp>
      <p:grpSp>
        <p:nvGrpSpPr>
          <p:cNvPr name="Group 41" id="41"/>
          <p:cNvGrpSpPr/>
          <p:nvPr/>
        </p:nvGrpSpPr>
        <p:grpSpPr>
          <a:xfrm rot="0">
            <a:off x="1181100" y="4495800"/>
            <a:ext cx="4648200" cy="742950"/>
            <a:chOff x="0" y="0"/>
            <a:chExt cx="6197600" cy="990600"/>
          </a:xfrm>
        </p:grpSpPr>
        <p:sp>
          <p:nvSpPr>
            <p:cNvPr name="Freeform 42" id="42"/>
            <p:cNvSpPr/>
            <p:nvPr/>
          </p:nvSpPr>
          <p:spPr>
            <a:xfrm flipH="false" flipV="false" rot="0">
              <a:off x="0" y="0"/>
              <a:ext cx="6197600" cy="990600"/>
            </a:xfrm>
            <a:custGeom>
              <a:avLst/>
              <a:gdLst/>
              <a:ahLst/>
              <a:cxnLst/>
              <a:rect r="r" b="b" t="t" l="l"/>
              <a:pathLst>
                <a:path h="990600" w="6197600">
                  <a:moveTo>
                    <a:pt x="0" y="0"/>
                  </a:moveTo>
                  <a:lnTo>
                    <a:pt x="6197600" y="0"/>
                  </a:lnTo>
                  <a:lnTo>
                    <a:pt x="6197600" y="990600"/>
                  </a:lnTo>
                  <a:lnTo>
                    <a:pt x="0" y="990600"/>
                  </a:lnTo>
                  <a:close/>
                </a:path>
              </a:pathLst>
            </a:custGeom>
            <a:blipFill>
              <a:blip r:embed="rId3">
                <a:alphaModFix amt="0"/>
              </a:blip>
              <a:stretch>
                <a:fillRect l="0" t="-71906" r="0" b="-71906"/>
              </a:stretch>
            </a:blipFill>
          </p:spPr>
        </p:sp>
        <p:sp>
          <p:nvSpPr>
            <p:cNvPr name="TextBox 43" id="43"/>
            <p:cNvSpPr txBox="true"/>
            <p:nvPr/>
          </p:nvSpPr>
          <p:spPr>
            <a:xfrm>
              <a:off x="0" y="0"/>
              <a:ext cx="6197600" cy="9906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áreas operacionales</a:t>
              </a:r>
            </a:p>
            <a:p>
              <a:pPr algn="l">
                <a:lnSpc>
                  <a:spcPts val="2835"/>
                </a:lnSpc>
              </a:pPr>
              <a:r>
                <a:rPr lang="en-US" sz="2363">
                  <a:solidFill>
                    <a:srgbClr val="153044"/>
                  </a:solidFill>
                  <a:latin typeface="Open Sans"/>
                  <a:ea typeface="Open Sans"/>
                  <a:cs typeface="Open Sans"/>
                  <a:sym typeface="Open Sans"/>
                </a:rPr>
                <a:t>y de supervisión.</a:t>
              </a:r>
            </a:p>
          </p:txBody>
        </p:sp>
      </p:grpSp>
      <p:grpSp>
        <p:nvGrpSpPr>
          <p:cNvPr name="Group 44" id="44"/>
          <p:cNvGrpSpPr/>
          <p:nvPr/>
        </p:nvGrpSpPr>
        <p:grpSpPr>
          <a:xfrm rot="0">
            <a:off x="1181100" y="5353050"/>
            <a:ext cx="4648200" cy="371475"/>
            <a:chOff x="0" y="0"/>
            <a:chExt cx="6197600" cy="495300"/>
          </a:xfrm>
        </p:grpSpPr>
        <p:sp>
          <p:nvSpPr>
            <p:cNvPr name="Freeform 45" id="45"/>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46" id="46"/>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0D1B2A"/>
                  </a:solidFill>
                  <a:latin typeface="Open Sans Bold"/>
                  <a:ea typeface="Open Sans Bold"/>
                  <a:cs typeface="Open Sans Bold"/>
                  <a:sym typeface="Open Sans Bold"/>
                </a:rPr>
                <a:t>Valor:</a:t>
              </a:r>
            </a:p>
          </p:txBody>
        </p:sp>
      </p:grpSp>
      <p:grpSp>
        <p:nvGrpSpPr>
          <p:cNvPr name="Group 47" id="47"/>
          <p:cNvGrpSpPr/>
          <p:nvPr/>
        </p:nvGrpSpPr>
        <p:grpSpPr>
          <a:xfrm rot="0">
            <a:off x="1181100" y="5753100"/>
            <a:ext cx="4648200" cy="742950"/>
            <a:chOff x="0" y="0"/>
            <a:chExt cx="6197600" cy="990600"/>
          </a:xfrm>
        </p:grpSpPr>
        <p:sp>
          <p:nvSpPr>
            <p:cNvPr name="Freeform 48" id="48"/>
            <p:cNvSpPr/>
            <p:nvPr/>
          </p:nvSpPr>
          <p:spPr>
            <a:xfrm flipH="false" flipV="false" rot="0">
              <a:off x="0" y="0"/>
              <a:ext cx="6197600" cy="990600"/>
            </a:xfrm>
            <a:custGeom>
              <a:avLst/>
              <a:gdLst/>
              <a:ahLst/>
              <a:cxnLst/>
              <a:rect r="r" b="b" t="t" l="l"/>
              <a:pathLst>
                <a:path h="990600" w="6197600">
                  <a:moveTo>
                    <a:pt x="0" y="0"/>
                  </a:moveTo>
                  <a:lnTo>
                    <a:pt x="6197600" y="0"/>
                  </a:lnTo>
                  <a:lnTo>
                    <a:pt x="6197600" y="990600"/>
                  </a:lnTo>
                  <a:lnTo>
                    <a:pt x="0" y="990600"/>
                  </a:lnTo>
                  <a:close/>
                </a:path>
              </a:pathLst>
            </a:custGeom>
            <a:blipFill>
              <a:blip r:embed="rId3">
                <a:alphaModFix amt="0"/>
              </a:blip>
              <a:stretch>
                <a:fillRect l="0" t="-71906" r="0" b="-71906"/>
              </a:stretch>
            </a:blipFill>
          </p:spPr>
        </p:sp>
        <p:sp>
          <p:nvSpPr>
            <p:cNvPr name="TextBox 49" id="49"/>
            <p:cNvSpPr txBox="true"/>
            <p:nvPr/>
          </p:nvSpPr>
          <p:spPr>
            <a:xfrm>
              <a:off x="0" y="0"/>
              <a:ext cx="6197600" cy="9906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historial continuo del activo</a:t>
              </a:r>
            </a:p>
            <a:p>
              <a:pPr algn="l">
                <a:lnSpc>
                  <a:spcPts val="2835"/>
                </a:lnSpc>
              </a:pPr>
              <a:r>
                <a:rPr lang="en-US" sz="2363">
                  <a:solidFill>
                    <a:srgbClr val="153044"/>
                  </a:solidFill>
                  <a:latin typeface="Open Sans"/>
                  <a:ea typeface="Open Sans"/>
                  <a:cs typeface="Open Sans"/>
                  <a:sym typeface="Open Sans"/>
                </a:rPr>
                <a:t>y control de custodia.</a:t>
              </a:r>
            </a:p>
          </p:txBody>
        </p:sp>
      </p:grpSp>
      <p:grpSp>
        <p:nvGrpSpPr>
          <p:cNvPr name="Group 50" id="50"/>
          <p:cNvGrpSpPr/>
          <p:nvPr/>
        </p:nvGrpSpPr>
        <p:grpSpPr>
          <a:xfrm rot="0">
            <a:off x="1181100" y="6610350"/>
            <a:ext cx="4648200" cy="371475"/>
            <a:chOff x="0" y="0"/>
            <a:chExt cx="6197600" cy="495300"/>
          </a:xfrm>
        </p:grpSpPr>
        <p:sp>
          <p:nvSpPr>
            <p:cNvPr name="Freeform 51" id="51"/>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52" id="52"/>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0D1B2A"/>
                  </a:solidFill>
                  <a:latin typeface="Open Sans Bold"/>
                  <a:ea typeface="Open Sans Bold"/>
                  <a:cs typeface="Open Sans Bold"/>
                  <a:sym typeface="Open Sans Bold"/>
                </a:rPr>
                <a:t>Operación:</a:t>
              </a:r>
            </a:p>
          </p:txBody>
        </p:sp>
      </p:grpSp>
      <p:grpSp>
        <p:nvGrpSpPr>
          <p:cNvPr name="Group 53" id="53"/>
          <p:cNvGrpSpPr/>
          <p:nvPr/>
        </p:nvGrpSpPr>
        <p:grpSpPr>
          <a:xfrm rot="0">
            <a:off x="1181100" y="7010400"/>
            <a:ext cx="4648200" cy="742950"/>
            <a:chOff x="0" y="0"/>
            <a:chExt cx="6197600" cy="990600"/>
          </a:xfrm>
        </p:grpSpPr>
        <p:sp>
          <p:nvSpPr>
            <p:cNvPr name="Freeform 54" id="54"/>
            <p:cNvSpPr/>
            <p:nvPr/>
          </p:nvSpPr>
          <p:spPr>
            <a:xfrm flipH="false" flipV="false" rot="0">
              <a:off x="0" y="0"/>
              <a:ext cx="6197600" cy="990600"/>
            </a:xfrm>
            <a:custGeom>
              <a:avLst/>
              <a:gdLst/>
              <a:ahLst/>
              <a:cxnLst/>
              <a:rect r="r" b="b" t="t" l="l"/>
              <a:pathLst>
                <a:path h="990600" w="6197600">
                  <a:moveTo>
                    <a:pt x="0" y="0"/>
                  </a:moveTo>
                  <a:lnTo>
                    <a:pt x="6197600" y="0"/>
                  </a:lnTo>
                  <a:lnTo>
                    <a:pt x="6197600" y="990600"/>
                  </a:lnTo>
                  <a:lnTo>
                    <a:pt x="0" y="990600"/>
                  </a:lnTo>
                  <a:close/>
                </a:path>
              </a:pathLst>
            </a:custGeom>
            <a:blipFill>
              <a:blip r:embed="rId3">
                <a:alphaModFix amt="0"/>
              </a:blip>
              <a:stretch>
                <a:fillRect l="0" t="-71906" r="0" b="-71906"/>
              </a:stretch>
            </a:blipFill>
          </p:spPr>
        </p:sp>
        <p:sp>
          <p:nvSpPr>
            <p:cNvPr name="TextBox 55" id="55"/>
            <p:cNvSpPr txBox="true"/>
            <p:nvPr/>
          </p:nvSpPr>
          <p:spPr>
            <a:xfrm>
              <a:off x="0" y="0"/>
              <a:ext cx="6197600" cy="9906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infraestructura, soporte y</a:t>
              </a:r>
            </a:p>
            <a:p>
              <a:pPr algn="l">
                <a:lnSpc>
                  <a:spcPts val="2835"/>
                </a:lnSpc>
              </a:pPr>
              <a:r>
                <a:rPr lang="en-US" sz="2363">
                  <a:solidFill>
                    <a:srgbClr val="153044"/>
                  </a:solidFill>
                  <a:latin typeface="Open Sans"/>
                  <a:ea typeface="Open Sans"/>
                  <a:cs typeface="Open Sans"/>
                  <a:sym typeface="Open Sans"/>
                </a:rPr>
                <a:t>mantenimiento del sistema.</a:t>
              </a:r>
            </a:p>
          </p:txBody>
        </p:sp>
      </p:grpSp>
      <p:grpSp>
        <p:nvGrpSpPr>
          <p:cNvPr name="Group 56" id="56"/>
          <p:cNvGrpSpPr/>
          <p:nvPr/>
        </p:nvGrpSpPr>
        <p:grpSpPr>
          <a:xfrm rot="0">
            <a:off x="1181100" y="7867650"/>
            <a:ext cx="4648200" cy="371475"/>
            <a:chOff x="0" y="0"/>
            <a:chExt cx="6197600" cy="495300"/>
          </a:xfrm>
        </p:grpSpPr>
        <p:sp>
          <p:nvSpPr>
            <p:cNvPr name="Freeform 57" id="57"/>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58" id="58"/>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0D1B2A"/>
                  </a:solidFill>
                  <a:latin typeface="Open Sans Bold"/>
                  <a:ea typeface="Open Sans Bold"/>
                  <a:cs typeface="Open Sans Bold"/>
                  <a:sym typeface="Open Sans Bold"/>
                </a:rPr>
                <a:t>Adopción:</a:t>
              </a:r>
            </a:p>
          </p:txBody>
        </p:sp>
      </p:grpSp>
      <p:grpSp>
        <p:nvGrpSpPr>
          <p:cNvPr name="Group 59" id="59"/>
          <p:cNvGrpSpPr/>
          <p:nvPr/>
        </p:nvGrpSpPr>
        <p:grpSpPr>
          <a:xfrm rot="0">
            <a:off x="1181100" y="8267700"/>
            <a:ext cx="4648200" cy="742950"/>
            <a:chOff x="0" y="0"/>
            <a:chExt cx="6197600" cy="990600"/>
          </a:xfrm>
        </p:grpSpPr>
        <p:sp>
          <p:nvSpPr>
            <p:cNvPr name="Freeform 60" id="60"/>
            <p:cNvSpPr/>
            <p:nvPr/>
          </p:nvSpPr>
          <p:spPr>
            <a:xfrm flipH="false" flipV="false" rot="0">
              <a:off x="0" y="0"/>
              <a:ext cx="6197600" cy="990600"/>
            </a:xfrm>
            <a:custGeom>
              <a:avLst/>
              <a:gdLst/>
              <a:ahLst/>
              <a:cxnLst/>
              <a:rect r="r" b="b" t="t" l="l"/>
              <a:pathLst>
                <a:path h="990600" w="6197600">
                  <a:moveTo>
                    <a:pt x="0" y="0"/>
                  </a:moveTo>
                  <a:lnTo>
                    <a:pt x="6197600" y="0"/>
                  </a:lnTo>
                  <a:lnTo>
                    <a:pt x="6197600" y="990600"/>
                  </a:lnTo>
                  <a:lnTo>
                    <a:pt x="0" y="990600"/>
                  </a:lnTo>
                  <a:close/>
                </a:path>
              </a:pathLst>
            </a:custGeom>
            <a:blipFill>
              <a:blip r:embed="rId3">
                <a:alphaModFix amt="0"/>
              </a:blip>
              <a:stretch>
                <a:fillRect l="0" t="-71906" r="0" b="-71906"/>
              </a:stretch>
            </a:blipFill>
          </p:spPr>
        </p:sp>
        <p:sp>
          <p:nvSpPr>
            <p:cNvPr name="TextBox 61" id="61"/>
            <p:cNvSpPr txBox="true"/>
            <p:nvPr/>
          </p:nvSpPr>
          <p:spPr>
            <a:xfrm>
              <a:off x="0" y="0"/>
              <a:ext cx="6197600" cy="9906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modelo comercial, condiciones</a:t>
              </a:r>
            </a:p>
            <a:p>
              <a:pPr algn="l">
                <a:lnSpc>
                  <a:spcPts val="2835"/>
                </a:lnSpc>
              </a:pPr>
              <a:r>
                <a:rPr lang="en-US" sz="2363">
                  <a:solidFill>
                    <a:srgbClr val="153044"/>
                  </a:solidFill>
                  <a:latin typeface="Open Sans"/>
                  <a:ea typeface="Open Sans"/>
                  <a:cs typeface="Open Sans"/>
                  <a:sym typeface="Open Sans"/>
                </a:rPr>
                <a:t>y costos por definir.</a:t>
              </a:r>
            </a:p>
          </p:txBody>
        </p:sp>
      </p:grpSp>
      <p:grpSp>
        <p:nvGrpSpPr>
          <p:cNvPr name="Group 62" id="62"/>
          <p:cNvGrpSpPr/>
          <p:nvPr/>
        </p:nvGrpSpPr>
        <p:grpSpPr>
          <a:xfrm rot="0">
            <a:off x="6819900" y="4095750"/>
            <a:ext cx="4648200" cy="371475"/>
            <a:chOff x="0" y="0"/>
            <a:chExt cx="6197600" cy="495300"/>
          </a:xfrm>
        </p:grpSpPr>
        <p:sp>
          <p:nvSpPr>
            <p:cNvPr name="Freeform 63" id="63"/>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64" id="64"/>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1766C8"/>
                  </a:solidFill>
                  <a:latin typeface="Open Sans Bold"/>
                  <a:ea typeface="Open Sans Bold"/>
                  <a:cs typeface="Open Sans Bold"/>
                  <a:sym typeface="Open Sans Bold"/>
                </a:rPr>
                <a:t>Problema:</a:t>
              </a:r>
            </a:p>
          </p:txBody>
        </p:sp>
      </p:grpSp>
      <p:grpSp>
        <p:nvGrpSpPr>
          <p:cNvPr name="Group 65" id="65"/>
          <p:cNvGrpSpPr/>
          <p:nvPr/>
        </p:nvGrpSpPr>
        <p:grpSpPr>
          <a:xfrm rot="0">
            <a:off x="6819900" y="4495800"/>
            <a:ext cx="4648200" cy="1200150"/>
            <a:chOff x="0" y="0"/>
            <a:chExt cx="6197600" cy="1600200"/>
          </a:xfrm>
        </p:grpSpPr>
        <p:sp>
          <p:nvSpPr>
            <p:cNvPr name="Freeform 66" id="66"/>
            <p:cNvSpPr/>
            <p:nvPr/>
          </p:nvSpPr>
          <p:spPr>
            <a:xfrm flipH="false" flipV="false" rot="0">
              <a:off x="0" y="0"/>
              <a:ext cx="6197600" cy="1600200"/>
            </a:xfrm>
            <a:custGeom>
              <a:avLst/>
              <a:gdLst/>
              <a:ahLst/>
              <a:cxnLst/>
              <a:rect r="r" b="b" t="t" l="l"/>
              <a:pathLst>
                <a:path h="1600200" w="6197600">
                  <a:moveTo>
                    <a:pt x="0" y="0"/>
                  </a:moveTo>
                  <a:lnTo>
                    <a:pt x="6197600" y="0"/>
                  </a:lnTo>
                  <a:lnTo>
                    <a:pt x="6197600" y="1600200"/>
                  </a:lnTo>
                  <a:lnTo>
                    <a:pt x="0" y="1600200"/>
                  </a:lnTo>
                  <a:close/>
                </a:path>
              </a:pathLst>
            </a:custGeom>
            <a:blipFill>
              <a:blip r:embed="rId3">
                <a:alphaModFix amt="0"/>
              </a:blip>
              <a:stretch>
                <a:fillRect l="0" t="-44513" r="0" b="-6418"/>
              </a:stretch>
            </a:blipFill>
          </p:spPr>
        </p:sp>
        <p:sp>
          <p:nvSpPr>
            <p:cNvPr name="TextBox 67" id="67"/>
            <p:cNvSpPr txBox="true"/>
            <p:nvPr/>
          </p:nvSpPr>
          <p:spPr>
            <a:xfrm>
              <a:off x="0" y="0"/>
              <a:ext cx="6197600" cy="16002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historial y custodia fragmentados</a:t>
              </a:r>
            </a:p>
            <a:p>
              <a:pPr algn="l">
                <a:lnSpc>
                  <a:spcPts val="2835"/>
                </a:lnSpc>
              </a:pPr>
              <a:r>
                <a:rPr lang="en-US" sz="2363">
                  <a:solidFill>
                    <a:srgbClr val="153044"/>
                  </a:solidFill>
                  <a:latin typeface="Open Sans"/>
                  <a:ea typeface="Open Sans"/>
                  <a:cs typeface="Open Sans"/>
                  <a:sym typeface="Open Sans"/>
                </a:rPr>
                <a:t>entre áreas.</a:t>
              </a:r>
            </a:p>
          </p:txBody>
        </p:sp>
      </p:grpSp>
      <p:grpSp>
        <p:nvGrpSpPr>
          <p:cNvPr name="Group 68" id="68"/>
          <p:cNvGrpSpPr/>
          <p:nvPr/>
        </p:nvGrpSpPr>
        <p:grpSpPr>
          <a:xfrm rot="0">
            <a:off x="6819900" y="5781675"/>
            <a:ext cx="4648200" cy="371475"/>
            <a:chOff x="0" y="0"/>
            <a:chExt cx="6197600" cy="495300"/>
          </a:xfrm>
        </p:grpSpPr>
        <p:sp>
          <p:nvSpPr>
            <p:cNvPr name="Freeform 69" id="69"/>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70" id="70"/>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1766C8"/>
                  </a:solidFill>
                  <a:latin typeface="Open Sans Bold"/>
                  <a:ea typeface="Open Sans Bold"/>
                  <a:cs typeface="Open Sans Bold"/>
                  <a:sym typeface="Open Sans Bold"/>
                </a:rPr>
                <a:t>Diferencia:</a:t>
              </a:r>
            </a:p>
          </p:txBody>
        </p:sp>
      </p:grpSp>
      <p:grpSp>
        <p:nvGrpSpPr>
          <p:cNvPr name="Group 71" id="71"/>
          <p:cNvGrpSpPr/>
          <p:nvPr/>
        </p:nvGrpSpPr>
        <p:grpSpPr>
          <a:xfrm rot="0">
            <a:off x="6819900" y="6181725"/>
            <a:ext cx="4648200" cy="1133475"/>
            <a:chOff x="0" y="0"/>
            <a:chExt cx="6197600" cy="1511300"/>
          </a:xfrm>
        </p:grpSpPr>
        <p:sp>
          <p:nvSpPr>
            <p:cNvPr name="Freeform 72" id="72"/>
            <p:cNvSpPr/>
            <p:nvPr/>
          </p:nvSpPr>
          <p:spPr>
            <a:xfrm flipH="false" flipV="false" rot="0">
              <a:off x="0" y="0"/>
              <a:ext cx="6197600" cy="1511300"/>
            </a:xfrm>
            <a:custGeom>
              <a:avLst/>
              <a:gdLst/>
              <a:ahLst/>
              <a:cxnLst/>
              <a:rect r="r" b="b" t="t" l="l"/>
              <a:pathLst>
                <a:path h="1511300" w="6197600">
                  <a:moveTo>
                    <a:pt x="0" y="0"/>
                  </a:moveTo>
                  <a:lnTo>
                    <a:pt x="6197600" y="0"/>
                  </a:lnTo>
                  <a:lnTo>
                    <a:pt x="6197600" y="1511300"/>
                  </a:lnTo>
                  <a:lnTo>
                    <a:pt x="0" y="1511300"/>
                  </a:lnTo>
                  <a:close/>
                </a:path>
              </a:pathLst>
            </a:custGeom>
            <a:blipFill>
              <a:blip r:embed="rId3">
                <a:alphaModFix amt="0"/>
              </a:blip>
              <a:stretch>
                <a:fillRect l="0" t="-29905" r="0" b="-29905"/>
              </a:stretch>
            </a:blipFill>
          </p:spPr>
        </p:sp>
        <p:sp>
          <p:nvSpPr>
            <p:cNvPr name="TextBox 73" id="73"/>
            <p:cNvSpPr txBox="true"/>
            <p:nvPr/>
          </p:nvSpPr>
          <p:spPr>
            <a:xfrm>
              <a:off x="0" y="0"/>
              <a:ext cx="6197600" cy="15113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vincula identidad del activo,</a:t>
              </a:r>
            </a:p>
            <a:p>
              <a:pPr algn="l">
                <a:lnSpc>
                  <a:spcPts val="2835"/>
                </a:lnSpc>
              </a:pPr>
              <a:r>
                <a:rPr lang="en-US" sz="2363">
                  <a:solidFill>
                    <a:srgbClr val="153044"/>
                  </a:solidFill>
                  <a:latin typeface="Open Sans"/>
                  <a:ea typeface="Open Sans"/>
                  <a:cs typeface="Open Sans"/>
                  <a:sym typeface="Open Sans"/>
                </a:rPr>
                <a:t>traslado físico, ciclo técnico</a:t>
              </a:r>
            </a:p>
            <a:p>
              <a:pPr algn="l">
                <a:lnSpc>
                  <a:spcPts val="2835"/>
                </a:lnSpc>
              </a:pPr>
              <a:r>
                <a:rPr lang="en-US" sz="2363">
                  <a:solidFill>
                    <a:srgbClr val="153044"/>
                  </a:solidFill>
                  <a:latin typeface="Open Sans"/>
                  <a:ea typeface="Open Sans"/>
                  <a:cs typeface="Open Sans"/>
                  <a:sym typeface="Open Sans"/>
                </a:rPr>
                <a:t>y evidencia.</a:t>
              </a:r>
            </a:p>
          </p:txBody>
        </p:sp>
      </p:grpSp>
      <p:grpSp>
        <p:nvGrpSpPr>
          <p:cNvPr name="Group 74" id="74"/>
          <p:cNvGrpSpPr/>
          <p:nvPr/>
        </p:nvGrpSpPr>
        <p:grpSpPr>
          <a:xfrm rot="0">
            <a:off x="6819900" y="7658100"/>
            <a:ext cx="4648200" cy="371475"/>
            <a:chOff x="0" y="0"/>
            <a:chExt cx="6197600" cy="495300"/>
          </a:xfrm>
        </p:grpSpPr>
        <p:sp>
          <p:nvSpPr>
            <p:cNvPr name="Freeform 75" id="75"/>
            <p:cNvSpPr/>
            <p:nvPr/>
          </p:nvSpPr>
          <p:spPr>
            <a:xfrm flipH="false" flipV="false" rot="0">
              <a:off x="0" y="0"/>
              <a:ext cx="6197600" cy="495300"/>
            </a:xfrm>
            <a:custGeom>
              <a:avLst/>
              <a:gdLst/>
              <a:ahLst/>
              <a:cxnLst/>
              <a:rect r="r" b="b" t="t" l="l"/>
              <a:pathLst>
                <a:path h="495300" w="6197600">
                  <a:moveTo>
                    <a:pt x="0" y="0"/>
                  </a:moveTo>
                  <a:lnTo>
                    <a:pt x="6197600" y="0"/>
                  </a:lnTo>
                  <a:lnTo>
                    <a:pt x="6197600" y="495300"/>
                  </a:lnTo>
                  <a:lnTo>
                    <a:pt x="0" y="495300"/>
                  </a:lnTo>
                  <a:close/>
                </a:path>
              </a:pathLst>
            </a:custGeom>
            <a:blipFill>
              <a:blip r:embed="rId3">
                <a:alphaModFix amt="0"/>
              </a:blip>
              <a:stretch>
                <a:fillRect l="0" t="-193812" r="0" b="-193812"/>
              </a:stretch>
            </a:blipFill>
          </p:spPr>
        </p:sp>
        <p:sp>
          <p:nvSpPr>
            <p:cNvPr name="TextBox 76" id="76"/>
            <p:cNvSpPr txBox="true"/>
            <p:nvPr/>
          </p:nvSpPr>
          <p:spPr>
            <a:xfrm>
              <a:off x="0" y="0"/>
              <a:ext cx="6197600" cy="495300"/>
            </a:xfrm>
            <a:prstGeom prst="rect">
              <a:avLst/>
            </a:prstGeom>
          </p:spPr>
          <p:txBody>
            <a:bodyPr anchor="ctr" rtlCol="false" tIns="0" lIns="0" bIns="0" rIns="0"/>
            <a:lstStyle/>
            <a:p>
              <a:pPr algn="l">
                <a:lnSpc>
                  <a:spcPts val="2700"/>
                </a:lnSpc>
              </a:pPr>
              <a:r>
                <a:rPr lang="en-US" sz="2250" b="true">
                  <a:solidFill>
                    <a:srgbClr val="1766C8"/>
                  </a:solidFill>
                  <a:latin typeface="Open Sans Bold"/>
                  <a:ea typeface="Open Sans Bold"/>
                  <a:cs typeface="Open Sans Bold"/>
                  <a:sym typeface="Open Sans Bold"/>
                </a:rPr>
                <a:t>Aporte:</a:t>
              </a:r>
            </a:p>
          </p:txBody>
        </p:sp>
      </p:grpSp>
      <p:grpSp>
        <p:nvGrpSpPr>
          <p:cNvPr name="Group 77" id="77"/>
          <p:cNvGrpSpPr/>
          <p:nvPr/>
        </p:nvGrpSpPr>
        <p:grpSpPr>
          <a:xfrm rot="0">
            <a:off x="6819900" y="8058150"/>
            <a:ext cx="4648200" cy="742950"/>
            <a:chOff x="0" y="0"/>
            <a:chExt cx="6197600" cy="990600"/>
          </a:xfrm>
        </p:grpSpPr>
        <p:sp>
          <p:nvSpPr>
            <p:cNvPr name="Freeform 78" id="78"/>
            <p:cNvSpPr/>
            <p:nvPr/>
          </p:nvSpPr>
          <p:spPr>
            <a:xfrm flipH="false" flipV="false" rot="0">
              <a:off x="0" y="0"/>
              <a:ext cx="6197600" cy="990600"/>
            </a:xfrm>
            <a:custGeom>
              <a:avLst/>
              <a:gdLst/>
              <a:ahLst/>
              <a:cxnLst/>
              <a:rect r="r" b="b" t="t" l="l"/>
              <a:pathLst>
                <a:path h="990600" w="6197600">
                  <a:moveTo>
                    <a:pt x="0" y="0"/>
                  </a:moveTo>
                  <a:lnTo>
                    <a:pt x="6197600" y="0"/>
                  </a:lnTo>
                  <a:lnTo>
                    <a:pt x="6197600" y="990600"/>
                  </a:lnTo>
                  <a:lnTo>
                    <a:pt x="0" y="990600"/>
                  </a:lnTo>
                  <a:close/>
                </a:path>
              </a:pathLst>
            </a:custGeom>
            <a:blipFill>
              <a:blip r:embed="rId3">
                <a:alphaModFix amt="0"/>
              </a:blip>
              <a:stretch>
                <a:fillRect l="0" t="-71906" r="0" b="-71906"/>
              </a:stretch>
            </a:blipFill>
          </p:spPr>
        </p:sp>
        <p:sp>
          <p:nvSpPr>
            <p:cNvPr name="TextBox 79" id="79"/>
            <p:cNvSpPr txBox="true"/>
            <p:nvPr/>
          </p:nvSpPr>
          <p:spPr>
            <a:xfrm>
              <a:off x="0" y="0"/>
              <a:ext cx="6197600" cy="990600"/>
            </a:xfrm>
            <a:prstGeom prst="rect">
              <a:avLst/>
            </a:prstGeom>
          </p:spPr>
          <p:txBody>
            <a:bodyPr anchor="ctr" rtlCol="false" tIns="0" lIns="0" bIns="0" rIns="0"/>
            <a:lstStyle/>
            <a:p>
              <a:pPr algn="l">
                <a:lnSpc>
                  <a:spcPts val="2835"/>
                </a:lnSpc>
              </a:pPr>
              <a:r>
                <a:rPr lang="en-US" sz="2363">
                  <a:solidFill>
                    <a:srgbClr val="153044"/>
                  </a:solidFill>
                  <a:latin typeface="Open Sans"/>
                  <a:ea typeface="Open Sans"/>
                  <a:cs typeface="Open Sans"/>
                  <a:sym typeface="Open Sans"/>
                </a:rPr>
                <a:t>información consistente para</a:t>
              </a:r>
            </a:p>
            <a:p>
              <a:pPr algn="l">
                <a:lnSpc>
                  <a:spcPts val="2835"/>
                </a:lnSpc>
              </a:pPr>
              <a:r>
                <a:rPr lang="en-US" sz="2363">
                  <a:solidFill>
                    <a:srgbClr val="153044"/>
                  </a:solidFill>
                  <a:latin typeface="Open Sans"/>
                  <a:ea typeface="Open Sans"/>
                  <a:cs typeface="Open Sans"/>
                  <a:sym typeface="Open Sans"/>
                </a:rPr>
                <a:t>operar, revisar y decidir.</a:t>
              </a:r>
            </a:p>
          </p:txBody>
        </p:sp>
      </p:grpSp>
      <p:grpSp>
        <p:nvGrpSpPr>
          <p:cNvPr name="Group 80" id="80"/>
          <p:cNvGrpSpPr/>
          <p:nvPr/>
        </p:nvGrpSpPr>
        <p:grpSpPr>
          <a:xfrm rot="0">
            <a:off x="12458700" y="4076700"/>
            <a:ext cx="4648200" cy="590550"/>
            <a:chOff x="0" y="0"/>
            <a:chExt cx="6197600" cy="787400"/>
          </a:xfrm>
        </p:grpSpPr>
        <p:sp>
          <p:nvSpPr>
            <p:cNvPr name="Freeform 81" id="81"/>
            <p:cNvSpPr/>
            <p:nvPr/>
          </p:nvSpPr>
          <p:spPr>
            <a:xfrm flipH="false" flipV="false" rot="0">
              <a:off x="0" y="0"/>
              <a:ext cx="6197600" cy="787400"/>
            </a:xfrm>
            <a:custGeom>
              <a:avLst/>
              <a:gdLst/>
              <a:ahLst/>
              <a:cxnLst/>
              <a:rect r="r" b="b" t="t" l="l"/>
              <a:pathLst>
                <a:path h="787400" w="6197600">
                  <a:moveTo>
                    <a:pt x="0" y="0"/>
                  </a:moveTo>
                  <a:lnTo>
                    <a:pt x="6197600" y="0"/>
                  </a:lnTo>
                  <a:lnTo>
                    <a:pt x="6197600" y="787400"/>
                  </a:lnTo>
                  <a:lnTo>
                    <a:pt x="0" y="787400"/>
                  </a:lnTo>
                  <a:close/>
                </a:path>
              </a:pathLst>
            </a:custGeom>
            <a:blipFill>
              <a:blip r:embed="rId3">
                <a:alphaModFix amt="0"/>
              </a:blip>
              <a:stretch>
                <a:fillRect l="0" t="-103366" r="0" b="-103366"/>
              </a:stretch>
            </a:blipFill>
          </p:spPr>
        </p:sp>
        <p:sp>
          <p:nvSpPr>
            <p:cNvPr name="TextBox 82" id="82"/>
            <p:cNvSpPr txBox="true"/>
            <p:nvPr/>
          </p:nvSpPr>
          <p:spPr>
            <a:xfrm>
              <a:off x="0" y="0"/>
              <a:ext cx="6197600" cy="787400"/>
            </a:xfrm>
            <a:prstGeom prst="rect">
              <a:avLst/>
            </a:prstGeom>
          </p:spPr>
          <p:txBody>
            <a:bodyPr anchor="ctr" rtlCol="false" tIns="0" lIns="0" bIns="0" rIns="0"/>
            <a:lstStyle/>
            <a:p>
              <a:pPr algn="l">
                <a:lnSpc>
                  <a:spcPts val="3419"/>
                </a:lnSpc>
              </a:pPr>
              <a:r>
                <a:rPr lang="en-US" sz="2850" b="true">
                  <a:solidFill>
                    <a:srgbClr val="007F89"/>
                  </a:solidFill>
                  <a:latin typeface="Open Sans Bold"/>
                  <a:ea typeface="Open Sans Bold"/>
                  <a:cs typeface="Open Sans Bold"/>
                  <a:sym typeface="Open Sans Bold"/>
                </a:rPr>
                <a:t>7 perfiles de usuario</a:t>
              </a:r>
            </a:p>
          </p:txBody>
        </p:sp>
      </p:grpSp>
      <p:grpSp>
        <p:nvGrpSpPr>
          <p:cNvPr name="Group 83" id="83"/>
          <p:cNvGrpSpPr/>
          <p:nvPr/>
        </p:nvGrpSpPr>
        <p:grpSpPr>
          <a:xfrm rot="0">
            <a:off x="12458700" y="4981575"/>
            <a:ext cx="38100" cy="552450"/>
            <a:chOff x="0" y="0"/>
            <a:chExt cx="50800" cy="736600"/>
          </a:xfrm>
        </p:grpSpPr>
        <p:sp>
          <p:nvSpPr>
            <p:cNvPr name="Freeform 84" id="84"/>
            <p:cNvSpPr/>
            <p:nvPr/>
          </p:nvSpPr>
          <p:spPr>
            <a:xfrm flipH="false" flipV="false" rot="0">
              <a:off x="0" y="0"/>
              <a:ext cx="50800" cy="736600"/>
            </a:xfrm>
            <a:custGeom>
              <a:avLst/>
              <a:gdLst/>
              <a:ahLst/>
              <a:cxnLst/>
              <a:rect r="r" b="b" t="t" l="l"/>
              <a:pathLst>
                <a:path h="736600" w="50800">
                  <a:moveTo>
                    <a:pt x="0" y="0"/>
                  </a:moveTo>
                  <a:lnTo>
                    <a:pt x="50800" y="0"/>
                  </a:lnTo>
                  <a:lnTo>
                    <a:pt x="50800" y="736600"/>
                  </a:lnTo>
                  <a:lnTo>
                    <a:pt x="0" y="736600"/>
                  </a:lnTo>
                  <a:close/>
                </a:path>
              </a:pathLst>
            </a:custGeom>
            <a:solidFill>
              <a:srgbClr val="00B3B5"/>
            </a:solidFill>
          </p:spPr>
        </p:sp>
      </p:grpSp>
      <p:grpSp>
        <p:nvGrpSpPr>
          <p:cNvPr name="Group 85" id="85"/>
          <p:cNvGrpSpPr/>
          <p:nvPr/>
        </p:nvGrpSpPr>
        <p:grpSpPr>
          <a:xfrm rot="0">
            <a:off x="12639675" y="4838700"/>
            <a:ext cx="4467225" cy="800100"/>
            <a:chOff x="0" y="0"/>
            <a:chExt cx="5956300" cy="1066800"/>
          </a:xfrm>
        </p:grpSpPr>
        <p:sp>
          <p:nvSpPr>
            <p:cNvPr name="Freeform 86" id="86"/>
            <p:cNvSpPr/>
            <p:nvPr/>
          </p:nvSpPr>
          <p:spPr>
            <a:xfrm flipH="false" flipV="false" rot="0">
              <a:off x="0" y="0"/>
              <a:ext cx="5956300" cy="1066800"/>
            </a:xfrm>
            <a:custGeom>
              <a:avLst/>
              <a:gdLst/>
              <a:ahLst/>
              <a:cxnLst/>
              <a:rect r="r" b="b" t="t" l="l"/>
              <a:pathLst>
                <a:path h="1066800" w="5956300">
                  <a:moveTo>
                    <a:pt x="0" y="0"/>
                  </a:moveTo>
                  <a:lnTo>
                    <a:pt x="5956300" y="0"/>
                  </a:lnTo>
                  <a:lnTo>
                    <a:pt x="5956300" y="1066800"/>
                  </a:lnTo>
                  <a:lnTo>
                    <a:pt x="0" y="1066800"/>
                  </a:lnTo>
                  <a:close/>
                </a:path>
              </a:pathLst>
            </a:custGeom>
            <a:blipFill>
              <a:blip r:embed="rId3">
                <a:alphaModFix amt="0"/>
              </a:blip>
              <a:stretch>
                <a:fillRect l="0" t="-58791" r="0" b="-58791"/>
              </a:stretch>
            </a:blipFill>
          </p:spPr>
        </p:sp>
        <p:sp>
          <p:nvSpPr>
            <p:cNvPr name="TextBox 87" id="87"/>
            <p:cNvSpPr txBox="true"/>
            <p:nvPr/>
          </p:nvSpPr>
          <p:spPr>
            <a:xfrm>
              <a:off x="0" y="0"/>
              <a:ext cx="5956300" cy="1066800"/>
            </a:xfrm>
            <a:prstGeom prst="rect">
              <a:avLst/>
            </a:prstGeom>
          </p:spPr>
          <p:txBody>
            <a:bodyPr anchor="ctr" rtlCol="false" tIns="0" lIns="0" bIns="0" rIns="0"/>
            <a:lstStyle/>
            <a:p>
              <a:pPr algn="l">
                <a:lnSpc>
                  <a:spcPts val="2745"/>
                </a:lnSpc>
              </a:pPr>
              <a:r>
                <a:rPr lang="en-US" sz="2288">
                  <a:solidFill>
                    <a:srgbClr val="153044"/>
                  </a:solidFill>
                  <a:latin typeface="Open Sans"/>
                  <a:ea typeface="Open Sans"/>
                  <a:cs typeface="Open Sans"/>
                  <a:sym typeface="Open Sans"/>
                </a:rPr>
                <a:t>Navegación y acciones según</a:t>
              </a:r>
            </a:p>
            <a:p>
              <a:pPr algn="l">
                <a:lnSpc>
                  <a:spcPts val="2745"/>
                </a:lnSpc>
              </a:pPr>
              <a:r>
                <a:rPr lang="en-US" sz="2288">
                  <a:solidFill>
                    <a:srgbClr val="153044"/>
                  </a:solidFill>
                  <a:latin typeface="Open Sans"/>
                  <a:ea typeface="Open Sans"/>
                  <a:cs typeface="Open Sans"/>
                  <a:sym typeface="Open Sans"/>
                </a:rPr>
                <a:t>responsabilidad y etapa.</a:t>
              </a:r>
            </a:p>
          </p:txBody>
        </p:sp>
      </p:grpSp>
      <p:grpSp>
        <p:nvGrpSpPr>
          <p:cNvPr name="Group 88" id="88"/>
          <p:cNvGrpSpPr/>
          <p:nvPr/>
        </p:nvGrpSpPr>
        <p:grpSpPr>
          <a:xfrm rot="0">
            <a:off x="12458700" y="6000750"/>
            <a:ext cx="38100" cy="209550"/>
            <a:chOff x="0" y="0"/>
            <a:chExt cx="50800" cy="279400"/>
          </a:xfrm>
        </p:grpSpPr>
        <p:sp>
          <p:nvSpPr>
            <p:cNvPr name="Freeform 89" id="89"/>
            <p:cNvSpPr/>
            <p:nvPr/>
          </p:nvSpPr>
          <p:spPr>
            <a:xfrm flipH="false" flipV="false" rot="0">
              <a:off x="0" y="0"/>
              <a:ext cx="50800" cy="279400"/>
            </a:xfrm>
            <a:custGeom>
              <a:avLst/>
              <a:gdLst/>
              <a:ahLst/>
              <a:cxnLst/>
              <a:rect r="r" b="b" t="t" l="l"/>
              <a:pathLst>
                <a:path h="279400" w="50800">
                  <a:moveTo>
                    <a:pt x="0" y="0"/>
                  </a:moveTo>
                  <a:lnTo>
                    <a:pt x="50800" y="0"/>
                  </a:lnTo>
                  <a:lnTo>
                    <a:pt x="50800" y="279400"/>
                  </a:lnTo>
                  <a:lnTo>
                    <a:pt x="0" y="279400"/>
                  </a:lnTo>
                  <a:close/>
                </a:path>
              </a:pathLst>
            </a:custGeom>
            <a:solidFill>
              <a:srgbClr val="00B3B5"/>
            </a:solidFill>
          </p:spPr>
        </p:sp>
      </p:grpSp>
      <p:grpSp>
        <p:nvGrpSpPr>
          <p:cNvPr name="Group 90" id="90"/>
          <p:cNvGrpSpPr/>
          <p:nvPr/>
        </p:nvGrpSpPr>
        <p:grpSpPr>
          <a:xfrm rot="0">
            <a:off x="12639675" y="5857875"/>
            <a:ext cx="4467225" cy="457200"/>
            <a:chOff x="0" y="0"/>
            <a:chExt cx="5956300" cy="609600"/>
          </a:xfrm>
        </p:grpSpPr>
        <p:sp>
          <p:nvSpPr>
            <p:cNvPr name="Freeform 91" id="91"/>
            <p:cNvSpPr/>
            <p:nvPr/>
          </p:nvSpPr>
          <p:spPr>
            <a:xfrm flipH="false" flipV="false" rot="0">
              <a:off x="0" y="0"/>
              <a:ext cx="5956300" cy="609600"/>
            </a:xfrm>
            <a:custGeom>
              <a:avLst/>
              <a:gdLst/>
              <a:ahLst/>
              <a:cxnLst/>
              <a:rect r="r" b="b" t="t" l="l"/>
              <a:pathLst>
                <a:path h="609600" w="5956300">
                  <a:moveTo>
                    <a:pt x="0" y="0"/>
                  </a:moveTo>
                  <a:lnTo>
                    <a:pt x="5956300" y="0"/>
                  </a:lnTo>
                  <a:lnTo>
                    <a:pt x="5956300" y="609600"/>
                  </a:lnTo>
                  <a:lnTo>
                    <a:pt x="0" y="609600"/>
                  </a:lnTo>
                  <a:close/>
                </a:path>
              </a:pathLst>
            </a:custGeom>
            <a:blipFill>
              <a:blip r:embed="rId3">
                <a:alphaModFix amt="0"/>
              </a:blip>
              <a:stretch>
                <a:fillRect l="0" t="-140385" r="0" b="-140385"/>
              </a:stretch>
            </a:blipFill>
          </p:spPr>
        </p:sp>
        <p:sp>
          <p:nvSpPr>
            <p:cNvPr name="TextBox 92" id="92"/>
            <p:cNvSpPr txBox="true"/>
            <p:nvPr/>
          </p:nvSpPr>
          <p:spPr>
            <a:xfrm>
              <a:off x="0" y="0"/>
              <a:ext cx="5956300" cy="609600"/>
            </a:xfrm>
            <a:prstGeom prst="rect">
              <a:avLst/>
            </a:prstGeom>
          </p:spPr>
          <p:txBody>
            <a:bodyPr anchor="ctr" rtlCol="false" tIns="0" lIns="0" bIns="0" rIns="0"/>
            <a:lstStyle/>
            <a:p>
              <a:pPr algn="l">
                <a:lnSpc>
                  <a:spcPts val="2745"/>
                </a:lnSpc>
              </a:pPr>
              <a:r>
                <a:rPr lang="en-US" sz="2288">
                  <a:solidFill>
                    <a:srgbClr val="153044"/>
                  </a:solidFill>
                  <a:latin typeface="Open Sans"/>
                  <a:ea typeface="Open Sans"/>
                  <a:cs typeface="Open Sans"/>
                  <a:sym typeface="Open Sans"/>
                </a:rPr>
                <a:t>Estados y acciones explícitos.</a:t>
              </a:r>
            </a:p>
          </p:txBody>
        </p:sp>
      </p:grpSp>
      <p:grpSp>
        <p:nvGrpSpPr>
          <p:cNvPr name="Group 93" id="93"/>
          <p:cNvGrpSpPr/>
          <p:nvPr/>
        </p:nvGrpSpPr>
        <p:grpSpPr>
          <a:xfrm rot="0">
            <a:off x="12458700" y="6705600"/>
            <a:ext cx="38100" cy="209550"/>
            <a:chOff x="0" y="0"/>
            <a:chExt cx="50800" cy="279400"/>
          </a:xfrm>
        </p:grpSpPr>
        <p:sp>
          <p:nvSpPr>
            <p:cNvPr name="Freeform 94" id="94"/>
            <p:cNvSpPr/>
            <p:nvPr/>
          </p:nvSpPr>
          <p:spPr>
            <a:xfrm flipH="false" flipV="false" rot="0">
              <a:off x="0" y="0"/>
              <a:ext cx="50800" cy="279400"/>
            </a:xfrm>
            <a:custGeom>
              <a:avLst/>
              <a:gdLst/>
              <a:ahLst/>
              <a:cxnLst/>
              <a:rect r="r" b="b" t="t" l="l"/>
              <a:pathLst>
                <a:path h="279400" w="50800">
                  <a:moveTo>
                    <a:pt x="0" y="0"/>
                  </a:moveTo>
                  <a:lnTo>
                    <a:pt x="50800" y="0"/>
                  </a:lnTo>
                  <a:lnTo>
                    <a:pt x="50800" y="279400"/>
                  </a:lnTo>
                  <a:lnTo>
                    <a:pt x="0" y="279400"/>
                  </a:lnTo>
                  <a:close/>
                </a:path>
              </a:pathLst>
            </a:custGeom>
            <a:solidFill>
              <a:srgbClr val="00B3B5"/>
            </a:solidFill>
          </p:spPr>
        </p:sp>
      </p:grpSp>
      <p:grpSp>
        <p:nvGrpSpPr>
          <p:cNvPr name="Group 95" id="95"/>
          <p:cNvGrpSpPr/>
          <p:nvPr/>
        </p:nvGrpSpPr>
        <p:grpSpPr>
          <a:xfrm rot="0">
            <a:off x="12639675" y="6562725"/>
            <a:ext cx="4467225" cy="457200"/>
            <a:chOff x="0" y="0"/>
            <a:chExt cx="5956300" cy="609600"/>
          </a:xfrm>
        </p:grpSpPr>
        <p:sp>
          <p:nvSpPr>
            <p:cNvPr name="Freeform 96" id="96"/>
            <p:cNvSpPr/>
            <p:nvPr/>
          </p:nvSpPr>
          <p:spPr>
            <a:xfrm flipH="false" flipV="false" rot="0">
              <a:off x="0" y="0"/>
              <a:ext cx="5956300" cy="609600"/>
            </a:xfrm>
            <a:custGeom>
              <a:avLst/>
              <a:gdLst/>
              <a:ahLst/>
              <a:cxnLst/>
              <a:rect r="r" b="b" t="t" l="l"/>
              <a:pathLst>
                <a:path h="609600" w="5956300">
                  <a:moveTo>
                    <a:pt x="0" y="0"/>
                  </a:moveTo>
                  <a:lnTo>
                    <a:pt x="5956300" y="0"/>
                  </a:lnTo>
                  <a:lnTo>
                    <a:pt x="5956300" y="609600"/>
                  </a:lnTo>
                  <a:lnTo>
                    <a:pt x="0" y="609600"/>
                  </a:lnTo>
                  <a:close/>
                </a:path>
              </a:pathLst>
            </a:custGeom>
            <a:blipFill>
              <a:blip r:embed="rId3">
                <a:alphaModFix amt="0"/>
              </a:blip>
              <a:stretch>
                <a:fillRect l="0" t="-140385" r="0" b="-140385"/>
              </a:stretch>
            </a:blipFill>
          </p:spPr>
        </p:sp>
        <p:sp>
          <p:nvSpPr>
            <p:cNvPr name="TextBox 97" id="97"/>
            <p:cNvSpPr txBox="true"/>
            <p:nvPr/>
          </p:nvSpPr>
          <p:spPr>
            <a:xfrm>
              <a:off x="0" y="0"/>
              <a:ext cx="5956300" cy="609600"/>
            </a:xfrm>
            <a:prstGeom prst="rect">
              <a:avLst/>
            </a:prstGeom>
          </p:spPr>
          <p:txBody>
            <a:bodyPr anchor="ctr" rtlCol="false" tIns="0" lIns="0" bIns="0" rIns="0"/>
            <a:lstStyle/>
            <a:p>
              <a:pPr algn="l">
                <a:lnSpc>
                  <a:spcPts val="2745"/>
                </a:lnSpc>
              </a:pPr>
              <a:r>
                <a:rPr lang="en-US" sz="2288">
                  <a:solidFill>
                    <a:srgbClr val="153044"/>
                  </a:solidFill>
                  <a:latin typeface="Open Sans"/>
                  <a:ea typeface="Open Sans"/>
                  <a:cs typeface="Open Sans"/>
                  <a:sym typeface="Open Sans"/>
                </a:rPr>
                <a:t>Evidencia antes de confirmar.</a:t>
              </a:r>
            </a:p>
          </p:txBody>
        </p:sp>
      </p:grpSp>
      <p:grpSp>
        <p:nvGrpSpPr>
          <p:cNvPr name="Group 98" id="98"/>
          <p:cNvGrpSpPr/>
          <p:nvPr/>
        </p:nvGrpSpPr>
        <p:grpSpPr>
          <a:xfrm rot="0">
            <a:off x="12458700" y="7410450"/>
            <a:ext cx="38100" cy="209550"/>
            <a:chOff x="0" y="0"/>
            <a:chExt cx="50800" cy="279400"/>
          </a:xfrm>
        </p:grpSpPr>
        <p:sp>
          <p:nvSpPr>
            <p:cNvPr name="Freeform 99" id="99"/>
            <p:cNvSpPr/>
            <p:nvPr/>
          </p:nvSpPr>
          <p:spPr>
            <a:xfrm flipH="false" flipV="false" rot="0">
              <a:off x="0" y="0"/>
              <a:ext cx="50800" cy="279400"/>
            </a:xfrm>
            <a:custGeom>
              <a:avLst/>
              <a:gdLst/>
              <a:ahLst/>
              <a:cxnLst/>
              <a:rect r="r" b="b" t="t" l="l"/>
              <a:pathLst>
                <a:path h="279400" w="50800">
                  <a:moveTo>
                    <a:pt x="0" y="0"/>
                  </a:moveTo>
                  <a:lnTo>
                    <a:pt x="50800" y="0"/>
                  </a:lnTo>
                  <a:lnTo>
                    <a:pt x="50800" y="279400"/>
                  </a:lnTo>
                  <a:lnTo>
                    <a:pt x="0" y="279400"/>
                  </a:lnTo>
                  <a:close/>
                </a:path>
              </a:pathLst>
            </a:custGeom>
            <a:solidFill>
              <a:srgbClr val="00B3B5"/>
            </a:solidFill>
          </p:spPr>
        </p:sp>
      </p:grpSp>
      <p:grpSp>
        <p:nvGrpSpPr>
          <p:cNvPr name="Group 100" id="100"/>
          <p:cNvGrpSpPr/>
          <p:nvPr/>
        </p:nvGrpSpPr>
        <p:grpSpPr>
          <a:xfrm rot="0">
            <a:off x="12639675" y="7267575"/>
            <a:ext cx="4467225" cy="819150"/>
            <a:chOff x="0" y="0"/>
            <a:chExt cx="5956300" cy="1092200"/>
          </a:xfrm>
        </p:grpSpPr>
        <p:sp>
          <p:nvSpPr>
            <p:cNvPr name="Freeform 101" id="101"/>
            <p:cNvSpPr/>
            <p:nvPr/>
          </p:nvSpPr>
          <p:spPr>
            <a:xfrm flipH="false" flipV="false" rot="0">
              <a:off x="0" y="0"/>
              <a:ext cx="5956300" cy="1092200"/>
            </a:xfrm>
            <a:custGeom>
              <a:avLst/>
              <a:gdLst/>
              <a:ahLst/>
              <a:cxnLst/>
              <a:rect r="r" b="b" t="t" l="l"/>
              <a:pathLst>
                <a:path h="1092200" w="5956300">
                  <a:moveTo>
                    <a:pt x="0" y="0"/>
                  </a:moveTo>
                  <a:lnTo>
                    <a:pt x="5956300" y="0"/>
                  </a:lnTo>
                  <a:lnTo>
                    <a:pt x="5956300" y="1092200"/>
                  </a:lnTo>
                  <a:lnTo>
                    <a:pt x="0" y="1092200"/>
                  </a:lnTo>
                  <a:close/>
                </a:path>
              </a:pathLst>
            </a:custGeom>
            <a:blipFill>
              <a:blip r:embed="rId3">
                <a:alphaModFix amt="0"/>
              </a:blip>
              <a:stretch>
                <a:fillRect l="0" t="-78354" r="0" b="-34168"/>
              </a:stretch>
            </a:blipFill>
          </p:spPr>
        </p:sp>
        <p:sp>
          <p:nvSpPr>
            <p:cNvPr name="TextBox 102" id="102"/>
            <p:cNvSpPr txBox="true"/>
            <p:nvPr/>
          </p:nvSpPr>
          <p:spPr>
            <a:xfrm>
              <a:off x="0" y="0"/>
              <a:ext cx="5956300" cy="1092200"/>
            </a:xfrm>
            <a:prstGeom prst="rect">
              <a:avLst/>
            </a:prstGeom>
          </p:spPr>
          <p:txBody>
            <a:bodyPr anchor="ctr" rtlCol="false" tIns="0" lIns="0" bIns="0" rIns="0"/>
            <a:lstStyle/>
            <a:p>
              <a:pPr algn="l">
                <a:lnSpc>
                  <a:spcPts val="2745"/>
                </a:lnSpc>
              </a:pPr>
              <a:r>
                <a:rPr lang="en-US" sz="2288">
                  <a:solidFill>
                    <a:srgbClr val="153044"/>
                  </a:solidFill>
                  <a:latin typeface="Open Sans"/>
                  <a:ea typeface="Open Sans"/>
                  <a:cs typeface="Open Sans"/>
                  <a:sym typeface="Open Sans"/>
                </a:rPr>
                <a:t>Historial pertinente para cada rol.</a:t>
              </a:r>
            </a:p>
          </p:txBody>
        </p:sp>
      </p:grpSp>
      <p:grpSp>
        <p:nvGrpSpPr>
          <p:cNvPr name="Group 103" id="103"/>
          <p:cNvGrpSpPr/>
          <p:nvPr/>
        </p:nvGrpSpPr>
        <p:grpSpPr>
          <a:xfrm rot="0">
            <a:off x="12458700" y="8058150"/>
            <a:ext cx="4648200" cy="457200"/>
            <a:chOff x="0" y="0"/>
            <a:chExt cx="6197600" cy="609600"/>
          </a:xfrm>
        </p:grpSpPr>
        <p:sp>
          <p:nvSpPr>
            <p:cNvPr name="Freeform 104" id="104"/>
            <p:cNvSpPr/>
            <p:nvPr/>
          </p:nvSpPr>
          <p:spPr>
            <a:xfrm flipH="false" flipV="false" rot="0">
              <a:off x="0" y="0"/>
              <a:ext cx="6197600" cy="609600"/>
            </a:xfrm>
            <a:custGeom>
              <a:avLst/>
              <a:gdLst/>
              <a:ahLst/>
              <a:cxnLst/>
              <a:rect r="r" b="b" t="t" l="l"/>
              <a:pathLst>
                <a:path h="609600" w="6197600">
                  <a:moveTo>
                    <a:pt x="0" y="101600"/>
                  </a:moveTo>
                  <a:cubicBezTo>
                    <a:pt x="0" y="45466"/>
                    <a:pt x="45466" y="0"/>
                    <a:pt x="101600" y="0"/>
                  </a:cubicBezTo>
                  <a:lnTo>
                    <a:pt x="6096000" y="0"/>
                  </a:lnTo>
                  <a:cubicBezTo>
                    <a:pt x="6152134" y="0"/>
                    <a:pt x="6197600" y="45466"/>
                    <a:pt x="6197600" y="101600"/>
                  </a:cubicBezTo>
                  <a:lnTo>
                    <a:pt x="6197600" y="508000"/>
                  </a:lnTo>
                  <a:cubicBezTo>
                    <a:pt x="6197600" y="564134"/>
                    <a:pt x="6152134" y="609600"/>
                    <a:pt x="6096000" y="609600"/>
                  </a:cubicBezTo>
                  <a:lnTo>
                    <a:pt x="101600" y="609600"/>
                  </a:lnTo>
                  <a:cubicBezTo>
                    <a:pt x="45466" y="609600"/>
                    <a:pt x="0" y="564134"/>
                    <a:pt x="0" y="508000"/>
                  </a:cubicBezTo>
                  <a:close/>
                </a:path>
              </a:pathLst>
            </a:custGeom>
            <a:solidFill>
              <a:srgbClr val="EAF3FA"/>
            </a:solidFill>
          </p:spPr>
        </p:sp>
      </p:grpSp>
      <p:grpSp>
        <p:nvGrpSpPr>
          <p:cNvPr name="Group 105" id="105"/>
          <p:cNvGrpSpPr/>
          <p:nvPr/>
        </p:nvGrpSpPr>
        <p:grpSpPr>
          <a:xfrm rot="0">
            <a:off x="12458700" y="8648700"/>
            <a:ext cx="4648200" cy="457200"/>
            <a:chOff x="0" y="0"/>
            <a:chExt cx="6197600" cy="609600"/>
          </a:xfrm>
        </p:grpSpPr>
        <p:sp>
          <p:nvSpPr>
            <p:cNvPr name="Freeform 106" id="106"/>
            <p:cNvSpPr/>
            <p:nvPr/>
          </p:nvSpPr>
          <p:spPr>
            <a:xfrm flipH="false" flipV="false" rot="0">
              <a:off x="0" y="0"/>
              <a:ext cx="6197600" cy="609600"/>
            </a:xfrm>
            <a:custGeom>
              <a:avLst/>
              <a:gdLst/>
              <a:ahLst/>
              <a:cxnLst/>
              <a:rect r="r" b="b" t="t" l="l"/>
              <a:pathLst>
                <a:path h="609600" w="6197600">
                  <a:moveTo>
                    <a:pt x="0" y="101600"/>
                  </a:moveTo>
                  <a:cubicBezTo>
                    <a:pt x="0" y="45466"/>
                    <a:pt x="45466" y="0"/>
                    <a:pt x="101600" y="0"/>
                  </a:cubicBezTo>
                  <a:lnTo>
                    <a:pt x="6096000" y="0"/>
                  </a:lnTo>
                  <a:cubicBezTo>
                    <a:pt x="6152134" y="0"/>
                    <a:pt x="6197600" y="45466"/>
                    <a:pt x="6197600" y="101600"/>
                  </a:cubicBezTo>
                  <a:lnTo>
                    <a:pt x="6197600" y="508000"/>
                  </a:lnTo>
                  <a:cubicBezTo>
                    <a:pt x="6197600" y="564134"/>
                    <a:pt x="6152134" y="609600"/>
                    <a:pt x="6096000" y="609600"/>
                  </a:cubicBezTo>
                  <a:lnTo>
                    <a:pt x="101600" y="609600"/>
                  </a:lnTo>
                  <a:cubicBezTo>
                    <a:pt x="45466" y="609600"/>
                    <a:pt x="0" y="564134"/>
                    <a:pt x="0" y="508000"/>
                  </a:cubicBezTo>
                  <a:close/>
                </a:path>
              </a:pathLst>
            </a:custGeom>
            <a:solidFill>
              <a:srgbClr val="E5F4F5"/>
            </a:solidFill>
          </p:spPr>
        </p:sp>
      </p:grpSp>
      <p:grpSp>
        <p:nvGrpSpPr>
          <p:cNvPr name="Group 107" id="107"/>
          <p:cNvGrpSpPr/>
          <p:nvPr/>
        </p:nvGrpSpPr>
        <p:grpSpPr>
          <a:xfrm rot="0">
            <a:off x="12630150" y="8086725"/>
            <a:ext cx="4305300" cy="400050"/>
            <a:chOff x="0" y="0"/>
            <a:chExt cx="5740400" cy="533400"/>
          </a:xfrm>
        </p:grpSpPr>
        <p:sp>
          <p:nvSpPr>
            <p:cNvPr name="Freeform 108" id="108"/>
            <p:cNvSpPr/>
            <p:nvPr/>
          </p:nvSpPr>
          <p:spPr>
            <a:xfrm flipH="false" flipV="false" rot="0">
              <a:off x="0" y="0"/>
              <a:ext cx="5740400" cy="533400"/>
            </a:xfrm>
            <a:custGeom>
              <a:avLst/>
              <a:gdLst/>
              <a:ahLst/>
              <a:cxnLst/>
              <a:rect r="r" b="b" t="t" l="l"/>
              <a:pathLst>
                <a:path h="533400" w="5740400">
                  <a:moveTo>
                    <a:pt x="0" y="0"/>
                  </a:moveTo>
                  <a:lnTo>
                    <a:pt x="5740400" y="0"/>
                  </a:lnTo>
                  <a:lnTo>
                    <a:pt x="5740400" y="533400"/>
                  </a:lnTo>
                  <a:lnTo>
                    <a:pt x="0" y="533400"/>
                  </a:lnTo>
                  <a:close/>
                </a:path>
              </a:pathLst>
            </a:custGeom>
            <a:blipFill>
              <a:blip r:embed="rId3">
                <a:alphaModFix amt="0"/>
              </a:blip>
              <a:stretch>
                <a:fillRect l="0" t="-159696" r="0" b="-159696"/>
              </a:stretch>
            </a:blipFill>
          </p:spPr>
        </p:sp>
        <p:sp>
          <p:nvSpPr>
            <p:cNvPr name="TextBox 109" id="109"/>
            <p:cNvSpPr txBox="true"/>
            <p:nvPr/>
          </p:nvSpPr>
          <p:spPr>
            <a:xfrm>
              <a:off x="0" y="0"/>
              <a:ext cx="5740400" cy="533400"/>
            </a:xfrm>
            <a:prstGeom prst="rect">
              <a:avLst/>
            </a:prstGeom>
          </p:spPr>
          <p:txBody>
            <a:bodyPr anchor="ctr" rtlCol="false" tIns="0" lIns="0" bIns="0" rIns="0"/>
            <a:lstStyle/>
            <a:p>
              <a:pPr algn="l">
                <a:lnSpc>
                  <a:spcPts val="2520"/>
                </a:lnSpc>
              </a:pPr>
              <a:r>
                <a:rPr lang="en-US" sz="2100" b="true">
                  <a:solidFill>
                    <a:srgbClr val="153044"/>
                  </a:solidFill>
                  <a:latin typeface="Open Sans Bold"/>
                  <a:ea typeface="Open Sans Bold"/>
                  <a:cs typeface="Open Sans Bold"/>
                  <a:sym typeface="Open Sans Bold"/>
                </a:rPr>
                <a:t>Web: gestión y consulta</a:t>
              </a:r>
            </a:p>
          </p:txBody>
        </p:sp>
      </p:grpSp>
      <p:grpSp>
        <p:nvGrpSpPr>
          <p:cNvPr name="Group 110" id="110"/>
          <p:cNvGrpSpPr/>
          <p:nvPr/>
        </p:nvGrpSpPr>
        <p:grpSpPr>
          <a:xfrm rot="0">
            <a:off x="12630150" y="8677275"/>
            <a:ext cx="4305300" cy="400050"/>
            <a:chOff x="0" y="0"/>
            <a:chExt cx="5740400" cy="533400"/>
          </a:xfrm>
        </p:grpSpPr>
        <p:sp>
          <p:nvSpPr>
            <p:cNvPr name="Freeform 111" id="111"/>
            <p:cNvSpPr/>
            <p:nvPr/>
          </p:nvSpPr>
          <p:spPr>
            <a:xfrm flipH="false" flipV="false" rot="0">
              <a:off x="0" y="0"/>
              <a:ext cx="5740400" cy="533400"/>
            </a:xfrm>
            <a:custGeom>
              <a:avLst/>
              <a:gdLst/>
              <a:ahLst/>
              <a:cxnLst/>
              <a:rect r="r" b="b" t="t" l="l"/>
              <a:pathLst>
                <a:path h="533400" w="5740400">
                  <a:moveTo>
                    <a:pt x="0" y="0"/>
                  </a:moveTo>
                  <a:lnTo>
                    <a:pt x="5740400" y="0"/>
                  </a:lnTo>
                  <a:lnTo>
                    <a:pt x="5740400" y="533400"/>
                  </a:lnTo>
                  <a:lnTo>
                    <a:pt x="0" y="533400"/>
                  </a:lnTo>
                  <a:close/>
                </a:path>
              </a:pathLst>
            </a:custGeom>
            <a:blipFill>
              <a:blip r:embed="rId3">
                <a:alphaModFix amt="0"/>
              </a:blip>
              <a:stretch>
                <a:fillRect l="0" t="-159696" r="0" b="-159696"/>
              </a:stretch>
            </a:blipFill>
          </p:spPr>
        </p:sp>
        <p:sp>
          <p:nvSpPr>
            <p:cNvPr name="TextBox 112" id="112"/>
            <p:cNvSpPr txBox="true"/>
            <p:nvPr/>
          </p:nvSpPr>
          <p:spPr>
            <a:xfrm>
              <a:off x="0" y="0"/>
              <a:ext cx="5740400" cy="533400"/>
            </a:xfrm>
            <a:prstGeom prst="rect">
              <a:avLst/>
            </a:prstGeom>
          </p:spPr>
          <p:txBody>
            <a:bodyPr anchor="ctr" rtlCol="false" tIns="0" lIns="0" bIns="0" rIns="0"/>
            <a:lstStyle/>
            <a:p>
              <a:pPr algn="l">
                <a:lnSpc>
                  <a:spcPts val="2520"/>
                </a:lnSpc>
              </a:pPr>
              <a:r>
                <a:rPr lang="en-US" sz="2100" b="true">
                  <a:solidFill>
                    <a:srgbClr val="153044"/>
                  </a:solidFill>
                  <a:latin typeface="Open Sans Bold"/>
                  <a:ea typeface="Open Sans Bold"/>
                  <a:cs typeface="Open Sans Bold"/>
                  <a:sym typeface="Open Sans Bold"/>
                </a:rPr>
                <a:t>Mobile: operación en terreno</a:t>
              </a:r>
            </a:p>
          </p:txBody>
        </p:sp>
      </p:grpSp>
      <p:grpSp>
        <p:nvGrpSpPr>
          <p:cNvPr name="Group 113" id="113"/>
          <p:cNvGrpSpPr/>
          <p:nvPr/>
        </p:nvGrpSpPr>
        <p:grpSpPr>
          <a:xfrm rot="0">
            <a:off x="17011650" y="9591675"/>
            <a:ext cx="476250" cy="326515"/>
            <a:chOff x="0" y="0"/>
            <a:chExt cx="635000" cy="435353"/>
          </a:xfrm>
        </p:grpSpPr>
        <p:sp>
          <p:nvSpPr>
            <p:cNvPr name="Freeform 114" id="114"/>
            <p:cNvSpPr/>
            <p:nvPr/>
          </p:nvSpPr>
          <p:spPr>
            <a:xfrm flipH="false" flipV="false" rot="0">
              <a:off x="0" y="0"/>
              <a:ext cx="635000" cy="435353"/>
            </a:xfrm>
            <a:custGeom>
              <a:avLst/>
              <a:gdLst/>
              <a:ahLst/>
              <a:cxnLst/>
              <a:rect r="r" b="b" t="t" l="l"/>
              <a:pathLst>
                <a:path h="435353" w="635000">
                  <a:moveTo>
                    <a:pt x="0" y="0"/>
                  </a:moveTo>
                  <a:lnTo>
                    <a:pt x="635000" y="0"/>
                  </a:lnTo>
                  <a:lnTo>
                    <a:pt x="635000" y="435353"/>
                  </a:lnTo>
                  <a:lnTo>
                    <a:pt x="0" y="435353"/>
                  </a:lnTo>
                  <a:close/>
                </a:path>
              </a:pathLst>
            </a:custGeom>
            <a:blipFill>
              <a:blip r:embed="rId3">
                <a:alphaModFix amt="0"/>
              </a:blip>
              <a:stretch>
                <a:fillRect l="-32114" t="0" r="-32114" b="6650"/>
              </a:stretch>
            </a:blipFill>
          </p:spPr>
        </p:sp>
        <p:sp>
          <p:nvSpPr>
            <p:cNvPr name="TextBox 115" id="115"/>
            <p:cNvSpPr txBox="true"/>
            <p:nvPr/>
          </p:nvSpPr>
          <p:spPr>
            <a:xfrm>
              <a:off x="0" y="0"/>
              <a:ext cx="635000" cy="435353"/>
            </a:xfrm>
            <a:prstGeom prst="rect">
              <a:avLst/>
            </a:prstGeom>
          </p:spPr>
          <p:txBody>
            <a:bodyPr anchor="ctr" rtlCol="false" tIns="0" lIns="0" bIns="0" rIns="0"/>
            <a:lstStyle/>
            <a:p>
              <a:pPr algn="r">
                <a:lnSpc>
                  <a:spcPts val="1889"/>
                </a:lnSpc>
              </a:pPr>
              <a:r>
                <a:rPr lang="en-US" sz="1575">
                  <a:solidFill>
                    <a:srgbClr val="1766C8"/>
                  </a:solidFill>
                  <a:latin typeface="Open Sans"/>
                  <a:ea typeface="Open Sans"/>
                  <a:cs typeface="Open Sans"/>
                  <a:sym typeface="Open Sans"/>
                </a:rPr>
                <a:t>15</a:t>
              </a:r>
            </a:p>
          </p:txBody>
        </p:sp>
      </p:grpSp>
      <p:grpSp>
        <p:nvGrpSpPr>
          <p:cNvPr name="Group 116" id="116"/>
          <p:cNvGrpSpPr/>
          <p:nvPr/>
        </p:nvGrpSpPr>
        <p:grpSpPr>
          <a:xfrm rot="0">
            <a:off x="14360804" y="430782"/>
            <a:ext cx="3069946" cy="852936"/>
            <a:chOff x="0" y="0"/>
            <a:chExt cx="2799232" cy="777723"/>
          </a:xfrm>
        </p:grpSpPr>
        <p:sp>
          <p:nvSpPr>
            <p:cNvPr name="Freeform 117" id="117"/>
            <p:cNvSpPr/>
            <p:nvPr/>
          </p:nvSpPr>
          <p:spPr>
            <a:xfrm flipH="false" flipV="false" rot="0">
              <a:off x="0" y="0"/>
              <a:ext cx="2799207" cy="777748"/>
            </a:xfrm>
            <a:custGeom>
              <a:avLst/>
              <a:gdLst/>
              <a:ahLst/>
              <a:cxnLst/>
              <a:rect r="r" b="b" t="t" l="l"/>
              <a:pathLst>
                <a:path h="777748" w="2799207">
                  <a:moveTo>
                    <a:pt x="0" y="0"/>
                  </a:moveTo>
                  <a:lnTo>
                    <a:pt x="2799207" y="0"/>
                  </a:lnTo>
                  <a:lnTo>
                    <a:pt x="2799207" y="777748"/>
                  </a:lnTo>
                  <a:lnTo>
                    <a:pt x="0" y="777748"/>
                  </a:lnTo>
                  <a:lnTo>
                    <a:pt x="0" y="0"/>
                  </a:lnTo>
                  <a:close/>
                </a:path>
              </a:pathLst>
            </a:custGeom>
            <a:blipFill>
              <a:blip r:embed="rId4"/>
              <a:stretch>
                <a:fillRect l="0" t="0" r="0" b="3"/>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83" t="0" r="-283" b="0"/>
            </a:stretch>
          </a:blipFill>
        </p:spPr>
      </p:sp>
      <p:sp>
        <p:nvSpPr>
          <p:cNvPr name="TextBox 3" id="3"/>
          <p:cNvSpPr txBox="true"/>
          <p:nvPr/>
        </p:nvSpPr>
        <p:spPr>
          <a:xfrm rot="0">
            <a:off x="914400" y="731520"/>
            <a:ext cx="12230100" cy="937260"/>
          </a:xfrm>
          <a:prstGeom prst="rect">
            <a:avLst/>
          </a:prstGeom>
        </p:spPr>
        <p:txBody>
          <a:bodyPr anchor="t" rtlCol="false" tIns="0" lIns="0" bIns="0" rIns="0">
            <a:spAutoFit/>
          </a:bodyPr>
          <a:lstStyle/>
          <a:p>
            <a:pPr algn="l">
              <a:lnSpc>
                <a:spcPts val="6263"/>
              </a:lnSpc>
            </a:pPr>
            <a:r>
              <a:rPr lang="en-US" sz="5220" b="true">
                <a:solidFill>
                  <a:srgbClr val="FFFFFF"/>
                </a:solidFill>
                <a:latin typeface="Open Sans Bold"/>
                <a:ea typeface="Open Sans Bold"/>
                <a:cs typeface="Open Sans Bold"/>
                <a:sym typeface="Open Sans Bold"/>
              </a:rPr>
              <a:t>PMP Suite · MVP funcional</a:t>
            </a:r>
          </a:p>
        </p:txBody>
      </p:sp>
      <p:sp>
        <p:nvSpPr>
          <p:cNvPr name="TextBox 4" id="4"/>
          <p:cNvSpPr txBox="true"/>
          <p:nvPr/>
        </p:nvSpPr>
        <p:spPr>
          <a:xfrm rot="0">
            <a:off x="937260" y="1817370"/>
            <a:ext cx="11715750" cy="525780"/>
          </a:xfrm>
          <a:prstGeom prst="rect">
            <a:avLst/>
          </a:prstGeom>
        </p:spPr>
        <p:txBody>
          <a:bodyPr anchor="t" rtlCol="false" tIns="0" lIns="0" bIns="0" rIns="0">
            <a:spAutoFit/>
          </a:bodyPr>
          <a:lstStyle/>
          <a:p>
            <a:pPr algn="l">
              <a:lnSpc>
                <a:spcPts val="3348"/>
              </a:lnSpc>
            </a:pPr>
            <a:r>
              <a:rPr lang="en-US" sz="2790" b="true">
                <a:solidFill>
                  <a:srgbClr val="56DBD6"/>
                </a:solidFill>
                <a:latin typeface="Open Sans Bold"/>
                <a:ea typeface="Open Sans Bold"/>
                <a:cs typeface="Open Sans Bold"/>
                <a:sym typeface="Open Sans Bold"/>
              </a:rPr>
              <a:t>Interfaces web y móvil del sistema</a:t>
            </a:r>
          </a:p>
        </p:txBody>
      </p:sp>
      <p:sp>
        <p:nvSpPr>
          <p:cNvPr name="TextBox 5" id="5"/>
          <p:cNvSpPr txBox="true"/>
          <p:nvPr/>
        </p:nvSpPr>
        <p:spPr>
          <a:xfrm rot="0">
            <a:off x="16687800" y="9641205"/>
            <a:ext cx="685800" cy="337185"/>
          </a:xfrm>
          <a:prstGeom prst="rect">
            <a:avLst/>
          </a:prstGeom>
        </p:spPr>
        <p:txBody>
          <a:bodyPr anchor="t" rtlCol="false" tIns="0" lIns="0" bIns="0" rIns="0">
            <a:spAutoFit/>
          </a:bodyPr>
          <a:lstStyle/>
          <a:p>
            <a:pPr algn="r">
              <a:lnSpc>
                <a:spcPts val="2484"/>
              </a:lnSpc>
            </a:pPr>
            <a:r>
              <a:rPr lang="en-US" sz="2070">
                <a:solidFill>
                  <a:srgbClr val="56DBD6"/>
                </a:solidFill>
                <a:latin typeface="Open Sans"/>
                <a:ea typeface="Open Sans"/>
                <a:cs typeface="Open Sans"/>
                <a:sym typeface="Open Sans"/>
              </a:rPr>
              <a:t>16</a:t>
            </a:r>
          </a:p>
        </p:txBody>
      </p:sp>
      <p:grpSp>
        <p:nvGrpSpPr>
          <p:cNvPr name="Group 6" id="6"/>
          <p:cNvGrpSpPr/>
          <p:nvPr/>
        </p:nvGrpSpPr>
        <p:grpSpPr>
          <a:xfrm rot="0">
            <a:off x="2315508" y="2720959"/>
            <a:ext cx="6070568" cy="4071309"/>
            <a:chOff x="0" y="0"/>
            <a:chExt cx="8094091" cy="5428412"/>
          </a:xfrm>
        </p:grpSpPr>
        <p:sp>
          <p:nvSpPr>
            <p:cNvPr name="Freeform 7" id="7"/>
            <p:cNvSpPr/>
            <p:nvPr/>
          </p:nvSpPr>
          <p:spPr>
            <a:xfrm flipH="false" flipV="false" rot="0">
              <a:off x="0" y="0"/>
              <a:ext cx="8094091" cy="5428361"/>
            </a:xfrm>
            <a:custGeom>
              <a:avLst/>
              <a:gdLst/>
              <a:ahLst/>
              <a:cxnLst/>
              <a:rect r="r" b="b" t="t" l="l"/>
              <a:pathLst>
                <a:path h="5428361" w="8094091">
                  <a:moveTo>
                    <a:pt x="7808849" y="0"/>
                  </a:moveTo>
                  <a:lnTo>
                    <a:pt x="283591" y="0"/>
                  </a:lnTo>
                  <a:cubicBezTo>
                    <a:pt x="127381" y="0"/>
                    <a:pt x="0" y="127381"/>
                    <a:pt x="0" y="283591"/>
                  </a:cubicBezTo>
                  <a:lnTo>
                    <a:pt x="0" y="5428361"/>
                  </a:lnTo>
                  <a:lnTo>
                    <a:pt x="8094091" y="5428361"/>
                  </a:lnTo>
                  <a:lnTo>
                    <a:pt x="8094091" y="283591"/>
                  </a:lnTo>
                  <a:cubicBezTo>
                    <a:pt x="8092440" y="127381"/>
                    <a:pt x="7965059" y="0"/>
                    <a:pt x="7808849" y="0"/>
                  </a:cubicBezTo>
                  <a:close/>
                  <a:moveTo>
                    <a:pt x="7843901" y="5073142"/>
                  </a:moveTo>
                  <a:lnTo>
                    <a:pt x="246888" y="5073142"/>
                  </a:lnTo>
                  <a:lnTo>
                    <a:pt x="246888" y="320294"/>
                  </a:lnTo>
                  <a:lnTo>
                    <a:pt x="7843901" y="320294"/>
                  </a:lnTo>
                  <a:lnTo>
                    <a:pt x="7843901" y="5073142"/>
                  </a:lnTo>
                  <a:close/>
                </a:path>
              </a:pathLst>
            </a:custGeom>
            <a:solidFill>
              <a:srgbClr val="000000"/>
            </a:solidFill>
          </p:spPr>
        </p:sp>
      </p:grpSp>
      <p:sp>
        <p:nvSpPr>
          <p:cNvPr name="Freeform 8" id="8"/>
          <p:cNvSpPr/>
          <p:nvPr/>
        </p:nvSpPr>
        <p:spPr>
          <a:xfrm flipH="false" flipV="false" rot="0">
            <a:off x="1594933" y="2700642"/>
            <a:ext cx="7510539" cy="4274496"/>
          </a:xfrm>
          <a:custGeom>
            <a:avLst/>
            <a:gdLst/>
            <a:ahLst/>
            <a:cxnLst/>
            <a:rect r="r" b="b" t="t" l="l"/>
            <a:pathLst>
              <a:path h="4274496" w="7510539">
                <a:moveTo>
                  <a:pt x="0" y="0"/>
                </a:moveTo>
                <a:lnTo>
                  <a:pt x="7510538" y="0"/>
                </a:lnTo>
                <a:lnTo>
                  <a:pt x="7510538" y="4274496"/>
                </a:lnTo>
                <a:lnTo>
                  <a:pt x="0" y="4274496"/>
                </a:lnTo>
                <a:lnTo>
                  <a:pt x="0" y="0"/>
                </a:lnTo>
                <a:close/>
              </a:path>
            </a:pathLst>
          </a:custGeom>
          <a:blipFill>
            <a:blip r:embed="rId4">
              <a:extLst>
                <a:ext uri="{96DAC541-7B7A-43D3-8B79-37D633B846F1}">
                  <asvg:svgBlip xmlns:asvg="http://schemas.microsoft.com/office/drawing/2016/SVG/main" r:embed="rId5"/>
                </a:ext>
              </a:extLst>
            </a:blip>
            <a:stretch>
              <a:fillRect l="-5" t="0" r="-5" b="0"/>
            </a:stretch>
          </a:blipFill>
        </p:spPr>
      </p:sp>
      <p:grpSp>
        <p:nvGrpSpPr>
          <p:cNvPr name="Group 9" id="9"/>
          <p:cNvGrpSpPr/>
          <p:nvPr/>
        </p:nvGrpSpPr>
        <p:grpSpPr>
          <a:xfrm rot="0">
            <a:off x="4851292" y="6793497"/>
            <a:ext cx="996658" cy="90840"/>
            <a:chOff x="0" y="0"/>
            <a:chExt cx="1328877" cy="121120"/>
          </a:xfrm>
        </p:grpSpPr>
        <p:sp>
          <p:nvSpPr>
            <p:cNvPr name="Freeform 10" id="10"/>
            <p:cNvSpPr/>
            <p:nvPr/>
          </p:nvSpPr>
          <p:spPr>
            <a:xfrm flipH="false" flipV="false" rot="0">
              <a:off x="0" y="0"/>
              <a:ext cx="1328928" cy="121158"/>
            </a:xfrm>
            <a:custGeom>
              <a:avLst/>
              <a:gdLst/>
              <a:ahLst/>
              <a:cxnLst/>
              <a:rect r="r" b="b" t="t" l="l"/>
              <a:pathLst>
                <a:path h="121158" w="1328928">
                  <a:moveTo>
                    <a:pt x="121158" y="121158"/>
                  </a:moveTo>
                  <a:lnTo>
                    <a:pt x="1209421" y="121158"/>
                  </a:lnTo>
                  <a:cubicBezTo>
                    <a:pt x="1276350" y="121158"/>
                    <a:pt x="1328928" y="67056"/>
                    <a:pt x="1328928" y="1651"/>
                  </a:cubicBezTo>
                  <a:lnTo>
                    <a:pt x="1328928" y="0"/>
                  </a:lnTo>
                  <a:lnTo>
                    <a:pt x="0" y="0"/>
                  </a:lnTo>
                  <a:lnTo>
                    <a:pt x="0" y="1651"/>
                  </a:lnTo>
                  <a:cubicBezTo>
                    <a:pt x="0" y="66929"/>
                    <a:pt x="54102" y="121158"/>
                    <a:pt x="121158" y="121158"/>
                  </a:cubicBezTo>
                  <a:close/>
                </a:path>
              </a:pathLst>
            </a:custGeom>
            <a:solidFill>
              <a:srgbClr val="727171"/>
            </a:solidFill>
          </p:spPr>
        </p:sp>
      </p:grpSp>
      <p:grpSp>
        <p:nvGrpSpPr>
          <p:cNvPr name="Group 11" id="11"/>
          <p:cNvGrpSpPr/>
          <p:nvPr/>
        </p:nvGrpSpPr>
        <p:grpSpPr>
          <a:xfrm rot="0">
            <a:off x="1749085" y="6975138"/>
            <a:ext cx="7202195" cy="33452"/>
            <a:chOff x="0" y="0"/>
            <a:chExt cx="9602927" cy="44602"/>
          </a:xfrm>
        </p:grpSpPr>
        <p:sp>
          <p:nvSpPr>
            <p:cNvPr name="Freeform 12" id="12"/>
            <p:cNvSpPr/>
            <p:nvPr/>
          </p:nvSpPr>
          <p:spPr>
            <a:xfrm flipH="false" flipV="false" rot="0">
              <a:off x="0" y="0"/>
              <a:ext cx="9602851" cy="44577"/>
            </a:xfrm>
            <a:custGeom>
              <a:avLst/>
              <a:gdLst/>
              <a:ahLst/>
              <a:cxnLst/>
              <a:rect r="r" b="b" t="t" l="l"/>
              <a:pathLst>
                <a:path h="44577" w="9602851">
                  <a:moveTo>
                    <a:pt x="0" y="0"/>
                  </a:moveTo>
                  <a:cubicBezTo>
                    <a:pt x="0" y="25527"/>
                    <a:pt x="20701" y="44577"/>
                    <a:pt x="44577" y="44577"/>
                  </a:cubicBezTo>
                  <a:lnTo>
                    <a:pt x="9558274" y="44577"/>
                  </a:lnTo>
                  <a:cubicBezTo>
                    <a:pt x="9583801" y="44577"/>
                    <a:pt x="9602851" y="23876"/>
                    <a:pt x="9602851" y="0"/>
                  </a:cubicBezTo>
                  <a:lnTo>
                    <a:pt x="0" y="0"/>
                  </a:lnTo>
                  <a:close/>
                </a:path>
              </a:pathLst>
            </a:custGeom>
            <a:solidFill>
              <a:srgbClr val="727171"/>
            </a:solidFill>
          </p:spPr>
        </p:sp>
      </p:grpSp>
      <p:grpSp>
        <p:nvGrpSpPr>
          <p:cNvPr name="Group 13" id="13"/>
          <p:cNvGrpSpPr/>
          <p:nvPr/>
        </p:nvGrpSpPr>
        <p:grpSpPr>
          <a:xfrm rot="0">
            <a:off x="2500741" y="2961142"/>
            <a:ext cx="5697760" cy="3565893"/>
            <a:chOff x="0" y="0"/>
            <a:chExt cx="7597013" cy="4754524"/>
          </a:xfrm>
        </p:grpSpPr>
        <p:sp>
          <p:nvSpPr>
            <p:cNvPr name="Freeform 14" id="14"/>
            <p:cNvSpPr/>
            <p:nvPr/>
          </p:nvSpPr>
          <p:spPr>
            <a:xfrm flipH="false" flipV="false" rot="0">
              <a:off x="0" y="0"/>
              <a:ext cx="7597013" cy="4754499"/>
            </a:xfrm>
            <a:custGeom>
              <a:avLst/>
              <a:gdLst/>
              <a:ahLst/>
              <a:cxnLst/>
              <a:rect r="r" b="b" t="t" l="l"/>
              <a:pathLst>
                <a:path h="4754499" w="7597013">
                  <a:moveTo>
                    <a:pt x="0" y="0"/>
                  </a:moveTo>
                  <a:lnTo>
                    <a:pt x="7597013" y="0"/>
                  </a:lnTo>
                  <a:lnTo>
                    <a:pt x="7597013" y="4754499"/>
                  </a:lnTo>
                  <a:lnTo>
                    <a:pt x="0" y="4754499"/>
                  </a:lnTo>
                  <a:close/>
                </a:path>
              </a:pathLst>
            </a:custGeom>
            <a:blipFill>
              <a:blip r:embed="rId6"/>
              <a:stretch>
                <a:fillRect l="-18632" t="0" r="-18632" b="0"/>
              </a:stretch>
            </a:blipFill>
          </p:spPr>
        </p:sp>
      </p:grpSp>
      <p:grpSp>
        <p:nvGrpSpPr>
          <p:cNvPr name="Group 15" id="15"/>
          <p:cNvGrpSpPr/>
          <p:nvPr/>
        </p:nvGrpSpPr>
        <p:grpSpPr>
          <a:xfrm rot="0">
            <a:off x="1003040" y="4273182"/>
            <a:ext cx="1978133" cy="4140622"/>
            <a:chOff x="0" y="0"/>
            <a:chExt cx="2637511" cy="5520830"/>
          </a:xfrm>
        </p:grpSpPr>
        <p:sp>
          <p:nvSpPr>
            <p:cNvPr name="Freeform 16" id="16"/>
            <p:cNvSpPr/>
            <p:nvPr/>
          </p:nvSpPr>
          <p:spPr>
            <a:xfrm flipH="false" flipV="false" rot="0">
              <a:off x="0" y="0"/>
              <a:ext cx="2637536" cy="5520817"/>
            </a:xfrm>
            <a:custGeom>
              <a:avLst/>
              <a:gdLst/>
              <a:ahLst/>
              <a:cxnLst/>
              <a:rect r="r" b="b" t="t" l="l"/>
              <a:pathLst>
                <a:path h="5520817" w="2637536">
                  <a:moveTo>
                    <a:pt x="0" y="386715"/>
                  </a:moveTo>
                  <a:cubicBezTo>
                    <a:pt x="0" y="173101"/>
                    <a:pt x="173101" y="0"/>
                    <a:pt x="386715" y="0"/>
                  </a:cubicBezTo>
                  <a:lnTo>
                    <a:pt x="2250821" y="0"/>
                  </a:lnTo>
                  <a:cubicBezTo>
                    <a:pt x="2464435" y="0"/>
                    <a:pt x="2637536" y="173101"/>
                    <a:pt x="2637536" y="386715"/>
                  </a:cubicBezTo>
                  <a:lnTo>
                    <a:pt x="2637536" y="5134102"/>
                  </a:lnTo>
                  <a:cubicBezTo>
                    <a:pt x="2637536" y="5347716"/>
                    <a:pt x="2464435" y="5520817"/>
                    <a:pt x="2250821" y="5520817"/>
                  </a:cubicBezTo>
                  <a:lnTo>
                    <a:pt x="386715" y="5520817"/>
                  </a:lnTo>
                  <a:cubicBezTo>
                    <a:pt x="173101" y="5520817"/>
                    <a:pt x="0" y="5347716"/>
                    <a:pt x="0" y="5134102"/>
                  </a:cubicBezTo>
                  <a:close/>
                </a:path>
              </a:pathLst>
            </a:custGeom>
            <a:solidFill>
              <a:srgbClr val="F6F7FB"/>
            </a:solidFill>
          </p:spPr>
        </p:sp>
      </p:grpSp>
      <p:grpSp>
        <p:nvGrpSpPr>
          <p:cNvPr name="Group 17" id="17"/>
          <p:cNvGrpSpPr/>
          <p:nvPr/>
        </p:nvGrpSpPr>
        <p:grpSpPr>
          <a:xfrm rot="0">
            <a:off x="1015117" y="4487075"/>
            <a:ext cx="1949929" cy="3686766"/>
            <a:chOff x="0" y="0"/>
            <a:chExt cx="2599906" cy="4915687"/>
          </a:xfrm>
        </p:grpSpPr>
        <p:sp>
          <p:nvSpPr>
            <p:cNvPr name="Freeform 18" id="18"/>
            <p:cNvSpPr/>
            <p:nvPr/>
          </p:nvSpPr>
          <p:spPr>
            <a:xfrm flipH="false" flipV="false" rot="0">
              <a:off x="0" y="0"/>
              <a:ext cx="2599944" cy="4915662"/>
            </a:xfrm>
            <a:custGeom>
              <a:avLst/>
              <a:gdLst/>
              <a:ahLst/>
              <a:cxnLst/>
              <a:rect r="r" b="b" t="t" l="l"/>
              <a:pathLst>
                <a:path h="4915662" w="2599944">
                  <a:moveTo>
                    <a:pt x="0" y="0"/>
                  </a:moveTo>
                  <a:lnTo>
                    <a:pt x="2599944" y="0"/>
                  </a:lnTo>
                  <a:lnTo>
                    <a:pt x="2599944" y="4915662"/>
                  </a:lnTo>
                  <a:lnTo>
                    <a:pt x="0" y="4915662"/>
                  </a:lnTo>
                  <a:lnTo>
                    <a:pt x="0" y="0"/>
                  </a:lnTo>
                  <a:close/>
                </a:path>
              </a:pathLst>
            </a:custGeom>
            <a:blipFill>
              <a:blip r:embed="rId7"/>
              <a:stretch>
                <a:fillRect l="-74" t="0" r="-73" b="0"/>
              </a:stretch>
            </a:blipFill>
          </p:spPr>
        </p:sp>
      </p:grpSp>
      <p:grpSp>
        <p:nvGrpSpPr>
          <p:cNvPr name="Group 19" id="19"/>
          <p:cNvGrpSpPr/>
          <p:nvPr/>
        </p:nvGrpSpPr>
        <p:grpSpPr>
          <a:xfrm rot="0">
            <a:off x="914400" y="4192467"/>
            <a:ext cx="3251264" cy="5202031"/>
            <a:chOff x="0" y="0"/>
            <a:chExt cx="4335018" cy="6936042"/>
          </a:xfrm>
        </p:grpSpPr>
        <p:sp>
          <p:nvSpPr>
            <p:cNvPr name="Freeform 20" id="20"/>
            <p:cNvSpPr/>
            <p:nvPr/>
          </p:nvSpPr>
          <p:spPr>
            <a:xfrm flipH="false" flipV="false" rot="0">
              <a:off x="0" y="0"/>
              <a:ext cx="4335018" cy="6936105"/>
            </a:xfrm>
            <a:custGeom>
              <a:avLst/>
              <a:gdLst/>
              <a:ahLst/>
              <a:cxnLst/>
              <a:rect r="r" b="b" t="t" l="l"/>
              <a:pathLst>
                <a:path h="6936105" w="4335018">
                  <a:moveTo>
                    <a:pt x="0" y="0"/>
                  </a:moveTo>
                  <a:lnTo>
                    <a:pt x="4335018" y="0"/>
                  </a:lnTo>
                  <a:lnTo>
                    <a:pt x="4335018" y="6936105"/>
                  </a:lnTo>
                  <a:lnTo>
                    <a:pt x="0" y="6936105"/>
                  </a:lnTo>
                  <a:lnTo>
                    <a:pt x="0" y="0"/>
                  </a:lnTo>
                  <a:close/>
                </a:path>
              </a:pathLst>
            </a:custGeom>
            <a:blipFill>
              <a:blip r:embed="rId8"/>
              <a:stretch>
                <a:fillRect l="-129" t="0" r="-129" b="0"/>
              </a:stretch>
            </a:blipFill>
          </p:spPr>
        </p:sp>
      </p:grpSp>
      <p:sp>
        <p:nvSpPr>
          <p:cNvPr name="TextBox 21" id="21"/>
          <p:cNvSpPr txBox="true"/>
          <p:nvPr/>
        </p:nvSpPr>
        <p:spPr>
          <a:xfrm rot="0">
            <a:off x="10191750" y="2609850"/>
            <a:ext cx="7239000" cy="419100"/>
          </a:xfrm>
          <a:prstGeom prst="rect">
            <a:avLst/>
          </a:prstGeom>
        </p:spPr>
        <p:txBody>
          <a:bodyPr anchor="t" rtlCol="false" tIns="0" lIns="0" bIns="0" rIns="0">
            <a:spAutoFit/>
          </a:bodyPr>
          <a:lstStyle/>
          <a:p>
            <a:pPr algn="l">
              <a:lnSpc>
                <a:spcPts val="2070"/>
              </a:lnSpc>
            </a:pPr>
            <a:r>
              <a:rPr lang="en-US" sz="1725">
                <a:solidFill>
                  <a:srgbClr val="ADC0CC"/>
                </a:solidFill>
                <a:latin typeface="Calibri (MS)"/>
                <a:ea typeface="Calibri (MS)"/>
                <a:cs typeface="Calibri (MS)"/>
                <a:sym typeface="Calibri (MS)"/>
              </a:rPr>
              <a:t>Selecciona una sección para conocer sus funciones.</a:t>
            </a:r>
          </a:p>
        </p:txBody>
      </p:sp>
      <p:grpSp>
        <p:nvGrpSpPr>
          <p:cNvPr name="Group 22" id="22"/>
          <p:cNvGrpSpPr/>
          <p:nvPr/>
        </p:nvGrpSpPr>
        <p:grpSpPr>
          <a:xfrm rot="0">
            <a:off x="10186988" y="3138488"/>
            <a:ext cx="7153275" cy="1819275"/>
            <a:chOff x="0" y="0"/>
            <a:chExt cx="9537700" cy="2425700"/>
          </a:xfrm>
        </p:grpSpPr>
        <p:sp>
          <p:nvSpPr>
            <p:cNvPr name="Freeform 23" id="23"/>
            <p:cNvSpPr/>
            <p:nvPr/>
          </p:nvSpPr>
          <p:spPr>
            <a:xfrm flipH="false" flipV="false" rot="0">
              <a:off x="0" y="0"/>
              <a:ext cx="9537700" cy="2425700"/>
            </a:xfrm>
            <a:custGeom>
              <a:avLst/>
              <a:gdLst/>
              <a:ahLst/>
              <a:cxnLst/>
              <a:rect r="r" b="b" t="t" l="l"/>
              <a:pathLst>
                <a:path h="2425700" w="9537700">
                  <a:moveTo>
                    <a:pt x="0" y="153162"/>
                  </a:moveTo>
                  <a:cubicBezTo>
                    <a:pt x="0" y="68580"/>
                    <a:pt x="68580" y="0"/>
                    <a:pt x="153162" y="0"/>
                  </a:cubicBezTo>
                  <a:lnTo>
                    <a:pt x="9384538" y="0"/>
                  </a:lnTo>
                  <a:cubicBezTo>
                    <a:pt x="9469120" y="0"/>
                    <a:pt x="9537700" y="68580"/>
                    <a:pt x="9537700" y="153162"/>
                  </a:cubicBezTo>
                  <a:lnTo>
                    <a:pt x="9537700" y="2272538"/>
                  </a:lnTo>
                  <a:cubicBezTo>
                    <a:pt x="9537700" y="2357120"/>
                    <a:pt x="9469120" y="2425700"/>
                    <a:pt x="9384538" y="2425700"/>
                  </a:cubicBezTo>
                  <a:lnTo>
                    <a:pt x="153162" y="2425700"/>
                  </a:lnTo>
                  <a:cubicBezTo>
                    <a:pt x="68580" y="2425700"/>
                    <a:pt x="0" y="2357120"/>
                    <a:pt x="0" y="2272538"/>
                  </a:cubicBezTo>
                  <a:close/>
                </a:path>
              </a:pathLst>
            </a:custGeom>
            <a:solidFill>
              <a:srgbClr val="132B3B"/>
            </a:solidFill>
            <a:ln w="9525" cap="sq">
              <a:solidFill>
                <a:srgbClr val="294757"/>
              </a:solidFill>
              <a:prstDash val="solid"/>
              <a:miter/>
            </a:ln>
          </p:spPr>
        </p:sp>
      </p:grpSp>
      <p:sp>
        <p:nvSpPr>
          <p:cNvPr name="TextBox 24" id="24"/>
          <p:cNvSpPr txBox="true"/>
          <p:nvPr/>
        </p:nvSpPr>
        <p:spPr>
          <a:xfrm rot="0">
            <a:off x="10439400" y="3257550"/>
            <a:ext cx="6572250" cy="466725"/>
          </a:xfrm>
          <a:prstGeom prst="rect">
            <a:avLst/>
          </a:prstGeom>
        </p:spPr>
        <p:txBody>
          <a:bodyPr anchor="t" rtlCol="false" tIns="0" lIns="0" bIns="0" rIns="0">
            <a:spAutoFit/>
          </a:bodyPr>
          <a:lstStyle/>
          <a:p>
            <a:pPr algn="l">
              <a:lnSpc>
                <a:spcPts val="2879"/>
              </a:lnSpc>
            </a:pPr>
            <a:r>
              <a:rPr lang="en-US" sz="2400" b="true">
                <a:solidFill>
                  <a:srgbClr val="56DBD6"/>
                </a:solidFill>
                <a:latin typeface="Calibri (MS) Bold"/>
                <a:ea typeface="Calibri (MS) Bold"/>
                <a:cs typeface="Calibri (MS) Bold"/>
                <a:sym typeface="Calibri (MS) Bold"/>
              </a:rPr>
              <a:t>01 · Web y gestión</a:t>
            </a:r>
          </a:p>
        </p:txBody>
      </p:sp>
      <p:sp>
        <p:nvSpPr>
          <p:cNvPr name="TextBox 25" id="25"/>
          <p:cNvSpPr txBox="true"/>
          <p:nvPr/>
        </p:nvSpPr>
        <p:spPr>
          <a:xfrm rot="0">
            <a:off x="10439400" y="3743325"/>
            <a:ext cx="6572250" cy="723900"/>
          </a:xfrm>
          <a:prstGeom prst="rect">
            <a:avLst/>
          </a:prstGeom>
        </p:spPr>
        <p:txBody>
          <a:bodyPr anchor="t" rtlCol="false" tIns="0" lIns="0" bIns="0" rIns="0">
            <a:spAutoFit/>
          </a:bodyPr>
          <a:lstStyle/>
          <a:p>
            <a:pPr algn="l">
              <a:lnSpc>
                <a:spcPts val="2430"/>
              </a:lnSpc>
            </a:pPr>
            <a:r>
              <a:rPr lang="en-US" sz="2025">
                <a:solidFill>
                  <a:srgbClr val="DFE9F0"/>
                </a:solidFill>
                <a:latin typeface="Calibri (MS)"/>
                <a:ea typeface="Calibri (MS)"/>
                <a:cs typeface="Calibri (MS)"/>
                <a:sym typeface="Calibri (MS)"/>
              </a:rPr>
              <a:t>Inventario, estado y custodia de activos.</a:t>
            </a:r>
          </a:p>
          <a:p>
            <a:pPr algn="l">
              <a:lnSpc>
                <a:spcPts val="2430"/>
              </a:lnSpc>
            </a:pPr>
            <a:r>
              <a:rPr lang="en-US" sz="2025">
                <a:solidFill>
                  <a:srgbClr val="DFE9F0"/>
                </a:solidFill>
                <a:latin typeface="Calibri (MS)"/>
                <a:ea typeface="Calibri (MS)"/>
                <a:cs typeface="Calibri (MS)"/>
                <a:sym typeface="Calibri (MS)"/>
              </a:rPr>
              <a:t>Órdenes, recepciones y despachos.</a:t>
            </a:r>
          </a:p>
        </p:txBody>
      </p:sp>
      <p:sp>
        <p:nvSpPr>
          <p:cNvPr name="TextBox 26" id="26"/>
          <p:cNvSpPr txBox="true"/>
          <p:nvPr/>
        </p:nvSpPr>
        <p:spPr>
          <a:xfrm rot="0">
            <a:off x="10439400" y="4486275"/>
            <a:ext cx="6191250" cy="371475"/>
          </a:xfrm>
          <a:prstGeom prst="rect">
            <a:avLst/>
          </a:prstGeom>
        </p:spPr>
        <p:txBody>
          <a:bodyPr anchor="t" rtlCol="false" tIns="0" lIns="0" bIns="0" rIns="0">
            <a:spAutoFit/>
          </a:bodyPr>
          <a:lstStyle/>
          <a:p>
            <a:pPr algn="l">
              <a:lnSpc>
                <a:spcPts val="2160"/>
              </a:lnSpc>
            </a:pPr>
            <a:r>
              <a:rPr lang="en-US" sz="1800" b="true">
                <a:solidFill>
                  <a:srgbClr val="56DBD6"/>
                </a:solidFill>
                <a:latin typeface="Calibri (MS) Bold"/>
                <a:ea typeface="Calibri (MS) Bold"/>
                <a:cs typeface="Calibri (MS) Bold"/>
                <a:sym typeface="Calibri (MS) Bold"/>
              </a:rPr>
              <a:t>Explorar Web  →</a:t>
            </a:r>
          </a:p>
        </p:txBody>
      </p:sp>
      <p:grpSp>
        <p:nvGrpSpPr>
          <p:cNvPr name="Group 27" id="27"/>
          <p:cNvGrpSpPr/>
          <p:nvPr/>
        </p:nvGrpSpPr>
        <p:grpSpPr>
          <a:xfrm rot="0">
            <a:off x="10186988" y="5148262"/>
            <a:ext cx="7153275" cy="1819275"/>
            <a:chOff x="0" y="0"/>
            <a:chExt cx="9537700" cy="2425700"/>
          </a:xfrm>
        </p:grpSpPr>
        <p:sp>
          <p:nvSpPr>
            <p:cNvPr name="Freeform 28" id="28"/>
            <p:cNvSpPr/>
            <p:nvPr/>
          </p:nvSpPr>
          <p:spPr>
            <a:xfrm flipH="false" flipV="false" rot="0">
              <a:off x="0" y="0"/>
              <a:ext cx="9537700" cy="2425700"/>
            </a:xfrm>
            <a:custGeom>
              <a:avLst/>
              <a:gdLst/>
              <a:ahLst/>
              <a:cxnLst/>
              <a:rect r="r" b="b" t="t" l="l"/>
              <a:pathLst>
                <a:path h="2425700" w="9537700">
                  <a:moveTo>
                    <a:pt x="0" y="153162"/>
                  </a:moveTo>
                  <a:cubicBezTo>
                    <a:pt x="0" y="68580"/>
                    <a:pt x="68580" y="0"/>
                    <a:pt x="153162" y="0"/>
                  </a:cubicBezTo>
                  <a:lnTo>
                    <a:pt x="9384538" y="0"/>
                  </a:lnTo>
                  <a:cubicBezTo>
                    <a:pt x="9469120" y="0"/>
                    <a:pt x="9537700" y="68580"/>
                    <a:pt x="9537700" y="153162"/>
                  </a:cubicBezTo>
                  <a:lnTo>
                    <a:pt x="9537700" y="2272538"/>
                  </a:lnTo>
                  <a:cubicBezTo>
                    <a:pt x="9537700" y="2357120"/>
                    <a:pt x="9469120" y="2425700"/>
                    <a:pt x="9384538" y="2425700"/>
                  </a:cubicBezTo>
                  <a:lnTo>
                    <a:pt x="153162" y="2425700"/>
                  </a:lnTo>
                  <a:cubicBezTo>
                    <a:pt x="68580" y="2425700"/>
                    <a:pt x="0" y="2357120"/>
                    <a:pt x="0" y="2272538"/>
                  </a:cubicBezTo>
                  <a:close/>
                </a:path>
              </a:pathLst>
            </a:custGeom>
            <a:solidFill>
              <a:srgbClr val="132B3B"/>
            </a:solidFill>
            <a:ln w="9525" cap="sq">
              <a:solidFill>
                <a:srgbClr val="294757"/>
              </a:solidFill>
              <a:prstDash val="solid"/>
              <a:miter/>
            </a:ln>
          </p:spPr>
        </p:sp>
      </p:grpSp>
      <p:sp>
        <p:nvSpPr>
          <p:cNvPr name="TextBox 29" id="29"/>
          <p:cNvSpPr txBox="true"/>
          <p:nvPr/>
        </p:nvSpPr>
        <p:spPr>
          <a:xfrm rot="0">
            <a:off x="10439400" y="5267325"/>
            <a:ext cx="6572250" cy="466725"/>
          </a:xfrm>
          <a:prstGeom prst="rect">
            <a:avLst/>
          </a:prstGeom>
        </p:spPr>
        <p:txBody>
          <a:bodyPr anchor="t" rtlCol="false" tIns="0" lIns="0" bIns="0" rIns="0">
            <a:spAutoFit/>
          </a:bodyPr>
          <a:lstStyle/>
          <a:p>
            <a:pPr algn="l">
              <a:lnSpc>
                <a:spcPts val="2879"/>
              </a:lnSpc>
            </a:pPr>
            <a:r>
              <a:rPr lang="en-US" sz="2400" b="true">
                <a:solidFill>
                  <a:srgbClr val="56DBD6"/>
                </a:solidFill>
                <a:latin typeface="Calibri (MS) Bold"/>
                <a:ea typeface="Calibri (MS) Bold"/>
                <a:cs typeface="Calibri (MS) Bold"/>
                <a:sym typeface="Calibri (MS) Bold"/>
              </a:rPr>
              <a:t>02 · Móvil en terreno</a:t>
            </a:r>
          </a:p>
        </p:txBody>
      </p:sp>
      <p:sp>
        <p:nvSpPr>
          <p:cNvPr name="TextBox 30" id="30"/>
          <p:cNvSpPr txBox="true"/>
          <p:nvPr/>
        </p:nvSpPr>
        <p:spPr>
          <a:xfrm rot="0">
            <a:off x="10439400" y="5753100"/>
            <a:ext cx="6572250" cy="723900"/>
          </a:xfrm>
          <a:prstGeom prst="rect">
            <a:avLst/>
          </a:prstGeom>
        </p:spPr>
        <p:txBody>
          <a:bodyPr anchor="t" rtlCol="false" tIns="0" lIns="0" bIns="0" rIns="0">
            <a:spAutoFit/>
          </a:bodyPr>
          <a:lstStyle/>
          <a:p>
            <a:pPr algn="l">
              <a:lnSpc>
                <a:spcPts val="2430"/>
              </a:lnSpc>
            </a:pPr>
            <a:r>
              <a:rPr lang="en-US" sz="2025">
                <a:solidFill>
                  <a:srgbClr val="DFE9F0"/>
                </a:solidFill>
                <a:latin typeface="Calibri (MS)"/>
                <a:ea typeface="Calibri (MS)"/>
                <a:cs typeface="Calibri (MS)"/>
                <a:sym typeface="Calibri (MS)"/>
              </a:rPr>
              <a:t>Tareas, reporte de fallas e historial.</a:t>
            </a:r>
          </a:p>
          <a:p>
            <a:pPr algn="l">
              <a:lnSpc>
                <a:spcPts val="2430"/>
              </a:lnSpc>
            </a:pPr>
            <a:r>
              <a:rPr lang="en-US" sz="2025">
                <a:solidFill>
                  <a:srgbClr val="DFE9F0"/>
                </a:solidFill>
                <a:latin typeface="Calibri (MS)"/>
                <a:ea typeface="Calibri (MS)"/>
                <a:cs typeface="Calibri (MS)"/>
                <a:sym typeface="Calibri (MS)"/>
              </a:rPr>
              <a:t>Registro de antecedentes y evidencia.</a:t>
            </a:r>
          </a:p>
        </p:txBody>
      </p:sp>
      <p:sp>
        <p:nvSpPr>
          <p:cNvPr name="TextBox 31" id="31"/>
          <p:cNvSpPr txBox="true"/>
          <p:nvPr/>
        </p:nvSpPr>
        <p:spPr>
          <a:xfrm rot="0">
            <a:off x="10439400" y="6496050"/>
            <a:ext cx="6191250" cy="371475"/>
          </a:xfrm>
          <a:prstGeom prst="rect">
            <a:avLst/>
          </a:prstGeom>
        </p:spPr>
        <p:txBody>
          <a:bodyPr anchor="t" rtlCol="false" tIns="0" lIns="0" bIns="0" rIns="0">
            <a:spAutoFit/>
          </a:bodyPr>
          <a:lstStyle/>
          <a:p>
            <a:pPr algn="l">
              <a:lnSpc>
                <a:spcPts val="2160"/>
              </a:lnSpc>
            </a:pPr>
            <a:r>
              <a:rPr lang="en-US" sz="1800" b="true">
                <a:solidFill>
                  <a:srgbClr val="56DBD6"/>
                </a:solidFill>
                <a:latin typeface="Calibri (MS) Bold"/>
                <a:ea typeface="Calibri (MS) Bold"/>
                <a:cs typeface="Calibri (MS) Bold"/>
                <a:sym typeface="Calibri (MS) Bold"/>
              </a:rPr>
              <a:t>Explorar Móvil  →</a:t>
            </a:r>
          </a:p>
        </p:txBody>
      </p:sp>
      <p:grpSp>
        <p:nvGrpSpPr>
          <p:cNvPr name="Group 32" id="32"/>
          <p:cNvGrpSpPr/>
          <p:nvPr/>
        </p:nvGrpSpPr>
        <p:grpSpPr>
          <a:xfrm rot="0">
            <a:off x="10186988" y="7158038"/>
            <a:ext cx="7153275" cy="1819275"/>
            <a:chOff x="0" y="0"/>
            <a:chExt cx="9537700" cy="2425700"/>
          </a:xfrm>
        </p:grpSpPr>
        <p:sp>
          <p:nvSpPr>
            <p:cNvPr name="Freeform 33" id="33"/>
            <p:cNvSpPr/>
            <p:nvPr/>
          </p:nvSpPr>
          <p:spPr>
            <a:xfrm flipH="false" flipV="false" rot="0">
              <a:off x="0" y="0"/>
              <a:ext cx="9537700" cy="2425700"/>
            </a:xfrm>
            <a:custGeom>
              <a:avLst/>
              <a:gdLst/>
              <a:ahLst/>
              <a:cxnLst/>
              <a:rect r="r" b="b" t="t" l="l"/>
              <a:pathLst>
                <a:path h="2425700" w="9537700">
                  <a:moveTo>
                    <a:pt x="0" y="153162"/>
                  </a:moveTo>
                  <a:cubicBezTo>
                    <a:pt x="0" y="68580"/>
                    <a:pt x="68580" y="0"/>
                    <a:pt x="153162" y="0"/>
                  </a:cubicBezTo>
                  <a:lnTo>
                    <a:pt x="9384538" y="0"/>
                  </a:lnTo>
                  <a:cubicBezTo>
                    <a:pt x="9469120" y="0"/>
                    <a:pt x="9537700" y="68580"/>
                    <a:pt x="9537700" y="153162"/>
                  </a:cubicBezTo>
                  <a:lnTo>
                    <a:pt x="9537700" y="2272538"/>
                  </a:lnTo>
                  <a:cubicBezTo>
                    <a:pt x="9537700" y="2357120"/>
                    <a:pt x="9469120" y="2425700"/>
                    <a:pt x="9384538" y="2425700"/>
                  </a:cubicBezTo>
                  <a:lnTo>
                    <a:pt x="153162" y="2425700"/>
                  </a:lnTo>
                  <a:cubicBezTo>
                    <a:pt x="68580" y="2425700"/>
                    <a:pt x="0" y="2357120"/>
                    <a:pt x="0" y="2272538"/>
                  </a:cubicBezTo>
                  <a:close/>
                </a:path>
              </a:pathLst>
            </a:custGeom>
            <a:solidFill>
              <a:srgbClr val="132B3B"/>
            </a:solidFill>
            <a:ln w="9525" cap="sq">
              <a:solidFill>
                <a:srgbClr val="294757"/>
              </a:solidFill>
              <a:prstDash val="solid"/>
              <a:miter/>
            </a:ln>
          </p:spPr>
        </p:sp>
      </p:grpSp>
      <p:sp>
        <p:nvSpPr>
          <p:cNvPr name="TextBox 34" id="34"/>
          <p:cNvSpPr txBox="true"/>
          <p:nvPr/>
        </p:nvSpPr>
        <p:spPr>
          <a:xfrm rot="0">
            <a:off x="10439400" y="7277100"/>
            <a:ext cx="6572250" cy="466725"/>
          </a:xfrm>
          <a:prstGeom prst="rect">
            <a:avLst/>
          </a:prstGeom>
        </p:spPr>
        <p:txBody>
          <a:bodyPr anchor="t" rtlCol="false" tIns="0" lIns="0" bIns="0" rIns="0">
            <a:spAutoFit/>
          </a:bodyPr>
          <a:lstStyle/>
          <a:p>
            <a:pPr algn="l">
              <a:lnSpc>
                <a:spcPts val="2879"/>
              </a:lnSpc>
            </a:pPr>
            <a:r>
              <a:rPr lang="en-US" sz="2400" b="true">
                <a:solidFill>
                  <a:srgbClr val="56DBD6"/>
                </a:solidFill>
                <a:latin typeface="Calibri (MS) Bold"/>
                <a:ea typeface="Calibri (MS) Bold"/>
                <a:cs typeface="Calibri (MS) Bold"/>
                <a:sym typeface="Calibri (MS) Bold"/>
              </a:rPr>
              <a:t>03 · Flujo operativo</a:t>
            </a:r>
          </a:p>
        </p:txBody>
      </p:sp>
      <p:sp>
        <p:nvSpPr>
          <p:cNvPr name="TextBox 35" id="35"/>
          <p:cNvSpPr txBox="true"/>
          <p:nvPr/>
        </p:nvSpPr>
        <p:spPr>
          <a:xfrm rot="0">
            <a:off x="10439400" y="7762875"/>
            <a:ext cx="6572250" cy="723900"/>
          </a:xfrm>
          <a:prstGeom prst="rect">
            <a:avLst/>
          </a:prstGeom>
        </p:spPr>
        <p:txBody>
          <a:bodyPr anchor="t" rtlCol="false" tIns="0" lIns="0" bIns="0" rIns="0">
            <a:spAutoFit/>
          </a:bodyPr>
          <a:lstStyle/>
          <a:p>
            <a:pPr algn="l">
              <a:lnSpc>
                <a:spcPts val="2430"/>
              </a:lnSpc>
            </a:pPr>
            <a:r>
              <a:rPr lang="en-US" sz="2025">
                <a:solidFill>
                  <a:srgbClr val="DFE9F0"/>
                </a:solidFill>
                <a:latin typeface="Calibri (MS)"/>
                <a:ea typeface="Calibri (MS)"/>
                <a:cs typeface="Calibri (MS)"/>
                <a:sym typeface="Calibri (MS)"/>
              </a:rPr>
              <a:t>Del retiro a la reparación, QA e instalación,</a:t>
            </a:r>
          </a:p>
          <a:p>
            <a:pPr algn="l">
              <a:lnSpc>
                <a:spcPts val="2430"/>
              </a:lnSpc>
            </a:pPr>
            <a:r>
              <a:rPr lang="en-US" sz="2025">
                <a:solidFill>
                  <a:srgbClr val="DFE9F0"/>
                </a:solidFill>
                <a:latin typeface="Calibri (MS)"/>
                <a:ea typeface="Calibri (MS)"/>
                <a:cs typeface="Calibri (MS)"/>
                <a:sym typeface="Calibri (MS)"/>
              </a:rPr>
              <a:t>con recepciones e historial del activo.</a:t>
            </a:r>
          </a:p>
        </p:txBody>
      </p:sp>
      <p:sp>
        <p:nvSpPr>
          <p:cNvPr name="TextBox 36" id="36"/>
          <p:cNvSpPr txBox="true"/>
          <p:nvPr/>
        </p:nvSpPr>
        <p:spPr>
          <a:xfrm rot="0">
            <a:off x="10439400" y="8505825"/>
            <a:ext cx="6191250" cy="371475"/>
          </a:xfrm>
          <a:prstGeom prst="rect">
            <a:avLst/>
          </a:prstGeom>
        </p:spPr>
        <p:txBody>
          <a:bodyPr anchor="t" rtlCol="false" tIns="0" lIns="0" bIns="0" rIns="0">
            <a:spAutoFit/>
          </a:bodyPr>
          <a:lstStyle/>
          <a:p>
            <a:pPr algn="l">
              <a:lnSpc>
                <a:spcPts val="2160"/>
              </a:lnSpc>
            </a:pPr>
            <a:r>
              <a:rPr lang="en-US" sz="1800" b="true">
                <a:solidFill>
                  <a:srgbClr val="56DBD6"/>
                </a:solidFill>
                <a:latin typeface="Calibri (MS) Bold"/>
                <a:ea typeface="Calibri (MS) Bold"/>
                <a:cs typeface="Calibri (MS) Bold"/>
                <a:sym typeface="Calibri (MS) Bold"/>
              </a:rPr>
              <a:t>Explorar el flujo  →</a:t>
            </a:r>
          </a:p>
        </p:txBody>
      </p:sp>
      <p:sp>
        <p:nvSpPr>
          <p:cNvPr name="TextBox 37" id="37"/>
          <p:cNvSpPr txBox="true"/>
          <p:nvPr/>
        </p:nvSpPr>
        <p:spPr>
          <a:xfrm rot="0">
            <a:off x="948690" y="8721090"/>
            <a:ext cx="10024110" cy="1188720"/>
          </a:xfrm>
          <a:prstGeom prst="rect">
            <a:avLst/>
          </a:prstGeom>
        </p:spPr>
        <p:txBody>
          <a:bodyPr anchor="t" rtlCol="false" tIns="0" lIns="0" bIns="0" rIns="0">
            <a:spAutoFit/>
          </a:bodyPr>
          <a:lstStyle/>
          <a:p>
            <a:pPr algn="l">
              <a:lnSpc>
                <a:spcPts val="3995"/>
              </a:lnSpc>
            </a:pPr>
            <a:r>
              <a:rPr lang="en-US" sz="3329" b="true">
                <a:solidFill>
                  <a:srgbClr val="FFFFFF"/>
                </a:solidFill>
                <a:latin typeface="Open Sans Bold"/>
                <a:ea typeface="Open Sans Bold"/>
                <a:cs typeface="Open Sans Bold"/>
                <a:sym typeface="Open Sans Bold"/>
              </a:rPr>
              <a:t>Un ciclo completo, reproducible</a:t>
            </a:r>
          </a:p>
          <a:p>
            <a:pPr algn="l">
              <a:lnSpc>
                <a:spcPts val="3995"/>
              </a:lnSpc>
            </a:pPr>
            <a:r>
              <a:rPr lang="en-US" sz="3329" b="true">
                <a:solidFill>
                  <a:srgbClr val="FFFFFF"/>
                </a:solidFill>
                <a:latin typeface="Open Sans Bold"/>
                <a:ea typeface="Open Sans Bold"/>
                <a:cs typeface="Open Sans Bold"/>
                <a:sym typeface="Open Sans Bold"/>
              </a:rPr>
              <a:t>y documentado por rol</a:t>
            </a:r>
          </a:p>
        </p:txBody>
      </p:sp>
      <p:grpSp>
        <p:nvGrpSpPr>
          <p:cNvPr name="Group 38" id="38"/>
          <p:cNvGrpSpPr/>
          <p:nvPr/>
        </p:nvGrpSpPr>
        <p:grpSpPr>
          <a:xfrm rot="0">
            <a:off x="14575945" y="490728"/>
            <a:ext cx="2970052" cy="823722"/>
            <a:chOff x="0" y="0"/>
            <a:chExt cx="2762250" cy="766089"/>
          </a:xfrm>
        </p:grpSpPr>
        <p:sp>
          <p:nvSpPr>
            <p:cNvPr name="Freeform 39" id="39"/>
            <p:cNvSpPr/>
            <p:nvPr/>
          </p:nvSpPr>
          <p:spPr>
            <a:xfrm flipH="false" flipV="false" rot="0">
              <a:off x="0" y="0"/>
              <a:ext cx="2762250" cy="766064"/>
            </a:xfrm>
            <a:custGeom>
              <a:avLst/>
              <a:gdLst/>
              <a:ahLst/>
              <a:cxnLst/>
              <a:rect r="r" b="b" t="t" l="l"/>
              <a:pathLst>
                <a:path h="766064" w="2762250">
                  <a:moveTo>
                    <a:pt x="0" y="0"/>
                  </a:moveTo>
                  <a:lnTo>
                    <a:pt x="2762250" y="0"/>
                  </a:lnTo>
                  <a:lnTo>
                    <a:pt x="2762250" y="766064"/>
                  </a:lnTo>
                  <a:lnTo>
                    <a:pt x="0" y="766064"/>
                  </a:lnTo>
                  <a:lnTo>
                    <a:pt x="0" y="0"/>
                  </a:lnTo>
                  <a:close/>
                </a:path>
              </a:pathLst>
            </a:custGeom>
            <a:blipFill>
              <a:blip r:embed="rId9"/>
              <a:stretch>
                <a:fillRect l="0" t="0" r="0" b="-3"/>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83" t="0" r="-283" b="0"/>
            </a:stretch>
          </a:blipFill>
        </p:spPr>
      </p:sp>
      <p:sp>
        <p:nvSpPr>
          <p:cNvPr name="TextBox 3" id="3"/>
          <p:cNvSpPr txBox="true"/>
          <p:nvPr/>
        </p:nvSpPr>
        <p:spPr>
          <a:xfrm rot="0">
            <a:off x="914400" y="754380"/>
            <a:ext cx="10744200" cy="1017270"/>
          </a:xfrm>
          <a:prstGeom prst="rect">
            <a:avLst/>
          </a:prstGeom>
        </p:spPr>
        <p:txBody>
          <a:bodyPr anchor="t" rtlCol="false" tIns="0" lIns="0" bIns="0" rIns="0">
            <a:spAutoFit/>
          </a:bodyPr>
          <a:lstStyle/>
          <a:p>
            <a:pPr algn="l">
              <a:lnSpc>
                <a:spcPts val="6480"/>
              </a:lnSpc>
            </a:pPr>
            <a:r>
              <a:rPr lang="en-US" sz="5400" b="true">
                <a:solidFill>
                  <a:srgbClr val="FFFFFF"/>
                </a:solidFill>
                <a:latin typeface="Open Sans Bold"/>
                <a:ea typeface="Open Sans Bold"/>
                <a:cs typeface="Open Sans Bold"/>
                <a:sym typeface="Open Sans Bold"/>
              </a:rPr>
              <a:t>Conclusiones</a:t>
            </a:r>
          </a:p>
        </p:txBody>
      </p:sp>
      <p:sp>
        <p:nvSpPr>
          <p:cNvPr name="TextBox 4" id="4"/>
          <p:cNvSpPr txBox="true"/>
          <p:nvPr/>
        </p:nvSpPr>
        <p:spPr>
          <a:xfrm rot="0">
            <a:off x="914400" y="2891790"/>
            <a:ext cx="16447770" cy="2034540"/>
          </a:xfrm>
          <a:prstGeom prst="rect">
            <a:avLst/>
          </a:prstGeom>
        </p:spPr>
        <p:txBody>
          <a:bodyPr anchor="t" rtlCol="false" tIns="0" lIns="0" bIns="0" rIns="0">
            <a:spAutoFit/>
          </a:bodyPr>
          <a:lstStyle/>
          <a:p>
            <a:pPr algn="l">
              <a:lnSpc>
                <a:spcPts val="7020"/>
              </a:lnSpc>
            </a:pPr>
            <a:r>
              <a:rPr lang="en-US" sz="5850" b="true">
                <a:solidFill>
                  <a:srgbClr val="FFFFFF"/>
                </a:solidFill>
                <a:latin typeface="Open Sans Bold"/>
                <a:ea typeface="Open Sans Bold"/>
                <a:cs typeface="Open Sans Bold"/>
                <a:sym typeface="Open Sans Bold"/>
              </a:rPr>
              <a:t>Centralizar el mantenimiento</a:t>
            </a:r>
          </a:p>
          <a:p>
            <a:pPr algn="l">
              <a:lnSpc>
                <a:spcPts val="7020"/>
              </a:lnSpc>
            </a:pPr>
            <a:r>
              <a:rPr lang="en-US" sz="5850" b="true">
                <a:solidFill>
                  <a:srgbClr val="FFFFFF"/>
                </a:solidFill>
                <a:latin typeface="Open Sans Bold"/>
                <a:ea typeface="Open Sans Bold"/>
                <a:cs typeface="Open Sans Bold"/>
                <a:sym typeface="Open Sans Bold"/>
              </a:rPr>
              <a:t>con trazabilidad por equipo</a:t>
            </a:r>
          </a:p>
        </p:txBody>
      </p:sp>
      <p:sp>
        <p:nvSpPr>
          <p:cNvPr name="TextBox 5" id="5"/>
          <p:cNvSpPr txBox="true"/>
          <p:nvPr/>
        </p:nvSpPr>
        <p:spPr>
          <a:xfrm rot="0">
            <a:off x="948690" y="5589270"/>
            <a:ext cx="16002000" cy="1177290"/>
          </a:xfrm>
          <a:prstGeom prst="rect">
            <a:avLst/>
          </a:prstGeom>
        </p:spPr>
        <p:txBody>
          <a:bodyPr anchor="t" rtlCol="false" tIns="0" lIns="0" bIns="0" rIns="0">
            <a:spAutoFit/>
          </a:bodyPr>
          <a:lstStyle/>
          <a:p>
            <a:pPr algn="l">
              <a:lnSpc>
                <a:spcPts val="3564"/>
              </a:lnSpc>
            </a:pPr>
            <a:r>
              <a:rPr lang="en-US" sz="2970">
                <a:solidFill>
                  <a:srgbClr val="BACDD9"/>
                </a:solidFill>
                <a:latin typeface="Open Sans"/>
                <a:ea typeface="Open Sans"/>
                <a:cs typeface="Open Sans"/>
                <a:sym typeface="Open Sans"/>
              </a:rPr>
              <a:t>Objetivos y alcance definidos. Metodología en cascada.</a:t>
            </a:r>
          </a:p>
          <a:p>
            <a:pPr algn="l">
              <a:lnSpc>
                <a:spcPts val="3564"/>
              </a:lnSpc>
            </a:pPr>
            <a:r>
              <a:rPr lang="en-US" sz="2970">
                <a:solidFill>
                  <a:srgbClr val="BACDD9"/>
                </a:solidFill>
                <a:latin typeface="Open Sans"/>
                <a:ea typeface="Open Sans"/>
                <a:cs typeface="Open Sans"/>
                <a:sym typeface="Open Sans"/>
              </a:rPr>
              <a:t>Base técnica observada con evidencia parcial.</a:t>
            </a:r>
          </a:p>
        </p:txBody>
      </p:sp>
      <p:sp>
        <p:nvSpPr>
          <p:cNvPr name="AutoShape 6" id="6"/>
          <p:cNvSpPr/>
          <p:nvPr/>
        </p:nvSpPr>
        <p:spPr>
          <a:xfrm rot="7200">
            <a:off x="931526" y="7465695"/>
            <a:ext cx="16436378" cy="0"/>
          </a:xfrm>
          <a:prstGeom prst="line">
            <a:avLst/>
          </a:prstGeom>
          <a:ln cap="rnd" w="19050">
            <a:solidFill>
              <a:srgbClr val="00B3B5"/>
            </a:solidFill>
            <a:prstDash val="solid"/>
            <a:headEnd type="none" len="sm" w="sm"/>
            <a:tailEnd type="none" len="sm" w="sm"/>
          </a:ln>
        </p:spPr>
      </p:sp>
      <p:sp>
        <p:nvSpPr>
          <p:cNvPr name="TextBox 7" id="7"/>
          <p:cNvSpPr txBox="true"/>
          <p:nvPr/>
        </p:nvSpPr>
        <p:spPr>
          <a:xfrm rot="0">
            <a:off x="16687800" y="9622155"/>
            <a:ext cx="685800" cy="356235"/>
          </a:xfrm>
          <a:prstGeom prst="rect">
            <a:avLst/>
          </a:prstGeom>
        </p:spPr>
        <p:txBody>
          <a:bodyPr anchor="t" rtlCol="false" tIns="0" lIns="0" bIns="0" rIns="0">
            <a:spAutoFit/>
          </a:bodyPr>
          <a:lstStyle/>
          <a:p>
            <a:pPr algn="r">
              <a:lnSpc>
                <a:spcPts val="2484"/>
              </a:lnSpc>
            </a:pPr>
            <a:r>
              <a:rPr lang="en-US" sz="2070">
                <a:solidFill>
                  <a:srgbClr val="BACDD9"/>
                </a:solidFill>
                <a:latin typeface="Open Sans"/>
                <a:ea typeface="Open Sans"/>
                <a:cs typeface="Open Sans"/>
                <a:sym typeface="Open Sans"/>
              </a:rPr>
              <a:t>17</a:t>
            </a:r>
          </a:p>
        </p:txBody>
      </p:sp>
      <p:grpSp>
        <p:nvGrpSpPr>
          <p:cNvPr name="Group 8" id="8"/>
          <p:cNvGrpSpPr/>
          <p:nvPr/>
        </p:nvGrpSpPr>
        <p:grpSpPr>
          <a:xfrm rot="0">
            <a:off x="14575945" y="490728"/>
            <a:ext cx="2970052" cy="823722"/>
            <a:chOff x="0" y="0"/>
            <a:chExt cx="2762250" cy="766089"/>
          </a:xfrm>
        </p:grpSpPr>
        <p:sp>
          <p:nvSpPr>
            <p:cNvPr name="Freeform 9" id="9"/>
            <p:cNvSpPr/>
            <p:nvPr/>
          </p:nvSpPr>
          <p:spPr>
            <a:xfrm flipH="false" flipV="false" rot="0">
              <a:off x="0" y="0"/>
              <a:ext cx="2762250" cy="766064"/>
            </a:xfrm>
            <a:custGeom>
              <a:avLst/>
              <a:gdLst/>
              <a:ahLst/>
              <a:cxnLst/>
              <a:rect r="r" b="b" t="t" l="l"/>
              <a:pathLst>
                <a:path h="766064" w="2762250">
                  <a:moveTo>
                    <a:pt x="0" y="0"/>
                  </a:moveTo>
                  <a:lnTo>
                    <a:pt x="2762250" y="0"/>
                  </a:lnTo>
                  <a:lnTo>
                    <a:pt x="2762250" y="766064"/>
                  </a:lnTo>
                  <a:lnTo>
                    <a:pt x="0" y="766064"/>
                  </a:lnTo>
                  <a:lnTo>
                    <a:pt x="0" y="0"/>
                  </a:lnTo>
                  <a:close/>
                </a:path>
              </a:pathLst>
            </a:custGeom>
            <a:blipFill>
              <a:blip r:embed="rId4"/>
              <a:stretch>
                <a:fillRect l="0" t="0" r="0" b="-3"/>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83" t="0" r="-283" b="0"/>
            </a:stretch>
          </a:blipFill>
        </p:spPr>
      </p:sp>
      <p:grpSp>
        <p:nvGrpSpPr>
          <p:cNvPr name="Group 3" id="3"/>
          <p:cNvGrpSpPr/>
          <p:nvPr/>
        </p:nvGrpSpPr>
        <p:grpSpPr>
          <a:xfrm rot="0">
            <a:off x="909638" y="9110662"/>
            <a:ext cx="2581275" cy="561975"/>
            <a:chOff x="0" y="0"/>
            <a:chExt cx="3441700" cy="749300"/>
          </a:xfrm>
        </p:grpSpPr>
        <p:sp>
          <p:nvSpPr>
            <p:cNvPr name="Freeform 4" id="4"/>
            <p:cNvSpPr/>
            <p:nvPr/>
          </p:nvSpPr>
          <p:spPr>
            <a:xfrm flipH="false" flipV="false" rot="0">
              <a:off x="0" y="0"/>
              <a:ext cx="3441700" cy="749300"/>
            </a:xfrm>
            <a:custGeom>
              <a:avLst/>
              <a:gdLst/>
              <a:ahLst/>
              <a:cxnLst/>
              <a:rect r="r" b="b" t="t" l="l"/>
              <a:pathLst>
                <a:path h="749300" w="3441700">
                  <a:moveTo>
                    <a:pt x="0" y="155067"/>
                  </a:moveTo>
                  <a:cubicBezTo>
                    <a:pt x="0" y="69469"/>
                    <a:pt x="69469" y="0"/>
                    <a:pt x="155067" y="0"/>
                  </a:cubicBezTo>
                  <a:lnTo>
                    <a:pt x="3286633" y="0"/>
                  </a:lnTo>
                  <a:cubicBezTo>
                    <a:pt x="3372231" y="0"/>
                    <a:pt x="3441700" y="69469"/>
                    <a:pt x="3441700" y="155067"/>
                  </a:cubicBezTo>
                  <a:lnTo>
                    <a:pt x="3441700" y="594233"/>
                  </a:lnTo>
                  <a:cubicBezTo>
                    <a:pt x="3441700" y="679831"/>
                    <a:pt x="3372231" y="749300"/>
                    <a:pt x="3286633" y="749300"/>
                  </a:cubicBezTo>
                  <a:lnTo>
                    <a:pt x="155067" y="749300"/>
                  </a:lnTo>
                  <a:cubicBezTo>
                    <a:pt x="69469" y="749300"/>
                    <a:pt x="0" y="679831"/>
                    <a:pt x="0" y="594233"/>
                  </a:cubicBezTo>
                  <a:close/>
                </a:path>
              </a:pathLst>
            </a:custGeom>
            <a:solidFill>
              <a:srgbClr val="56DBD6"/>
            </a:solidFill>
            <a:ln w="9525" cap="sq">
              <a:solidFill>
                <a:srgbClr val="294757"/>
              </a:solidFill>
              <a:prstDash val="solid"/>
              <a:miter/>
            </a:ln>
          </p:spPr>
        </p:sp>
        <p:sp>
          <p:nvSpPr>
            <p:cNvPr name="TextBox 5" id="5"/>
            <p:cNvSpPr txBox="true"/>
            <p:nvPr/>
          </p:nvSpPr>
          <p:spPr>
            <a:xfrm>
              <a:off x="0" y="-47625"/>
              <a:ext cx="3441700" cy="796925"/>
            </a:xfrm>
            <a:prstGeom prst="rect">
              <a:avLst/>
            </a:prstGeom>
          </p:spPr>
          <p:txBody>
            <a:bodyPr anchor="t" rtlCol="false" tIns="50800" lIns="50800" bIns="50800" rIns="50800"/>
            <a:lstStyle/>
            <a:p>
              <a:pPr algn="l">
                <a:lnSpc>
                  <a:spcPts val="2340"/>
                </a:lnSpc>
              </a:pPr>
              <a:r>
                <a:rPr lang="en-US" sz="1950" b="true">
                  <a:solidFill>
                    <a:srgbClr val="0B1B28"/>
                  </a:solidFill>
                  <a:latin typeface="Calibri (MS) Bold"/>
                  <a:ea typeface="Calibri (MS) Bold"/>
                  <a:cs typeface="Calibri (MS) Bold"/>
                  <a:sym typeface="Calibri (MS) Bold"/>
                </a:rPr>
                <a:t>Volver al MVP</a:t>
              </a:r>
            </a:p>
          </p:txBody>
        </p:sp>
      </p:grpSp>
      <p:grpSp>
        <p:nvGrpSpPr>
          <p:cNvPr name="Group 6" id="6"/>
          <p:cNvGrpSpPr/>
          <p:nvPr/>
        </p:nvGrpSpPr>
        <p:grpSpPr>
          <a:xfrm rot="0">
            <a:off x="909638" y="3328988"/>
            <a:ext cx="8010525" cy="2200275"/>
            <a:chOff x="0" y="0"/>
            <a:chExt cx="10680700" cy="2933700"/>
          </a:xfrm>
        </p:grpSpPr>
        <p:sp>
          <p:nvSpPr>
            <p:cNvPr name="Freeform 7" id="7"/>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grpSp>
        <p:nvGrpSpPr>
          <p:cNvPr name="Group 8" id="8"/>
          <p:cNvGrpSpPr/>
          <p:nvPr/>
        </p:nvGrpSpPr>
        <p:grpSpPr>
          <a:xfrm rot="0">
            <a:off x="9386888" y="3328988"/>
            <a:ext cx="8010525" cy="2200275"/>
            <a:chOff x="0" y="0"/>
            <a:chExt cx="10680700" cy="2933700"/>
          </a:xfrm>
        </p:grpSpPr>
        <p:sp>
          <p:nvSpPr>
            <p:cNvPr name="Freeform 9" id="9"/>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grpSp>
        <p:nvGrpSpPr>
          <p:cNvPr name="Group 10" id="10"/>
          <p:cNvGrpSpPr/>
          <p:nvPr/>
        </p:nvGrpSpPr>
        <p:grpSpPr>
          <a:xfrm rot="0">
            <a:off x="909638" y="5853112"/>
            <a:ext cx="8010525" cy="2200275"/>
            <a:chOff x="0" y="0"/>
            <a:chExt cx="10680700" cy="2933700"/>
          </a:xfrm>
        </p:grpSpPr>
        <p:sp>
          <p:nvSpPr>
            <p:cNvPr name="Freeform 11" id="11"/>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grpSp>
        <p:nvGrpSpPr>
          <p:cNvPr name="Group 12" id="12"/>
          <p:cNvGrpSpPr/>
          <p:nvPr/>
        </p:nvGrpSpPr>
        <p:grpSpPr>
          <a:xfrm rot="0">
            <a:off x="9386888" y="5853112"/>
            <a:ext cx="8010525" cy="2200275"/>
            <a:chOff x="0" y="0"/>
            <a:chExt cx="10680700" cy="2933700"/>
          </a:xfrm>
        </p:grpSpPr>
        <p:sp>
          <p:nvSpPr>
            <p:cNvPr name="Freeform 13" id="13"/>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sp>
        <p:nvSpPr>
          <p:cNvPr name="TextBox 14" id="14"/>
          <p:cNvSpPr txBox="true"/>
          <p:nvPr/>
        </p:nvSpPr>
        <p:spPr>
          <a:xfrm rot="0">
            <a:off x="914400" y="628650"/>
            <a:ext cx="12382500" cy="419100"/>
          </a:xfrm>
          <a:prstGeom prst="rect">
            <a:avLst/>
          </a:prstGeom>
        </p:spPr>
        <p:txBody>
          <a:bodyPr anchor="t" rtlCol="false" tIns="0" lIns="0" bIns="0" rIns="0">
            <a:spAutoFit/>
          </a:bodyPr>
          <a:lstStyle/>
          <a:p>
            <a:pPr algn="l">
              <a:lnSpc>
                <a:spcPts val="2250"/>
              </a:lnSpc>
            </a:pPr>
            <a:r>
              <a:rPr lang="en-US" sz="1875" b="true">
                <a:solidFill>
                  <a:srgbClr val="56DBD6"/>
                </a:solidFill>
                <a:latin typeface="Calibri (MS) Bold"/>
                <a:ea typeface="Calibri (MS) Bold"/>
                <a:cs typeface="Calibri (MS) Bold"/>
                <a:sym typeface="Calibri (MS) Bold"/>
              </a:rPr>
              <a:t>01 · WEB</a:t>
            </a:r>
          </a:p>
        </p:txBody>
      </p:sp>
      <p:sp>
        <p:nvSpPr>
          <p:cNvPr name="TextBox 15" id="15"/>
          <p:cNvSpPr txBox="true"/>
          <p:nvPr/>
        </p:nvSpPr>
        <p:spPr>
          <a:xfrm rot="0">
            <a:off x="914400" y="1162050"/>
            <a:ext cx="15716250" cy="1000125"/>
          </a:xfrm>
          <a:prstGeom prst="rect">
            <a:avLst/>
          </a:prstGeom>
        </p:spPr>
        <p:txBody>
          <a:bodyPr anchor="t" rtlCol="false" tIns="0" lIns="0" bIns="0" rIns="0">
            <a:spAutoFit/>
          </a:bodyPr>
          <a:lstStyle/>
          <a:p>
            <a:pPr algn="l">
              <a:lnSpc>
                <a:spcPts val="5220"/>
              </a:lnSpc>
            </a:pPr>
            <a:r>
              <a:rPr lang="en-US" sz="4350" b="true">
                <a:solidFill>
                  <a:srgbClr val="FFFFFF"/>
                </a:solidFill>
                <a:latin typeface="Calibri (MS) Bold"/>
                <a:ea typeface="Calibri (MS) Bold"/>
                <a:cs typeface="Calibri (MS) Bold"/>
                <a:sym typeface="Calibri (MS) Bold"/>
              </a:rPr>
              <a:t>Gestión y consulta operacional</a:t>
            </a:r>
          </a:p>
        </p:txBody>
      </p:sp>
      <p:sp>
        <p:nvSpPr>
          <p:cNvPr name="TextBox 16" id="16"/>
          <p:cNvSpPr txBox="true"/>
          <p:nvPr/>
        </p:nvSpPr>
        <p:spPr>
          <a:xfrm rot="0">
            <a:off x="914400" y="2209800"/>
            <a:ext cx="16287750" cy="723900"/>
          </a:xfrm>
          <a:prstGeom prst="rect">
            <a:avLst/>
          </a:prstGeom>
        </p:spPr>
        <p:txBody>
          <a:bodyPr anchor="t" rtlCol="false" tIns="0" lIns="0" bIns="0" rIns="0">
            <a:spAutoFit/>
          </a:bodyPr>
          <a:lstStyle/>
          <a:p>
            <a:pPr algn="l">
              <a:lnSpc>
                <a:spcPts val="2700"/>
              </a:lnSpc>
            </a:pPr>
            <a:r>
              <a:rPr lang="en-US" sz="2250">
                <a:solidFill>
                  <a:srgbClr val="ADC0CC"/>
                </a:solidFill>
                <a:latin typeface="Calibri (MS)"/>
                <a:ea typeface="Calibri (MS)"/>
                <a:cs typeface="Calibri (MS)"/>
                <a:sym typeface="Calibri (MS)"/>
              </a:rPr>
              <a:t>Inventario, órdenes y movimientos vinculados al activo.</a:t>
            </a:r>
          </a:p>
        </p:txBody>
      </p:sp>
      <p:sp>
        <p:nvSpPr>
          <p:cNvPr name="TextBox 17" id="17"/>
          <p:cNvSpPr txBox="true"/>
          <p:nvPr/>
        </p:nvSpPr>
        <p:spPr>
          <a:xfrm rot="0">
            <a:off x="3810000" y="9210675"/>
            <a:ext cx="12382500" cy="466725"/>
          </a:xfrm>
          <a:prstGeom prst="rect">
            <a:avLst/>
          </a:prstGeom>
        </p:spPr>
        <p:txBody>
          <a:bodyPr anchor="t" rtlCol="false" tIns="0" lIns="0" bIns="0" rIns="0">
            <a:spAutoFit/>
          </a:bodyPr>
          <a:lstStyle/>
          <a:p>
            <a:pPr algn="l">
              <a:lnSpc>
                <a:spcPts val="2070"/>
              </a:lnSpc>
            </a:pPr>
            <a:r>
              <a:rPr lang="en-US" sz="1725">
                <a:solidFill>
                  <a:srgbClr val="ADC0CC"/>
                </a:solidFill>
                <a:latin typeface="Calibri (MS)"/>
                <a:ea typeface="Calibri (MS)"/>
                <a:cs typeface="Calibri (MS)"/>
                <a:sym typeface="Calibri (MS)"/>
              </a:rPr>
              <a:t>Selecciona «Volver al MVP» para regresar a la vista general.</a:t>
            </a:r>
          </a:p>
        </p:txBody>
      </p:sp>
      <p:sp>
        <p:nvSpPr>
          <p:cNvPr name="TextBox 18" id="18"/>
          <p:cNvSpPr txBox="true"/>
          <p:nvPr/>
        </p:nvSpPr>
        <p:spPr>
          <a:xfrm rot="0">
            <a:off x="1200150" y="3505200"/>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Inventario y estado</a:t>
            </a:r>
          </a:p>
        </p:txBody>
      </p:sp>
      <p:sp>
        <p:nvSpPr>
          <p:cNvPr name="TextBox 19" id="19"/>
          <p:cNvSpPr txBox="true"/>
          <p:nvPr/>
        </p:nvSpPr>
        <p:spPr>
          <a:xfrm rot="0">
            <a:off x="1200150" y="4124325"/>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Consultar los activos y su estado.</a:t>
            </a:r>
          </a:p>
          <a:p>
            <a:pPr algn="l">
              <a:lnSpc>
                <a:spcPts val="2790"/>
              </a:lnSpc>
            </a:pPr>
            <a:r>
              <a:rPr lang="en-US" sz="2325">
                <a:solidFill>
                  <a:srgbClr val="DFE9F0"/>
                </a:solidFill>
                <a:latin typeface="Calibri (MS)"/>
                <a:ea typeface="Calibri (MS)"/>
                <a:cs typeface="Calibri (MS)"/>
                <a:sym typeface="Calibri (MS)"/>
              </a:rPr>
              <a:t>Revisar disponibilidad y antecedentes</a:t>
            </a:r>
          </a:p>
          <a:p>
            <a:pPr algn="l">
              <a:lnSpc>
                <a:spcPts val="2790"/>
              </a:lnSpc>
            </a:pPr>
            <a:r>
              <a:rPr lang="en-US" sz="2325">
                <a:solidFill>
                  <a:srgbClr val="DFE9F0"/>
                </a:solidFill>
                <a:latin typeface="Calibri (MS)"/>
                <a:ea typeface="Calibri (MS)"/>
                <a:cs typeface="Calibri (MS)"/>
                <a:sym typeface="Calibri (MS)"/>
              </a:rPr>
              <a:t>desde una vista de gestión.</a:t>
            </a:r>
          </a:p>
        </p:txBody>
      </p:sp>
      <p:sp>
        <p:nvSpPr>
          <p:cNvPr name="TextBox 20" id="20"/>
          <p:cNvSpPr txBox="true"/>
          <p:nvPr/>
        </p:nvSpPr>
        <p:spPr>
          <a:xfrm rot="0">
            <a:off x="9677400" y="3505200"/>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Custodia y movimientos</a:t>
            </a:r>
          </a:p>
        </p:txBody>
      </p:sp>
      <p:sp>
        <p:nvSpPr>
          <p:cNvPr name="TextBox 21" id="21"/>
          <p:cNvSpPr txBox="true"/>
          <p:nvPr/>
        </p:nvSpPr>
        <p:spPr>
          <a:xfrm rot="0">
            <a:off x="9677400" y="4124325"/>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Consultar la ubicación y custodia</a:t>
            </a:r>
          </a:p>
          <a:p>
            <a:pPr algn="l">
              <a:lnSpc>
                <a:spcPts val="2790"/>
              </a:lnSpc>
            </a:pPr>
            <a:r>
              <a:rPr lang="en-US" sz="2325">
                <a:solidFill>
                  <a:srgbClr val="DFE9F0"/>
                </a:solidFill>
                <a:latin typeface="Calibri (MS)"/>
                <a:ea typeface="Calibri (MS)"/>
                <a:cs typeface="Calibri (MS)"/>
                <a:sym typeface="Calibri (MS)"/>
              </a:rPr>
              <a:t>del equipo y los movimientos</a:t>
            </a:r>
          </a:p>
          <a:p>
            <a:pPr algn="l">
              <a:lnSpc>
                <a:spcPts val="2790"/>
              </a:lnSpc>
            </a:pPr>
            <a:r>
              <a:rPr lang="en-US" sz="2325">
                <a:solidFill>
                  <a:srgbClr val="DFE9F0"/>
                </a:solidFill>
                <a:latin typeface="Calibri (MS)"/>
                <a:ea typeface="Calibri (MS)"/>
                <a:cs typeface="Calibri (MS)"/>
                <a:sym typeface="Calibri (MS)"/>
              </a:rPr>
              <a:t>registrados entre áreas.</a:t>
            </a:r>
          </a:p>
        </p:txBody>
      </p:sp>
      <p:sp>
        <p:nvSpPr>
          <p:cNvPr name="TextBox 22" id="22"/>
          <p:cNvSpPr txBox="true"/>
          <p:nvPr/>
        </p:nvSpPr>
        <p:spPr>
          <a:xfrm rot="0">
            <a:off x="1200150" y="6029325"/>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Órdenes de servicio</a:t>
            </a:r>
          </a:p>
        </p:txBody>
      </p:sp>
      <p:sp>
        <p:nvSpPr>
          <p:cNvPr name="TextBox 23" id="23"/>
          <p:cNvSpPr txBox="true"/>
          <p:nvPr/>
        </p:nvSpPr>
        <p:spPr>
          <a:xfrm rot="0">
            <a:off x="1200150" y="6648450"/>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Relacionar el activo con la orden</a:t>
            </a:r>
          </a:p>
          <a:p>
            <a:pPr algn="l">
              <a:lnSpc>
                <a:spcPts val="2790"/>
              </a:lnSpc>
            </a:pPr>
            <a:r>
              <a:rPr lang="en-US" sz="2325">
                <a:solidFill>
                  <a:srgbClr val="DFE9F0"/>
                </a:solidFill>
                <a:latin typeface="Calibri (MS)"/>
                <a:ea typeface="Calibri (MS)"/>
                <a:cs typeface="Calibri (MS)"/>
                <a:sym typeface="Calibri (MS)"/>
              </a:rPr>
              <a:t>y consultar las intervenciones</a:t>
            </a:r>
          </a:p>
          <a:p>
            <a:pPr algn="l">
              <a:lnSpc>
                <a:spcPts val="2790"/>
              </a:lnSpc>
            </a:pPr>
            <a:r>
              <a:rPr lang="en-US" sz="2325">
                <a:solidFill>
                  <a:srgbClr val="DFE9F0"/>
                </a:solidFill>
                <a:latin typeface="Calibri (MS)"/>
                <a:ea typeface="Calibri (MS)"/>
                <a:cs typeface="Calibri (MS)"/>
                <a:sym typeface="Calibri (MS)"/>
              </a:rPr>
              <a:t>del ciclo de mantenimiento.</a:t>
            </a:r>
          </a:p>
        </p:txBody>
      </p:sp>
      <p:sp>
        <p:nvSpPr>
          <p:cNvPr name="TextBox 24" id="24"/>
          <p:cNvSpPr txBox="true"/>
          <p:nvPr/>
        </p:nvSpPr>
        <p:spPr>
          <a:xfrm rot="0">
            <a:off x="9677400" y="6029325"/>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Recepciones y despachos</a:t>
            </a:r>
          </a:p>
        </p:txBody>
      </p:sp>
      <p:sp>
        <p:nvSpPr>
          <p:cNvPr name="TextBox 25" id="25"/>
          <p:cNvSpPr txBox="true"/>
          <p:nvPr/>
        </p:nvSpPr>
        <p:spPr>
          <a:xfrm rot="0">
            <a:off x="9677400" y="6648450"/>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Registrar los movimientos de bodega</a:t>
            </a:r>
          </a:p>
          <a:p>
            <a:pPr algn="l">
              <a:lnSpc>
                <a:spcPts val="2790"/>
              </a:lnSpc>
            </a:pPr>
            <a:r>
              <a:rPr lang="en-US" sz="2325">
                <a:solidFill>
                  <a:srgbClr val="DFE9F0"/>
                </a:solidFill>
                <a:latin typeface="Calibri (MS)"/>
                <a:ea typeface="Calibri (MS)"/>
                <a:cs typeface="Calibri (MS)"/>
                <a:sym typeface="Calibri (MS)"/>
              </a:rPr>
              <a:t>y dar continuidad al recorrido</a:t>
            </a:r>
          </a:p>
          <a:p>
            <a:pPr algn="l">
              <a:lnSpc>
                <a:spcPts val="2790"/>
              </a:lnSpc>
            </a:pPr>
            <a:r>
              <a:rPr lang="en-US" sz="2325">
                <a:solidFill>
                  <a:srgbClr val="DFE9F0"/>
                </a:solidFill>
                <a:latin typeface="Calibri (MS)"/>
                <a:ea typeface="Calibri (MS)"/>
                <a:cs typeface="Calibri (MS)"/>
                <a:sym typeface="Calibri (MS)"/>
              </a:rPr>
              <a:t>operacional del activo.</a:t>
            </a:r>
          </a:p>
        </p:txBody>
      </p:sp>
      <p:grpSp>
        <p:nvGrpSpPr>
          <p:cNvPr name="Group 26" id="26"/>
          <p:cNvGrpSpPr/>
          <p:nvPr/>
        </p:nvGrpSpPr>
        <p:grpSpPr>
          <a:xfrm rot="0">
            <a:off x="14575945" y="490728"/>
            <a:ext cx="2970052" cy="823722"/>
            <a:chOff x="0" y="0"/>
            <a:chExt cx="2762250" cy="766089"/>
          </a:xfrm>
        </p:grpSpPr>
        <p:sp>
          <p:nvSpPr>
            <p:cNvPr name="Freeform 27" id="27"/>
            <p:cNvSpPr/>
            <p:nvPr/>
          </p:nvSpPr>
          <p:spPr>
            <a:xfrm flipH="false" flipV="false" rot="0">
              <a:off x="0" y="0"/>
              <a:ext cx="2762250" cy="766064"/>
            </a:xfrm>
            <a:custGeom>
              <a:avLst/>
              <a:gdLst/>
              <a:ahLst/>
              <a:cxnLst/>
              <a:rect r="r" b="b" t="t" l="l"/>
              <a:pathLst>
                <a:path h="766064" w="2762250">
                  <a:moveTo>
                    <a:pt x="0" y="0"/>
                  </a:moveTo>
                  <a:lnTo>
                    <a:pt x="2762250" y="0"/>
                  </a:lnTo>
                  <a:lnTo>
                    <a:pt x="2762250" y="766064"/>
                  </a:lnTo>
                  <a:lnTo>
                    <a:pt x="0" y="766064"/>
                  </a:lnTo>
                  <a:lnTo>
                    <a:pt x="0" y="0"/>
                  </a:lnTo>
                  <a:close/>
                </a:path>
              </a:pathLst>
            </a:custGeom>
            <a:blipFill>
              <a:blip r:embed="rId4"/>
              <a:stretch>
                <a:fillRect l="0" t="0" r="0" b="-3"/>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83" t="0" r="-283" b="0"/>
            </a:stretch>
          </a:blipFill>
        </p:spPr>
      </p:sp>
      <p:sp>
        <p:nvSpPr>
          <p:cNvPr name="TextBox 3" id="3"/>
          <p:cNvSpPr txBox="true"/>
          <p:nvPr/>
        </p:nvSpPr>
        <p:spPr>
          <a:xfrm rot="0">
            <a:off x="914400" y="628650"/>
            <a:ext cx="12382500" cy="419100"/>
          </a:xfrm>
          <a:prstGeom prst="rect">
            <a:avLst/>
          </a:prstGeom>
        </p:spPr>
        <p:txBody>
          <a:bodyPr anchor="t" rtlCol="false" tIns="0" lIns="0" bIns="0" rIns="0">
            <a:spAutoFit/>
          </a:bodyPr>
          <a:lstStyle/>
          <a:p>
            <a:pPr algn="l">
              <a:lnSpc>
                <a:spcPts val="2250"/>
              </a:lnSpc>
            </a:pPr>
            <a:r>
              <a:rPr lang="en-US" sz="1875" b="true">
                <a:solidFill>
                  <a:srgbClr val="56DBD6"/>
                </a:solidFill>
                <a:latin typeface="Calibri (MS) Bold"/>
                <a:ea typeface="Calibri (MS) Bold"/>
                <a:cs typeface="Calibri (MS) Bold"/>
                <a:sym typeface="Calibri (MS) Bold"/>
              </a:rPr>
              <a:t>02 · MÓVIL</a:t>
            </a:r>
          </a:p>
        </p:txBody>
      </p:sp>
      <p:sp>
        <p:nvSpPr>
          <p:cNvPr name="TextBox 4" id="4"/>
          <p:cNvSpPr txBox="true"/>
          <p:nvPr/>
        </p:nvSpPr>
        <p:spPr>
          <a:xfrm rot="0">
            <a:off x="914400" y="1162050"/>
            <a:ext cx="15716250" cy="1000125"/>
          </a:xfrm>
          <a:prstGeom prst="rect">
            <a:avLst/>
          </a:prstGeom>
        </p:spPr>
        <p:txBody>
          <a:bodyPr anchor="t" rtlCol="false" tIns="0" lIns="0" bIns="0" rIns="0">
            <a:spAutoFit/>
          </a:bodyPr>
          <a:lstStyle/>
          <a:p>
            <a:pPr algn="l">
              <a:lnSpc>
                <a:spcPts val="5220"/>
              </a:lnSpc>
            </a:pPr>
            <a:r>
              <a:rPr lang="en-US" sz="4350" b="true">
                <a:solidFill>
                  <a:srgbClr val="FFFFFF"/>
                </a:solidFill>
                <a:latin typeface="Calibri (MS) Bold"/>
                <a:ea typeface="Calibri (MS) Bold"/>
                <a:cs typeface="Calibri (MS) Bold"/>
                <a:sym typeface="Calibri (MS) Bold"/>
              </a:rPr>
              <a:t>Operación del técnico en terreno</a:t>
            </a:r>
          </a:p>
        </p:txBody>
      </p:sp>
      <p:sp>
        <p:nvSpPr>
          <p:cNvPr name="TextBox 5" id="5"/>
          <p:cNvSpPr txBox="true"/>
          <p:nvPr/>
        </p:nvSpPr>
        <p:spPr>
          <a:xfrm rot="0">
            <a:off x="914400" y="2209800"/>
            <a:ext cx="16287750" cy="723900"/>
          </a:xfrm>
          <a:prstGeom prst="rect">
            <a:avLst/>
          </a:prstGeom>
        </p:spPr>
        <p:txBody>
          <a:bodyPr anchor="t" rtlCol="false" tIns="0" lIns="0" bIns="0" rIns="0">
            <a:spAutoFit/>
          </a:bodyPr>
          <a:lstStyle/>
          <a:p>
            <a:pPr algn="l">
              <a:lnSpc>
                <a:spcPts val="2700"/>
              </a:lnSpc>
            </a:pPr>
            <a:r>
              <a:rPr lang="en-US" sz="2250">
                <a:solidFill>
                  <a:srgbClr val="ADC0CC"/>
                </a:solidFill>
                <a:latin typeface="Calibri (MS)"/>
                <a:ea typeface="Calibri (MS)"/>
                <a:cs typeface="Calibri (MS)"/>
                <a:sym typeface="Calibri (MS)"/>
              </a:rPr>
              <a:t>Funciones de trabajo y consulta desde el dispositivo móvil.</a:t>
            </a:r>
          </a:p>
        </p:txBody>
      </p:sp>
      <p:grpSp>
        <p:nvGrpSpPr>
          <p:cNvPr name="Group 6" id="6"/>
          <p:cNvGrpSpPr/>
          <p:nvPr/>
        </p:nvGrpSpPr>
        <p:grpSpPr>
          <a:xfrm rot="0">
            <a:off x="909638" y="9110662"/>
            <a:ext cx="2581275" cy="561975"/>
            <a:chOff x="0" y="0"/>
            <a:chExt cx="3441700" cy="749300"/>
          </a:xfrm>
        </p:grpSpPr>
        <p:sp>
          <p:nvSpPr>
            <p:cNvPr name="Freeform 7" id="7"/>
            <p:cNvSpPr/>
            <p:nvPr/>
          </p:nvSpPr>
          <p:spPr>
            <a:xfrm flipH="false" flipV="false" rot="0">
              <a:off x="0" y="0"/>
              <a:ext cx="3441700" cy="749300"/>
            </a:xfrm>
            <a:custGeom>
              <a:avLst/>
              <a:gdLst/>
              <a:ahLst/>
              <a:cxnLst/>
              <a:rect r="r" b="b" t="t" l="l"/>
              <a:pathLst>
                <a:path h="749300" w="3441700">
                  <a:moveTo>
                    <a:pt x="0" y="155067"/>
                  </a:moveTo>
                  <a:cubicBezTo>
                    <a:pt x="0" y="69469"/>
                    <a:pt x="69469" y="0"/>
                    <a:pt x="155067" y="0"/>
                  </a:cubicBezTo>
                  <a:lnTo>
                    <a:pt x="3286633" y="0"/>
                  </a:lnTo>
                  <a:cubicBezTo>
                    <a:pt x="3372231" y="0"/>
                    <a:pt x="3441700" y="69469"/>
                    <a:pt x="3441700" y="155067"/>
                  </a:cubicBezTo>
                  <a:lnTo>
                    <a:pt x="3441700" y="594233"/>
                  </a:lnTo>
                  <a:cubicBezTo>
                    <a:pt x="3441700" y="679831"/>
                    <a:pt x="3372231" y="749300"/>
                    <a:pt x="3286633" y="749300"/>
                  </a:cubicBezTo>
                  <a:lnTo>
                    <a:pt x="155067" y="749300"/>
                  </a:lnTo>
                  <a:cubicBezTo>
                    <a:pt x="69469" y="749300"/>
                    <a:pt x="0" y="679831"/>
                    <a:pt x="0" y="594233"/>
                  </a:cubicBezTo>
                  <a:close/>
                </a:path>
              </a:pathLst>
            </a:custGeom>
            <a:solidFill>
              <a:srgbClr val="56DBD6"/>
            </a:solidFill>
            <a:ln w="9525" cap="sq">
              <a:solidFill>
                <a:srgbClr val="294757"/>
              </a:solidFill>
              <a:prstDash val="solid"/>
              <a:miter/>
            </a:ln>
          </p:spPr>
        </p:sp>
        <p:sp>
          <p:nvSpPr>
            <p:cNvPr name="TextBox 8" id="8"/>
            <p:cNvSpPr txBox="true"/>
            <p:nvPr/>
          </p:nvSpPr>
          <p:spPr>
            <a:xfrm>
              <a:off x="0" y="-47625"/>
              <a:ext cx="3441700" cy="796925"/>
            </a:xfrm>
            <a:prstGeom prst="rect">
              <a:avLst/>
            </a:prstGeom>
          </p:spPr>
          <p:txBody>
            <a:bodyPr anchor="t" rtlCol="false" tIns="50800" lIns="50800" bIns="50800" rIns="50800"/>
            <a:lstStyle/>
            <a:p>
              <a:pPr algn="l">
                <a:lnSpc>
                  <a:spcPts val="2340"/>
                </a:lnSpc>
              </a:pPr>
              <a:r>
                <a:rPr lang="en-US" sz="1950" b="true">
                  <a:solidFill>
                    <a:srgbClr val="0B1B28"/>
                  </a:solidFill>
                  <a:latin typeface="Calibri (MS) Bold"/>
                  <a:ea typeface="Calibri (MS) Bold"/>
                  <a:cs typeface="Calibri (MS) Bold"/>
                  <a:sym typeface="Calibri (MS) Bold"/>
                </a:rPr>
                <a:t>Volver al MVP</a:t>
              </a:r>
            </a:p>
          </p:txBody>
        </p:sp>
      </p:grpSp>
      <p:sp>
        <p:nvSpPr>
          <p:cNvPr name="TextBox 9" id="9"/>
          <p:cNvSpPr txBox="true"/>
          <p:nvPr/>
        </p:nvSpPr>
        <p:spPr>
          <a:xfrm rot="0">
            <a:off x="3810000" y="9210675"/>
            <a:ext cx="12382500" cy="466725"/>
          </a:xfrm>
          <a:prstGeom prst="rect">
            <a:avLst/>
          </a:prstGeom>
        </p:spPr>
        <p:txBody>
          <a:bodyPr anchor="t" rtlCol="false" tIns="0" lIns="0" bIns="0" rIns="0">
            <a:spAutoFit/>
          </a:bodyPr>
          <a:lstStyle/>
          <a:p>
            <a:pPr algn="l">
              <a:lnSpc>
                <a:spcPts val="2070"/>
              </a:lnSpc>
            </a:pPr>
            <a:r>
              <a:rPr lang="en-US" sz="1725">
                <a:solidFill>
                  <a:srgbClr val="ADC0CC"/>
                </a:solidFill>
                <a:latin typeface="Calibri (MS)"/>
                <a:ea typeface="Calibri (MS)"/>
                <a:cs typeface="Calibri (MS)"/>
                <a:sym typeface="Calibri (MS)"/>
              </a:rPr>
              <a:t>Selecciona «Volver al MVP» para regresar a la vista general.</a:t>
            </a:r>
          </a:p>
        </p:txBody>
      </p:sp>
      <p:grpSp>
        <p:nvGrpSpPr>
          <p:cNvPr name="Group 10" id="10"/>
          <p:cNvGrpSpPr/>
          <p:nvPr/>
        </p:nvGrpSpPr>
        <p:grpSpPr>
          <a:xfrm rot="0">
            <a:off x="909638" y="3328988"/>
            <a:ext cx="8010525" cy="2200275"/>
            <a:chOff x="0" y="0"/>
            <a:chExt cx="10680700" cy="2933700"/>
          </a:xfrm>
        </p:grpSpPr>
        <p:sp>
          <p:nvSpPr>
            <p:cNvPr name="Freeform 11" id="11"/>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sp>
        <p:nvSpPr>
          <p:cNvPr name="TextBox 12" id="12"/>
          <p:cNvSpPr txBox="true"/>
          <p:nvPr/>
        </p:nvSpPr>
        <p:spPr>
          <a:xfrm rot="0">
            <a:off x="1200150" y="3505200"/>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Tareas del técnico</a:t>
            </a:r>
          </a:p>
        </p:txBody>
      </p:sp>
      <p:sp>
        <p:nvSpPr>
          <p:cNvPr name="TextBox 13" id="13"/>
          <p:cNvSpPr txBox="true"/>
          <p:nvPr/>
        </p:nvSpPr>
        <p:spPr>
          <a:xfrm rot="0">
            <a:off x="1200150" y="4124325"/>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Acceder a las órdenes asignadas</a:t>
            </a:r>
          </a:p>
          <a:p>
            <a:pPr algn="l">
              <a:lnSpc>
                <a:spcPts val="2790"/>
              </a:lnSpc>
            </a:pPr>
            <a:r>
              <a:rPr lang="en-US" sz="2325">
                <a:solidFill>
                  <a:srgbClr val="DFE9F0"/>
                </a:solidFill>
                <a:latin typeface="Calibri (MS)"/>
                <a:ea typeface="Calibri (MS)"/>
                <a:cs typeface="Calibri (MS)"/>
                <a:sym typeface="Calibri (MS)"/>
              </a:rPr>
              <a:t>y consultar pendientes e historial</a:t>
            </a:r>
          </a:p>
          <a:p>
            <a:pPr algn="l">
              <a:lnSpc>
                <a:spcPts val="2790"/>
              </a:lnSpc>
            </a:pPr>
            <a:r>
              <a:rPr lang="en-US" sz="2325">
                <a:solidFill>
                  <a:srgbClr val="DFE9F0"/>
                </a:solidFill>
                <a:latin typeface="Calibri (MS)"/>
                <a:ea typeface="Calibri (MS)"/>
                <a:cs typeface="Calibri (MS)"/>
                <a:sym typeface="Calibri (MS)"/>
              </a:rPr>
              <a:t>de las intervenciones.</a:t>
            </a:r>
          </a:p>
        </p:txBody>
      </p:sp>
      <p:grpSp>
        <p:nvGrpSpPr>
          <p:cNvPr name="Group 14" id="14"/>
          <p:cNvGrpSpPr/>
          <p:nvPr/>
        </p:nvGrpSpPr>
        <p:grpSpPr>
          <a:xfrm rot="0">
            <a:off x="9386888" y="3328988"/>
            <a:ext cx="8010525" cy="2200275"/>
            <a:chOff x="0" y="0"/>
            <a:chExt cx="10680700" cy="2933700"/>
          </a:xfrm>
        </p:grpSpPr>
        <p:sp>
          <p:nvSpPr>
            <p:cNvPr name="Freeform 15" id="15"/>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sp>
        <p:nvSpPr>
          <p:cNvPr name="TextBox 16" id="16"/>
          <p:cNvSpPr txBox="true"/>
          <p:nvPr/>
        </p:nvSpPr>
        <p:spPr>
          <a:xfrm rot="0">
            <a:off x="9677400" y="3505200"/>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Reporte de fallas</a:t>
            </a:r>
          </a:p>
        </p:txBody>
      </p:sp>
      <p:sp>
        <p:nvSpPr>
          <p:cNvPr name="TextBox 17" id="17"/>
          <p:cNvSpPr txBox="true"/>
          <p:nvPr/>
        </p:nvSpPr>
        <p:spPr>
          <a:xfrm rot="0">
            <a:off x="9677400" y="4124325"/>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Registrar una falla asociada</a:t>
            </a:r>
          </a:p>
          <a:p>
            <a:pPr algn="l">
              <a:lnSpc>
                <a:spcPts val="2790"/>
              </a:lnSpc>
            </a:pPr>
            <a:r>
              <a:rPr lang="en-US" sz="2325">
                <a:solidFill>
                  <a:srgbClr val="DFE9F0"/>
                </a:solidFill>
                <a:latin typeface="Calibri (MS)"/>
                <a:ea typeface="Calibri (MS)"/>
                <a:cs typeface="Calibri (MS)"/>
                <a:sym typeface="Calibri (MS)"/>
              </a:rPr>
              <a:t>a un activo instalado e incorporar</a:t>
            </a:r>
          </a:p>
          <a:p>
            <a:pPr algn="l">
              <a:lnSpc>
                <a:spcPts val="2790"/>
              </a:lnSpc>
            </a:pPr>
            <a:r>
              <a:rPr lang="en-US" sz="2325">
                <a:solidFill>
                  <a:srgbClr val="DFE9F0"/>
                </a:solidFill>
                <a:latin typeface="Calibri (MS)"/>
                <a:ea typeface="Calibri (MS)"/>
                <a:cs typeface="Calibri (MS)"/>
                <a:sym typeface="Calibri (MS)"/>
              </a:rPr>
              <a:t>los antecedentes de la incidencia.</a:t>
            </a:r>
          </a:p>
        </p:txBody>
      </p:sp>
      <p:grpSp>
        <p:nvGrpSpPr>
          <p:cNvPr name="Group 18" id="18"/>
          <p:cNvGrpSpPr/>
          <p:nvPr/>
        </p:nvGrpSpPr>
        <p:grpSpPr>
          <a:xfrm rot="0">
            <a:off x="909638" y="5853112"/>
            <a:ext cx="8010525" cy="2200275"/>
            <a:chOff x="0" y="0"/>
            <a:chExt cx="10680700" cy="2933700"/>
          </a:xfrm>
        </p:grpSpPr>
        <p:sp>
          <p:nvSpPr>
            <p:cNvPr name="Freeform 19" id="19"/>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sp>
        <p:nvSpPr>
          <p:cNvPr name="TextBox 20" id="20"/>
          <p:cNvSpPr txBox="true"/>
          <p:nvPr/>
        </p:nvSpPr>
        <p:spPr>
          <a:xfrm rot="0">
            <a:off x="1200150" y="6029325"/>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Historial del activo</a:t>
            </a:r>
          </a:p>
        </p:txBody>
      </p:sp>
      <p:sp>
        <p:nvSpPr>
          <p:cNvPr name="TextBox 21" id="21"/>
          <p:cNvSpPr txBox="true"/>
          <p:nvPr/>
        </p:nvSpPr>
        <p:spPr>
          <a:xfrm rot="0">
            <a:off x="1200150" y="6648450"/>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Buscar por serie o por orden de servicio</a:t>
            </a:r>
          </a:p>
          <a:p>
            <a:pPr algn="l">
              <a:lnSpc>
                <a:spcPts val="2790"/>
              </a:lnSpc>
            </a:pPr>
            <a:r>
              <a:rPr lang="en-US" sz="2325">
                <a:solidFill>
                  <a:srgbClr val="DFE9F0"/>
                </a:solidFill>
                <a:latin typeface="Calibri (MS)"/>
                <a:ea typeface="Calibri (MS)"/>
                <a:cs typeface="Calibri (MS)"/>
                <a:sym typeface="Calibri (MS)"/>
              </a:rPr>
              <a:t>y consultar los antecedentes</a:t>
            </a:r>
          </a:p>
          <a:p>
            <a:pPr algn="l">
              <a:lnSpc>
                <a:spcPts val="2790"/>
              </a:lnSpc>
            </a:pPr>
            <a:r>
              <a:rPr lang="en-US" sz="2325">
                <a:solidFill>
                  <a:srgbClr val="DFE9F0"/>
                </a:solidFill>
                <a:latin typeface="Calibri (MS)"/>
                <a:ea typeface="Calibri (MS)"/>
                <a:cs typeface="Calibri (MS)"/>
                <a:sym typeface="Calibri (MS)"/>
              </a:rPr>
              <a:t>relacionados con el equipo.</a:t>
            </a:r>
          </a:p>
        </p:txBody>
      </p:sp>
      <p:grpSp>
        <p:nvGrpSpPr>
          <p:cNvPr name="Group 22" id="22"/>
          <p:cNvGrpSpPr/>
          <p:nvPr/>
        </p:nvGrpSpPr>
        <p:grpSpPr>
          <a:xfrm rot="0">
            <a:off x="9386888" y="5853112"/>
            <a:ext cx="8010525" cy="2200275"/>
            <a:chOff x="0" y="0"/>
            <a:chExt cx="10680700" cy="2933700"/>
          </a:xfrm>
        </p:grpSpPr>
        <p:sp>
          <p:nvSpPr>
            <p:cNvPr name="Freeform 23" id="23"/>
            <p:cNvSpPr/>
            <p:nvPr/>
          </p:nvSpPr>
          <p:spPr>
            <a:xfrm flipH="false" flipV="false" rot="0">
              <a:off x="0" y="0"/>
              <a:ext cx="10680700" cy="2933700"/>
            </a:xfrm>
            <a:custGeom>
              <a:avLst/>
              <a:gdLst/>
              <a:ahLst/>
              <a:cxnLst/>
              <a:rect r="r" b="b" t="t" l="l"/>
              <a:pathLst>
                <a:path h="2933700" w="10680700">
                  <a:moveTo>
                    <a:pt x="0" y="153035"/>
                  </a:moveTo>
                  <a:cubicBezTo>
                    <a:pt x="0" y="68580"/>
                    <a:pt x="68580" y="0"/>
                    <a:pt x="153035" y="0"/>
                  </a:cubicBezTo>
                  <a:lnTo>
                    <a:pt x="10527665" y="0"/>
                  </a:lnTo>
                  <a:cubicBezTo>
                    <a:pt x="10612120" y="0"/>
                    <a:pt x="10680700" y="68580"/>
                    <a:pt x="10680700" y="153035"/>
                  </a:cubicBezTo>
                  <a:lnTo>
                    <a:pt x="10680700" y="2780665"/>
                  </a:lnTo>
                  <a:cubicBezTo>
                    <a:pt x="10680700" y="2865247"/>
                    <a:pt x="10612120" y="2933700"/>
                    <a:pt x="10527665" y="2933700"/>
                  </a:cubicBezTo>
                  <a:lnTo>
                    <a:pt x="153035" y="2933700"/>
                  </a:lnTo>
                  <a:cubicBezTo>
                    <a:pt x="68580" y="2933700"/>
                    <a:pt x="0" y="2865120"/>
                    <a:pt x="0" y="2780665"/>
                  </a:cubicBezTo>
                  <a:close/>
                </a:path>
              </a:pathLst>
            </a:custGeom>
            <a:solidFill>
              <a:srgbClr val="132B3B"/>
            </a:solidFill>
            <a:ln w="9525" cap="sq">
              <a:solidFill>
                <a:srgbClr val="294757"/>
              </a:solidFill>
              <a:prstDash val="solid"/>
              <a:miter/>
            </a:ln>
          </p:spPr>
        </p:sp>
      </p:grpSp>
      <p:sp>
        <p:nvSpPr>
          <p:cNvPr name="TextBox 24" id="24"/>
          <p:cNvSpPr txBox="true"/>
          <p:nvPr/>
        </p:nvSpPr>
        <p:spPr>
          <a:xfrm rot="0">
            <a:off x="9677400" y="6029325"/>
            <a:ext cx="7429500" cy="533400"/>
          </a:xfrm>
          <a:prstGeom prst="rect">
            <a:avLst/>
          </a:prstGeom>
        </p:spPr>
        <p:txBody>
          <a:bodyPr anchor="t" rtlCol="false" tIns="0" lIns="0" bIns="0" rIns="0">
            <a:spAutoFit/>
          </a:bodyPr>
          <a:lstStyle/>
          <a:p>
            <a:pPr algn="l">
              <a:lnSpc>
                <a:spcPts val="3150"/>
              </a:lnSpc>
            </a:pPr>
            <a:r>
              <a:rPr lang="en-US" sz="2625" b="true">
                <a:solidFill>
                  <a:srgbClr val="56DBD6"/>
                </a:solidFill>
                <a:latin typeface="Calibri (MS) Bold"/>
                <a:ea typeface="Calibri (MS) Bold"/>
                <a:cs typeface="Calibri (MS) Bold"/>
                <a:sym typeface="Calibri (MS) Bold"/>
              </a:rPr>
              <a:t>Evidencia de intervención</a:t>
            </a:r>
          </a:p>
        </p:txBody>
      </p:sp>
      <p:sp>
        <p:nvSpPr>
          <p:cNvPr name="TextBox 25" id="25"/>
          <p:cNvSpPr txBox="true"/>
          <p:nvPr/>
        </p:nvSpPr>
        <p:spPr>
          <a:xfrm rot="0">
            <a:off x="9677400" y="6648450"/>
            <a:ext cx="7429500" cy="1285875"/>
          </a:xfrm>
          <a:prstGeom prst="rect">
            <a:avLst/>
          </a:prstGeom>
        </p:spPr>
        <p:txBody>
          <a:bodyPr anchor="t" rtlCol="false" tIns="0" lIns="0" bIns="0" rIns="0">
            <a:spAutoFit/>
          </a:bodyPr>
          <a:lstStyle/>
          <a:p>
            <a:pPr algn="l">
              <a:lnSpc>
                <a:spcPts val="2790"/>
              </a:lnSpc>
            </a:pPr>
            <a:r>
              <a:rPr lang="en-US" sz="2325">
                <a:solidFill>
                  <a:srgbClr val="DFE9F0"/>
                </a:solidFill>
                <a:latin typeface="Calibri (MS)"/>
                <a:ea typeface="Calibri (MS)"/>
                <a:cs typeface="Calibri (MS)"/>
                <a:sym typeface="Calibri (MS)"/>
              </a:rPr>
              <a:t>Asociar evidencia y antecedentes</a:t>
            </a:r>
          </a:p>
          <a:p>
            <a:pPr algn="l">
              <a:lnSpc>
                <a:spcPts val="2790"/>
              </a:lnSpc>
            </a:pPr>
            <a:r>
              <a:rPr lang="en-US" sz="2325">
                <a:solidFill>
                  <a:srgbClr val="DFE9F0"/>
                </a:solidFill>
                <a:latin typeface="Calibri (MS)"/>
                <a:ea typeface="Calibri (MS)"/>
                <a:cs typeface="Calibri (MS)"/>
                <a:sym typeface="Calibri (MS)"/>
              </a:rPr>
              <a:t>al trabajo realizado para mantener</a:t>
            </a:r>
          </a:p>
          <a:p>
            <a:pPr algn="l">
              <a:lnSpc>
                <a:spcPts val="2790"/>
              </a:lnSpc>
            </a:pPr>
            <a:r>
              <a:rPr lang="en-US" sz="2325">
                <a:solidFill>
                  <a:srgbClr val="DFE9F0"/>
                </a:solidFill>
                <a:latin typeface="Calibri (MS)"/>
                <a:ea typeface="Calibri (MS)"/>
                <a:cs typeface="Calibri (MS)"/>
                <a:sym typeface="Calibri (MS)"/>
              </a:rPr>
              <a:t>el registro de la intervención.</a:t>
            </a:r>
          </a:p>
        </p:txBody>
      </p:sp>
      <p:grpSp>
        <p:nvGrpSpPr>
          <p:cNvPr name="Group 26" id="26"/>
          <p:cNvGrpSpPr/>
          <p:nvPr/>
        </p:nvGrpSpPr>
        <p:grpSpPr>
          <a:xfrm rot="0">
            <a:off x="14575945" y="490728"/>
            <a:ext cx="2970052" cy="823722"/>
            <a:chOff x="0" y="0"/>
            <a:chExt cx="2762250" cy="766089"/>
          </a:xfrm>
        </p:grpSpPr>
        <p:sp>
          <p:nvSpPr>
            <p:cNvPr name="Freeform 27" id="27"/>
            <p:cNvSpPr/>
            <p:nvPr/>
          </p:nvSpPr>
          <p:spPr>
            <a:xfrm flipH="false" flipV="false" rot="0">
              <a:off x="0" y="0"/>
              <a:ext cx="2762250" cy="766064"/>
            </a:xfrm>
            <a:custGeom>
              <a:avLst/>
              <a:gdLst/>
              <a:ahLst/>
              <a:cxnLst/>
              <a:rect r="r" b="b" t="t" l="l"/>
              <a:pathLst>
                <a:path h="766064" w="2762250">
                  <a:moveTo>
                    <a:pt x="0" y="0"/>
                  </a:moveTo>
                  <a:lnTo>
                    <a:pt x="2762250" y="0"/>
                  </a:lnTo>
                  <a:lnTo>
                    <a:pt x="2762250" y="766064"/>
                  </a:lnTo>
                  <a:lnTo>
                    <a:pt x="0" y="766064"/>
                  </a:lnTo>
                  <a:lnTo>
                    <a:pt x="0" y="0"/>
                  </a:lnTo>
                  <a:close/>
                </a:path>
              </a:pathLst>
            </a:custGeom>
            <a:blipFill>
              <a:blip r:embed="rId4"/>
              <a:stretch>
                <a:fillRect l="0" t="0" r="0" b="-3"/>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283" t="0" r="-283" b="0"/>
            </a:stretch>
          </a:blipFill>
        </p:spPr>
      </p:sp>
      <p:sp>
        <p:nvSpPr>
          <p:cNvPr name="TextBox 3" id="3"/>
          <p:cNvSpPr txBox="true"/>
          <p:nvPr/>
        </p:nvSpPr>
        <p:spPr>
          <a:xfrm rot="0">
            <a:off x="914400" y="628650"/>
            <a:ext cx="12382500" cy="419100"/>
          </a:xfrm>
          <a:prstGeom prst="rect">
            <a:avLst/>
          </a:prstGeom>
        </p:spPr>
        <p:txBody>
          <a:bodyPr anchor="t" rtlCol="false" tIns="0" lIns="0" bIns="0" rIns="0">
            <a:spAutoFit/>
          </a:bodyPr>
          <a:lstStyle/>
          <a:p>
            <a:pPr algn="l">
              <a:lnSpc>
                <a:spcPts val="2250"/>
              </a:lnSpc>
            </a:pPr>
            <a:r>
              <a:rPr lang="en-US" sz="1875" b="true">
                <a:solidFill>
                  <a:srgbClr val="56DBD6"/>
                </a:solidFill>
                <a:latin typeface="Calibri (MS) Bold"/>
                <a:ea typeface="Calibri (MS) Bold"/>
                <a:cs typeface="Calibri (MS) Bold"/>
                <a:sym typeface="Calibri (MS) Bold"/>
              </a:rPr>
              <a:t>03 · FLUJO OPERATIVO</a:t>
            </a:r>
          </a:p>
        </p:txBody>
      </p:sp>
      <p:sp>
        <p:nvSpPr>
          <p:cNvPr name="TextBox 4" id="4"/>
          <p:cNvSpPr txBox="true"/>
          <p:nvPr/>
        </p:nvSpPr>
        <p:spPr>
          <a:xfrm rot="0">
            <a:off x="914400" y="1162050"/>
            <a:ext cx="15716250" cy="1000125"/>
          </a:xfrm>
          <a:prstGeom prst="rect">
            <a:avLst/>
          </a:prstGeom>
        </p:spPr>
        <p:txBody>
          <a:bodyPr anchor="t" rtlCol="false" tIns="0" lIns="0" bIns="0" rIns="0">
            <a:spAutoFit/>
          </a:bodyPr>
          <a:lstStyle/>
          <a:p>
            <a:pPr algn="l">
              <a:lnSpc>
                <a:spcPts val="5220"/>
              </a:lnSpc>
            </a:pPr>
            <a:r>
              <a:rPr lang="en-US" sz="4350" b="true">
                <a:solidFill>
                  <a:srgbClr val="FFFFFF"/>
                </a:solidFill>
                <a:latin typeface="Calibri (MS) Bold"/>
                <a:ea typeface="Calibri (MS) Bold"/>
                <a:cs typeface="Calibri (MS) Bold"/>
                <a:sym typeface="Calibri (MS) Bold"/>
              </a:rPr>
              <a:t>Recorrido del activo y decisión de QA</a:t>
            </a:r>
          </a:p>
        </p:txBody>
      </p:sp>
      <p:sp>
        <p:nvSpPr>
          <p:cNvPr name="TextBox 5" id="5"/>
          <p:cNvSpPr txBox="true"/>
          <p:nvPr/>
        </p:nvSpPr>
        <p:spPr>
          <a:xfrm rot="0">
            <a:off x="914400" y="2209800"/>
            <a:ext cx="16287750" cy="723900"/>
          </a:xfrm>
          <a:prstGeom prst="rect">
            <a:avLst/>
          </a:prstGeom>
        </p:spPr>
        <p:txBody>
          <a:bodyPr anchor="t" rtlCol="false" tIns="0" lIns="0" bIns="0" rIns="0">
            <a:spAutoFit/>
          </a:bodyPr>
          <a:lstStyle/>
          <a:p>
            <a:pPr algn="l">
              <a:lnSpc>
                <a:spcPts val="2700"/>
              </a:lnSpc>
            </a:pPr>
            <a:r>
              <a:rPr lang="en-US" sz="2250">
                <a:solidFill>
                  <a:srgbClr val="ADC0CC"/>
                </a:solidFill>
                <a:latin typeface="Calibri (MS)"/>
                <a:ea typeface="Calibri (MS)"/>
                <a:cs typeface="Calibri (MS)"/>
                <a:sym typeface="Calibri (MS)"/>
              </a:rPr>
              <a:t>Las recepciones registran el paso físico del equipo entre áreas.</a:t>
            </a:r>
          </a:p>
        </p:txBody>
      </p:sp>
      <p:grpSp>
        <p:nvGrpSpPr>
          <p:cNvPr name="Group 6" id="6"/>
          <p:cNvGrpSpPr/>
          <p:nvPr/>
        </p:nvGrpSpPr>
        <p:grpSpPr>
          <a:xfrm rot="0">
            <a:off x="909638" y="9110662"/>
            <a:ext cx="2581275" cy="561975"/>
            <a:chOff x="0" y="0"/>
            <a:chExt cx="3441700" cy="749300"/>
          </a:xfrm>
        </p:grpSpPr>
        <p:sp>
          <p:nvSpPr>
            <p:cNvPr name="Freeform 7" id="7"/>
            <p:cNvSpPr/>
            <p:nvPr/>
          </p:nvSpPr>
          <p:spPr>
            <a:xfrm flipH="false" flipV="false" rot="0">
              <a:off x="0" y="0"/>
              <a:ext cx="3441700" cy="749300"/>
            </a:xfrm>
            <a:custGeom>
              <a:avLst/>
              <a:gdLst/>
              <a:ahLst/>
              <a:cxnLst/>
              <a:rect r="r" b="b" t="t" l="l"/>
              <a:pathLst>
                <a:path h="749300" w="3441700">
                  <a:moveTo>
                    <a:pt x="0" y="155067"/>
                  </a:moveTo>
                  <a:cubicBezTo>
                    <a:pt x="0" y="69469"/>
                    <a:pt x="69469" y="0"/>
                    <a:pt x="155067" y="0"/>
                  </a:cubicBezTo>
                  <a:lnTo>
                    <a:pt x="3286633" y="0"/>
                  </a:lnTo>
                  <a:cubicBezTo>
                    <a:pt x="3372231" y="0"/>
                    <a:pt x="3441700" y="69469"/>
                    <a:pt x="3441700" y="155067"/>
                  </a:cubicBezTo>
                  <a:lnTo>
                    <a:pt x="3441700" y="594233"/>
                  </a:lnTo>
                  <a:cubicBezTo>
                    <a:pt x="3441700" y="679831"/>
                    <a:pt x="3372231" y="749300"/>
                    <a:pt x="3286633" y="749300"/>
                  </a:cubicBezTo>
                  <a:lnTo>
                    <a:pt x="155067" y="749300"/>
                  </a:lnTo>
                  <a:cubicBezTo>
                    <a:pt x="69469" y="749300"/>
                    <a:pt x="0" y="679831"/>
                    <a:pt x="0" y="594233"/>
                  </a:cubicBezTo>
                  <a:close/>
                </a:path>
              </a:pathLst>
            </a:custGeom>
            <a:solidFill>
              <a:srgbClr val="56DBD6"/>
            </a:solidFill>
            <a:ln w="9525" cap="sq">
              <a:solidFill>
                <a:srgbClr val="294757"/>
              </a:solidFill>
              <a:prstDash val="solid"/>
              <a:miter/>
            </a:ln>
          </p:spPr>
        </p:sp>
        <p:sp>
          <p:nvSpPr>
            <p:cNvPr name="TextBox 8" id="8"/>
            <p:cNvSpPr txBox="true"/>
            <p:nvPr/>
          </p:nvSpPr>
          <p:spPr>
            <a:xfrm>
              <a:off x="0" y="-47625"/>
              <a:ext cx="3441700" cy="796925"/>
            </a:xfrm>
            <a:prstGeom prst="rect">
              <a:avLst/>
            </a:prstGeom>
          </p:spPr>
          <p:txBody>
            <a:bodyPr anchor="t" rtlCol="false" tIns="50800" lIns="50800" bIns="50800" rIns="50800"/>
            <a:lstStyle/>
            <a:p>
              <a:pPr algn="l">
                <a:lnSpc>
                  <a:spcPts val="2340"/>
                </a:lnSpc>
              </a:pPr>
              <a:r>
                <a:rPr lang="en-US" sz="1950" b="true">
                  <a:solidFill>
                    <a:srgbClr val="0B1B28"/>
                  </a:solidFill>
                  <a:latin typeface="Calibri (MS) Bold"/>
                  <a:ea typeface="Calibri (MS) Bold"/>
                  <a:cs typeface="Calibri (MS) Bold"/>
                  <a:sym typeface="Calibri (MS) Bold"/>
                </a:rPr>
                <a:t>Volver al MVP</a:t>
              </a:r>
            </a:p>
          </p:txBody>
        </p:sp>
      </p:grpSp>
      <p:sp>
        <p:nvSpPr>
          <p:cNvPr name="TextBox 9" id="9"/>
          <p:cNvSpPr txBox="true"/>
          <p:nvPr/>
        </p:nvSpPr>
        <p:spPr>
          <a:xfrm rot="0">
            <a:off x="3810000" y="9210675"/>
            <a:ext cx="12382500" cy="466725"/>
          </a:xfrm>
          <a:prstGeom prst="rect">
            <a:avLst/>
          </a:prstGeom>
        </p:spPr>
        <p:txBody>
          <a:bodyPr anchor="t" rtlCol="false" tIns="0" lIns="0" bIns="0" rIns="0">
            <a:spAutoFit/>
          </a:bodyPr>
          <a:lstStyle/>
          <a:p>
            <a:pPr algn="l">
              <a:lnSpc>
                <a:spcPts val="2070"/>
              </a:lnSpc>
            </a:pPr>
            <a:r>
              <a:rPr lang="en-US" sz="1725">
                <a:solidFill>
                  <a:srgbClr val="ADC0CC"/>
                </a:solidFill>
                <a:latin typeface="Calibri (MS)"/>
                <a:ea typeface="Calibri (MS)"/>
                <a:cs typeface="Calibri (MS)"/>
                <a:sym typeface="Calibri (MS)"/>
              </a:rPr>
              <a:t>Selecciona «Volver al MVP» para regresar a la vista general.</a:t>
            </a:r>
          </a:p>
        </p:txBody>
      </p:sp>
      <p:grpSp>
        <p:nvGrpSpPr>
          <p:cNvPr name="Group 10" id="10"/>
          <p:cNvGrpSpPr/>
          <p:nvPr/>
        </p:nvGrpSpPr>
        <p:grpSpPr>
          <a:xfrm rot="0">
            <a:off x="909638" y="3376612"/>
            <a:ext cx="2943225" cy="1438275"/>
            <a:chOff x="0" y="0"/>
            <a:chExt cx="3924300" cy="1917700"/>
          </a:xfrm>
        </p:grpSpPr>
        <p:sp>
          <p:nvSpPr>
            <p:cNvPr name="Freeform 11" id="11"/>
            <p:cNvSpPr/>
            <p:nvPr/>
          </p:nvSpPr>
          <p:spPr>
            <a:xfrm flipH="false" flipV="false" rot="0">
              <a:off x="0" y="0"/>
              <a:ext cx="3924300" cy="1917700"/>
            </a:xfrm>
            <a:custGeom>
              <a:avLst/>
              <a:gdLst/>
              <a:ahLst/>
              <a:cxnLst/>
              <a:rect r="r" b="b" t="t" l="l"/>
              <a:pathLst>
                <a:path h="1917700" w="3924300">
                  <a:moveTo>
                    <a:pt x="0" y="153416"/>
                  </a:moveTo>
                  <a:cubicBezTo>
                    <a:pt x="0" y="68707"/>
                    <a:pt x="68707" y="0"/>
                    <a:pt x="153416" y="0"/>
                  </a:cubicBezTo>
                  <a:lnTo>
                    <a:pt x="3770884" y="0"/>
                  </a:lnTo>
                  <a:cubicBezTo>
                    <a:pt x="3855593" y="0"/>
                    <a:pt x="3924300" y="68707"/>
                    <a:pt x="3924300" y="153416"/>
                  </a:cubicBezTo>
                  <a:lnTo>
                    <a:pt x="3924300" y="1764284"/>
                  </a:lnTo>
                  <a:cubicBezTo>
                    <a:pt x="3924300" y="1848993"/>
                    <a:pt x="3855593" y="1917700"/>
                    <a:pt x="3770884" y="1917700"/>
                  </a:cubicBezTo>
                  <a:lnTo>
                    <a:pt x="153416" y="1917700"/>
                  </a:lnTo>
                  <a:cubicBezTo>
                    <a:pt x="68707" y="1917700"/>
                    <a:pt x="0" y="1848993"/>
                    <a:pt x="0" y="1764284"/>
                  </a:cubicBezTo>
                  <a:close/>
                </a:path>
              </a:pathLst>
            </a:custGeom>
            <a:solidFill>
              <a:srgbClr val="132B3B"/>
            </a:solidFill>
            <a:ln w="9525" cap="sq">
              <a:solidFill>
                <a:srgbClr val="294757"/>
              </a:solidFill>
              <a:prstDash val="solid"/>
              <a:miter/>
            </a:ln>
          </p:spPr>
        </p:sp>
      </p:grpSp>
      <p:sp>
        <p:nvSpPr>
          <p:cNvPr name="TextBox 12" id="12"/>
          <p:cNvSpPr txBox="true"/>
          <p:nvPr/>
        </p:nvSpPr>
        <p:spPr>
          <a:xfrm rot="0">
            <a:off x="1104900" y="3552825"/>
            <a:ext cx="2571750" cy="476250"/>
          </a:xfrm>
          <a:prstGeom prst="rect">
            <a:avLst/>
          </a:prstGeom>
        </p:spPr>
        <p:txBody>
          <a:bodyPr anchor="t" rtlCol="false" tIns="0" lIns="0" bIns="0" rIns="0">
            <a:spAutoFit/>
          </a:bodyPr>
          <a:lstStyle/>
          <a:p>
            <a:pPr algn="l">
              <a:lnSpc>
                <a:spcPts val="2790"/>
              </a:lnSpc>
            </a:pPr>
            <a:r>
              <a:rPr lang="en-US" sz="2325" b="true">
                <a:solidFill>
                  <a:srgbClr val="56DBD6"/>
                </a:solidFill>
                <a:latin typeface="Calibri (MS) Bold"/>
                <a:ea typeface="Calibri (MS) Bold"/>
                <a:cs typeface="Calibri (MS) Bold"/>
                <a:sym typeface="Calibri (MS) Bold"/>
              </a:rPr>
              <a:t>Terreno</a:t>
            </a:r>
          </a:p>
        </p:txBody>
      </p:sp>
      <p:sp>
        <p:nvSpPr>
          <p:cNvPr name="TextBox 13" id="13"/>
          <p:cNvSpPr txBox="true"/>
          <p:nvPr/>
        </p:nvSpPr>
        <p:spPr>
          <a:xfrm rot="0">
            <a:off x="1104900" y="4105275"/>
            <a:ext cx="2571750" cy="476250"/>
          </a:xfrm>
          <a:prstGeom prst="rect">
            <a:avLst/>
          </a:prstGeom>
        </p:spPr>
        <p:txBody>
          <a:bodyPr anchor="t" rtlCol="false" tIns="0" lIns="0" bIns="0" rIns="0">
            <a:spAutoFit/>
          </a:bodyPr>
          <a:lstStyle/>
          <a:p>
            <a:pPr algn="l">
              <a:lnSpc>
                <a:spcPts val="2520"/>
              </a:lnSpc>
            </a:pPr>
            <a:r>
              <a:rPr lang="en-US" sz="2100">
                <a:solidFill>
                  <a:srgbClr val="DFE9F0"/>
                </a:solidFill>
                <a:latin typeface="Calibri (MS)"/>
                <a:ea typeface="Calibri (MS)"/>
                <a:cs typeface="Calibri (MS)"/>
                <a:sym typeface="Calibri (MS)"/>
              </a:rPr>
              <a:t>Retiro</a:t>
            </a:r>
          </a:p>
        </p:txBody>
      </p:sp>
      <p:sp>
        <p:nvSpPr>
          <p:cNvPr name="TextBox 14" id="14"/>
          <p:cNvSpPr txBox="true"/>
          <p:nvPr/>
        </p:nvSpPr>
        <p:spPr>
          <a:xfrm rot="0">
            <a:off x="3914775" y="3743325"/>
            <a:ext cx="323850" cy="533400"/>
          </a:xfrm>
          <a:prstGeom prst="rect">
            <a:avLst/>
          </a:prstGeom>
        </p:spPr>
        <p:txBody>
          <a:bodyPr anchor="t" rtlCol="false" tIns="0" lIns="0" bIns="0" rIns="0">
            <a:spAutoFit/>
          </a:bodyPr>
          <a:lstStyle/>
          <a:p>
            <a:pPr algn="l">
              <a:lnSpc>
                <a:spcPts val="3240"/>
              </a:lnSpc>
            </a:pPr>
            <a:r>
              <a:rPr lang="en-US" sz="2700" b="true">
                <a:solidFill>
                  <a:srgbClr val="56DBD6"/>
                </a:solidFill>
                <a:latin typeface="Calibri (MS) Bold"/>
                <a:ea typeface="Calibri (MS) Bold"/>
                <a:cs typeface="Calibri (MS) Bold"/>
                <a:sym typeface="Calibri (MS) Bold"/>
              </a:rPr>
              <a:t>→</a:t>
            </a:r>
          </a:p>
        </p:txBody>
      </p:sp>
      <p:grpSp>
        <p:nvGrpSpPr>
          <p:cNvPr name="Group 15" id="15"/>
          <p:cNvGrpSpPr/>
          <p:nvPr/>
        </p:nvGrpSpPr>
        <p:grpSpPr>
          <a:xfrm rot="0">
            <a:off x="4224338" y="3376612"/>
            <a:ext cx="2943225" cy="1438275"/>
            <a:chOff x="0" y="0"/>
            <a:chExt cx="3924300" cy="1917700"/>
          </a:xfrm>
        </p:grpSpPr>
        <p:sp>
          <p:nvSpPr>
            <p:cNvPr name="Freeform 16" id="16"/>
            <p:cNvSpPr/>
            <p:nvPr/>
          </p:nvSpPr>
          <p:spPr>
            <a:xfrm flipH="false" flipV="false" rot="0">
              <a:off x="0" y="0"/>
              <a:ext cx="3924300" cy="1917700"/>
            </a:xfrm>
            <a:custGeom>
              <a:avLst/>
              <a:gdLst/>
              <a:ahLst/>
              <a:cxnLst/>
              <a:rect r="r" b="b" t="t" l="l"/>
              <a:pathLst>
                <a:path h="1917700" w="3924300">
                  <a:moveTo>
                    <a:pt x="0" y="153416"/>
                  </a:moveTo>
                  <a:cubicBezTo>
                    <a:pt x="0" y="68707"/>
                    <a:pt x="68707" y="0"/>
                    <a:pt x="153416" y="0"/>
                  </a:cubicBezTo>
                  <a:lnTo>
                    <a:pt x="3770884" y="0"/>
                  </a:lnTo>
                  <a:cubicBezTo>
                    <a:pt x="3855593" y="0"/>
                    <a:pt x="3924300" y="68707"/>
                    <a:pt x="3924300" y="153416"/>
                  </a:cubicBezTo>
                  <a:lnTo>
                    <a:pt x="3924300" y="1764284"/>
                  </a:lnTo>
                  <a:cubicBezTo>
                    <a:pt x="3924300" y="1848993"/>
                    <a:pt x="3855593" y="1917700"/>
                    <a:pt x="3770884" y="1917700"/>
                  </a:cubicBezTo>
                  <a:lnTo>
                    <a:pt x="153416" y="1917700"/>
                  </a:lnTo>
                  <a:cubicBezTo>
                    <a:pt x="68707" y="1917700"/>
                    <a:pt x="0" y="1848993"/>
                    <a:pt x="0" y="1764284"/>
                  </a:cubicBezTo>
                  <a:close/>
                </a:path>
              </a:pathLst>
            </a:custGeom>
            <a:solidFill>
              <a:srgbClr val="132B3B"/>
            </a:solidFill>
            <a:ln w="9525" cap="sq">
              <a:solidFill>
                <a:srgbClr val="294757"/>
              </a:solidFill>
              <a:prstDash val="solid"/>
              <a:miter/>
            </a:ln>
          </p:spPr>
        </p:sp>
      </p:grpSp>
      <p:sp>
        <p:nvSpPr>
          <p:cNvPr name="TextBox 17" id="17"/>
          <p:cNvSpPr txBox="true"/>
          <p:nvPr/>
        </p:nvSpPr>
        <p:spPr>
          <a:xfrm rot="0">
            <a:off x="4419600" y="3552825"/>
            <a:ext cx="2571750" cy="476250"/>
          </a:xfrm>
          <a:prstGeom prst="rect">
            <a:avLst/>
          </a:prstGeom>
        </p:spPr>
        <p:txBody>
          <a:bodyPr anchor="t" rtlCol="false" tIns="0" lIns="0" bIns="0" rIns="0">
            <a:spAutoFit/>
          </a:bodyPr>
          <a:lstStyle/>
          <a:p>
            <a:pPr algn="l">
              <a:lnSpc>
                <a:spcPts val="2790"/>
              </a:lnSpc>
            </a:pPr>
            <a:r>
              <a:rPr lang="en-US" sz="2325" b="true">
                <a:solidFill>
                  <a:srgbClr val="56DBD6"/>
                </a:solidFill>
                <a:latin typeface="Calibri (MS) Bold"/>
                <a:ea typeface="Calibri (MS) Bold"/>
                <a:cs typeface="Calibri (MS) Bold"/>
                <a:sym typeface="Calibri (MS) Bold"/>
              </a:rPr>
              <a:t>Bodega</a:t>
            </a:r>
          </a:p>
        </p:txBody>
      </p:sp>
      <p:sp>
        <p:nvSpPr>
          <p:cNvPr name="TextBox 18" id="18"/>
          <p:cNvSpPr txBox="true"/>
          <p:nvPr/>
        </p:nvSpPr>
        <p:spPr>
          <a:xfrm rot="0">
            <a:off x="4419600" y="4105275"/>
            <a:ext cx="2571750" cy="476250"/>
          </a:xfrm>
          <a:prstGeom prst="rect">
            <a:avLst/>
          </a:prstGeom>
        </p:spPr>
        <p:txBody>
          <a:bodyPr anchor="t" rtlCol="false" tIns="0" lIns="0" bIns="0" rIns="0">
            <a:spAutoFit/>
          </a:bodyPr>
          <a:lstStyle/>
          <a:p>
            <a:pPr algn="l">
              <a:lnSpc>
                <a:spcPts val="2520"/>
              </a:lnSpc>
            </a:pPr>
            <a:r>
              <a:rPr lang="en-US" sz="2100">
                <a:solidFill>
                  <a:srgbClr val="DFE9F0"/>
                </a:solidFill>
                <a:latin typeface="Calibri (MS)"/>
                <a:ea typeface="Calibri (MS)"/>
                <a:cs typeface="Calibri (MS)"/>
                <a:sym typeface="Calibri (MS)"/>
              </a:rPr>
              <a:t>Recepción</a:t>
            </a:r>
          </a:p>
        </p:txBody>
      </p:sp>
      <p:sp>
        <p:nvSpPr>
          <p:cNvPr name="TextBox 19" id="19"/>
          <p:cNvSpPr txBox="true"/>
          <p:nvPr/>
        </p:nvSpPr>
        <p:spPr>
          <a:xfrm rot="0">
            <a:off x="7229475" y="3743325"/>
            <a:ext cx="323850" cy="533400"/>
          </a:xfrm>
          <a:prstGeom prst="rect">
            <a:avLst/>
          </a:prstGeom>
        </p:spPr>
        <p:txBody>
          <a:bodyPr anchor="t" rtlCol="false" tIns="0" lIns="0" bIns="0" rIns="0">
            <a:spAutoFit/>
          </a:bodyPr>
          <a:lstStyle/>
          <a:p>
            <a:pPr algn="l">
              <a:lnSpc>
                <a:spcPts val="3240"/>
              </a:lnSpc>
            </a:pPr>
            <a:r>
              <a:rPr lang="en-US" sz="2700" b="true">
                <a:solidFill>
                  <a:srgbClr val="56DBD6"/>
                </a:solidFill>
                <a:latin typeface="Calibri (MS) Bold"/>
                <a:ea typeface="Calibri (MS) Bold"/>
                <a:cs typeface="Calibri (MS) Bold"/>
                <a:sym typeface="Calibri (MS) Bold"/>
              </a:rPr>
              <a:t>→</a:t>
            </a:r>
          </a:p>
        </p:txBody>
      </p:sp>
      <p:grpSp>
        <p:nvGrpSpPr>
          <p:cNvPr name="Group 20" id="20"/>
          <p:cNvGrpSpPr/>
          <p:nvPr/>
        </p:nvGrpSpPr>
        <p:grpSpPr>
          <a:xfrm rot="0">
            <a:off x="7539038" y="3376612"/>
            <a:ext cx="2943225" cy="1438275"/>
            <a:chOff x="0" y="0"/>
            <a:chExt cx="3924300" cy="1917700"/>
          </a:xfrm>
        </p:grpSpPr>
        <p:sp>
          <p:nvSpPr>
            <p:cNvPr name="Freeform 21" id="21"/>
            <p:cNvSpPr/>
            <p:nvPr/>
          </p:nvSpPr>
          <p:spPr>
            <a:xfrm flipH="false" flipV="false" rot="0">
              <a:off x="0" y="0"/>
              <a:ext cx="3924300" cy="1917700"/>
            </a:xfrm>
            <a:custGeom>
              <a:avLst/>
              <a:gdLst/>
              <a:ahLst/>
              <a:cxnLst/>
              <a:rect r="r" b="b" t="t" l="l"/>
              <a:pathLst>
                <a:path h="1917700" w="3924300">
                  <a:moveTo>
                    <a:pt x="0" y="153416"/>
                  </a:moveTo>
                  <a:cubicBezTo>
                    <a:pt x="0" y="68707"/>
                    <a:pt x="68707" y="0"/>
                    <a:pt x="153416" y="0"/>
                  </a:cubicBezTo>
                  <a:lnTo>
                    <a:pt x="3770884" y="0"/>
                  </a:lnTo>
                  <a:cubicBezTo>
                    <a:pt x="3855593" y="0"/>
                    <a:pt x="3924300" y="68707"/>
                    <a:pt x="3924300" y="153416"/>
                  </a:cubicBezTo>
                  <a:lnTo>
                    <a:pt x="3924300" y="1764284"/>
                  </a:lnTo>
                  <a:cubicBezTo>
                    <a:pt x="3924300" y="1848993"/>
                    <a:pt x="3855593" y="1917700"/>
                    <a:pt x="3770884" y="1917700"/>
                  </a:cubicBezTo>
                  <a:lnTo>
                    <a:pt x="153416" y="1917700"/>
                  </a:lnTo>
                  <a:cubicBezTo>
                    <a:pt x="68707" y="1917700"/>
                    <a:pt x="0" y="1848993"/>
                    <a:pt x="0" y="1764284"/>
                  </a:cubicBezTo>
                  <a:close/>
                </a:path>
              </a:pathLst>
            </a:custGeom>
            <a:solidFill>
              <a:srgbClr val="132B3B"/>
            </a:solidFill>
            <a:ln w="9525" cap="sq">
              <a:solidFill>
                <a:srgbClr val="294757"/>
              </a:solidFill>
              <a:prstDash val="solid"/>
              <a:miter/>
            </a:ln>
          </p:spPr>
        </p:sp>
      </p:grpSp>
      <p:sp>
        <p:nvSpPr>
          <p:cNvPr name="TextBox 22" id="22"/>
          <p:cNvSpPr txBox="true"/>
          <p:nvPr/>
        </p:nvSpPr>
        <p:spPr>
          <a:xfrm rot="0">
            <a:off x="7734300" y="3552825"/>
            <a:ext cx="2571750" cy="476250"/>
          </a:xfrm>
          <a:prstGeom prst="rect">
            <a:avLst/>
          </a:prstGeom>
        </p:spPr>
        <p:txBody>
          <a:bodyPr anchor="t" rtlCol="false" tIns="0" lIns="0" bIns="0" rIns="0">
            <a:spAutoFit/>
          </a:bodyPr>
          <a:lstStyle/>
          <a:p>
            <a:pPr algn="l">
              <a:lnSpc>
                <a:spcPts val="2790"/>
              </a:lnSpc>
            </a:pPr>
            <a:r>
              <a:rPr lang="en-US" sz="2325" b="true">
                <a:solidFill>
                  <a:srgbClr val="56DBD6"/>
                </a:solidFill>
                <a:latin typeface="Calibri (MS) Bold"/>
                <a:ea typeface="Calibri (MS) Bold"/>
                <a:cs typeface="Calibri (MS) Bold"/>
                <a:sym typeface="Calibri (MS) Bold"/>
              </a:rPr>
              <a:t>Laboratorio</a:t>
            </a:r>
          </a:p>
        </p:txBody>
      </p:sp>
      <p:sp>
        <p:nvSpPr>
          <p:cNvPr name="TextBox 23" id="23"/>
          <p:cNvSpPr txBox="true"/>
          <p:nvPr/>
        </p:nvSpPr>
        <p:spPr>
          <a:xfrm rot="0">
            <a:off x="7734300" y="4105275"/>
            <a:ext cx="2571750" cy="476250"/>
          </a:xfrm>
          <a:prstGeom prst="rect">
            <a:avLst/>
          </a:prstGeom>
        </p:spPr>
        <p:txBody>
          <a:bodyPr anchor="t" rtlCol="false" tIns="0" lIns="0" bIns="0" rIns="0">
            <a:spAutoFit/>
          </a:bodyPr>
          <a:lstStyle/>
          <a:p>
            <a:pPr algn="l">
              <a:lnSpc>
                <a:spcPts val="2520"/>
              </a:lnSpc>
            </a:pPr>
            <a:r>
              <a:rPr lang="en-US" sz="2100">
                <a:solidFill>
                  <a:srgbClr val="DFE9F0"/>
                </a:solidFill>
                <a:latin typeface="Calibri (MS)"/>
                <a:ea typeface="Calibri (MS)"/>
                <a:cs typeface="Calibri (MS)"/>
                <a:sym typeface="Calibri (MS)"/>
              </a:rPr>
              <a:t>Reparación</a:t>
            </a:r>
          </a:p>
        </p:txBody>
      </p:sp>
      <p:sp>
        <p:nvSpPr>
          <p:cNvPr name="TextBox 24" id="24"/>
          <p:cNvSpPr txBox="true"/>
          <p:nvPr/>
        </p:nvSpPr>
        <p:spPr>
          <a:xfrm rot="0">
            <a:off x="10544175" y="3743325"/>
            <a:ext cx="323850" cy="533400"/>
          </a:xfrm>
          <a:prstGeom prst="rect">
            <a:avLst/>
          </a:prstGeom>
        </p:spPr>
        <p:txBody>
          <a:bodyPr anchor="t" rtlCol="false" tIns="0" lIns="0" bIns="0" rIns="0">
            <a:spAutoFit/>
          </a:bodyPr>
          <a:lstStyle/>
          <a:p>
            <a:pPr algn="l">
              <a:lnSpc>
                <a:spcPts val="3240"/>
              </a:lnSpc>
            </a:pPr>
            <a:r>
              <a:rPr lang="en-US" sz="2700" b="true">
                <a:solidFill>
                  <a:srgbClr val="56DBD6"/>
                </a:solidFill>
                <a:latin typeface="Calibri (MS) Bold"/>
                <a:ea typeface="Calibri (MS) Bold"/>
                <a:cs typeface="Calibri (MS) Bold"/>
                <a:sym typeface="Calibri (MS) Bold"/>
              </a:rPr>
              <a:t>→</a:t>
            </a:r>
          </a:p>
        </p:txBody>
      </p:sp>
      <p:grpSp>
        <p:nvGrpSpPr>
          <p:cNvPr name="Group 25" id="25"/>
          <p:cNvGrpSpPr/>
          <p:nvPr/>
        </p:nvGrpSpPr>
        <p:grpSpPr>
          <a:xfrm rot="0">
            <a:off x="10853738" y="3376612"/>
            <a:ext cx="2943225" cy="1438275"/>
            <a:chOff x="0" y="0"/>
            <a:chExt cx="3924300" cy="1917700"/>
          </a:xfrm>
        </p:grpSpPr>
        <p:sp>
          <p:nvSpPr>
            <p:cNvPr name="Freeform 26" id="26"/>
            <p:cNvSpPr/>
            <p:nvPr/>
          </p:nvSpPr>
          <p:spPr>
            <a:xfrm flipH="false" flipV="false" rot="0">
              <a:off x="0" y="0"/>
              <a:ext cx="3924300" cy="1917700"/>
            </a:xfrm>
            <a:custGeom>
              <a:avLst/>
              <a:gdLst/>
              <a:ahLst/>
              <a:cxnLst/>
              <a:rect r="r" b="b" t="t" l="l"/>
              <a:pathLst>
                <a:path h="1917700" w="3924300">
                  <a:moveTo>
                    <a:pt x="0" y="153416"/>
                  </a:moveTo>
                  <a:cubicBezTo>
                    <a:pt x="0" y="68707"/>
                    <a:pt x="68707" y="0"/>
                    <a:pt x="153416" y="0"/>
                  </a:cubicBezTo>
                  <a:lnTo>
                    <a:pt x="3770884" y="0"/>
                  </a:lnTo>
                  <a:cubicBezTo>
                    <a:pt x="3855593" y="0"/>
                    <a:pt x="3924300" y="68707"/>
                    <a:pt x="3924300" y="153416"/>
                  </a:cubicBezTo>
                  <a:lnTo>
                    <a:pt x="3924300" y="1764284"/>
                  </a:lnTo>
                  <a:cubicBezTo>
                    <a:pt x="3924300" y="1848993"/>
                    <a:pt x="3855593" y="1917700"/>
                    <a:pt x="3770884" y="1917700"/>
                  </a:cubicBezTo>
                  <a:lnTo>
                    <a:pt x="153416" y="1917700"/>
                  </a:lnTo>
                  <a:cubicBezTo>
                    <a:pt x="68707" y="1917700"/>
                    <a:pt x="0" y="1848993"/>
                    <a:pt x="0" y="1764284"/>
                  </a:cubicBezTo>
                  <a:close/>
                </a:path>
              </a:pathLst>
            </a:custGeom>
            <a:solidFill>
              <a:srgbClr val="132B3B"/>
            </a:solidFill>
            <a:ln w="9525" cap="sq">
              <a:solidFill>
                <a:srgbClr val="294757"/>
              </a:solidFill>
              <a:prstDash val="solid"/>
              <a:miter/>
            </a:ln>
          </p:spPr>
        </p:sp>
      </p:grpSp>
      <p:sp>
        <p:nvSpPr>
          <p:cNvPr name="TextBox 27" id="27"/>
          <p:cNvSpPr txBox="true"/>
          <p:nvPr/>
        </p:nvSpPr>
        <p:spPr>
          <a:xfrm rot="0">
            <a:off x="11049000" y="3552825"/>
            <a:ext cx="2571750" cy="476250"/>
          </a:xfrm>
          <a:prstGeom prst="rect">
            <a:avLst/>
          </a:prstGeom>
        </p:spPr>
        <p:txBody>
          <a:bodyPr anchor="t" rtlCol="false" tIns="0" lIns="0" bIns="0" rIns="0">
            <a:spAutoFit/>
          </a:bodyPr>
          <a:lstStyle/>
          <a:p>
            <a:pPr algn="l">
              <a:lnSpc>
                <a:spcPts val="2790"/>
              </a:lnSpc>
            </a:pPr>
            <a:r>
              <a:rPr lang="en-US" sz="2325" b="true">
                <a:solidFill>
                  <a:srgbClr val="56DBD6"/>
                </a:solidFill>
                <a:latin typeface="Calibri (MS) Bold"/>
                <a:ea typeface="Calibri (MS) Bold"/>
                <a:cs typeface="Calibri (MS) Bold"/>
                <a:sym typeface="Calibri (MS) Bold"/>
              </a:rPr>
              <a:t>Bodega</a:t>
            </a:r>
          </a:p>
        </p:txBody>
      </p:sp>
      <p:sp>
        <p:nvSpPr>
          <p:cNvPr name="TextBox 28" id="28"/>
          <p:cNvSpPr txBox="true"/>
          <p:nvPr/>
        </p:nvSpPr>
        <p:spPr>
          <a:xfrm rot="0">
            <a:off x="11049000" y="4105275"/>
            <a:ext cx="2571750" cy="476250"/>
          </a:xfrm>
          <a:prstGeom prst="rect">
            <a:avLst/>
          </a:prstGeom>
        </p:spPr>
        <p:txBody>
          <a:bodyPr anchor="t" rtlCol="false" tIns="0" lIns="0" bIns="0" rIns="0">
            <a:spAutoFit/>
          </a:bodyPr>
          <a:lstStyle/>
          <a:p>
            <a:pPr algn="l">
              <a:lnSpc>
                <a:spcPts val="2520"/>
              </a:lnSpc>
            </a:pPr>
            <a:r>
              <a:rPr lang="en-US" sz="2100">
                <a:solidFill>
                  <a:srgbClr val="DFE9F0"/>
                </a:solidFill>
                <a:latin typeface="Calibri (MS)"/>
                <a:ea typeface="Calibri (MS)"/>
                <a:cs typeface="Calibri (MS)"/>
                <a:sym typeface="Calibri (MS)"/>
              </a:rPr>
              <a:t>Recepción</a:t>
            </a:r>
          </a:p>
        </p:txBody>
      </p:sp>
      <p:sp>
        <p:nvSpPr>
          <p:cNvPr name="TextBox 29" id="29"/>
          <p:cNvSpPr txBox="true"/>
          <p:nvPr/>
        </p:nvSpPr>
        <p:spPr>
          <a:xfrm rot="0">
            <a:off x="13858875" y="3743325"/>
            <a:ext cx="323850" cy="533400"/>
          </a:xfrm>
          <a:prstGeom prst="rect">
            <a:avLst/>
          </a:prstGeom>
        </p:spPr>
        <p:txBody>
          <a:bodyPr anchor="t" rtlCol="false" tIns="0" lIns="0" bIns="0" rIns="0">
            <a:spAutoFit/>
          </a:bodyPr>
          <a:lstStyle/>
          <a:p>
            <a:pPr algn="l">
              <a:lnSpc>
                <a:spcPts val="3240"/>
              </a:lnSpc>
            </a:pPr>
            <a:r>
              <a:rPr lang="en-US" sz="2700" b="true">
                <a:solidFill>
                  <a:srgbClr val="56DBD6"/>
                </a:solidFill>
                <a:latin typeface="Calibri (MS) Bold"/>
                <a:ea typeface="Calibri (MS) Bold"/>
                <a:cs typeface="Calibri (MS) Bold"/>
                <a:sym typeface="Calibri (MS) Bold"/>
              </a:rPr>
              <a:t>→</a:t>
            </a:r>
          </a:p>
        </p:txBody>
      </p:sp>
      <p:grpSp>
        <p:nvGrpSpPr>
          <p:cNvPr name="Group 30" id="30"/>
          <p:cNvGrpSpPr/>
          <p:nvPr/>
        </p:nvGrpSpPr>
        <p:grpSpPr>
          <a:xfrm rot="0">
            <a:off x="14168438" y="3376612"/>
            <a:ext cx="2943225" cy="1438275"/>
            <a:chOff x="0" y="0"/>
            <a:chExt cx="3924300" cy="1917700"/>
          </a:xfrm>
        </p:grpSpPr>
        <p:sp>
          <p:nvSpPr>
            <p:cNvPr name="Freeform 31" id="31"/>
            <p:cNvSpPr/>
            <p:nvPr/>
          </p:nvSpPr>
          <p:spPr>
            <a:xfrm flipH="false" flipV="false" rot="0">
              <a:off x="0" y="0"/>
              <a:ext cx="3924300" cy="1917700"/>
            </a:xfrm>
            <a:custGeom>
              <a:avLst/>
              <a:gdLst/>
              <a:ahLst/>
              <a:cxnLst/>
              <a:rect r="r" b="b" t="t" l="l"/>
              <a:pathLst>
                <a:path h="1917700" w="3924300">
                  <a:moveTo>
                    <a:pt x="0" y="153416"/>
                  </a:moveTo>
                  <a:cubicBezTo>
                    <a:pt x="0" y="68707"/>
                    <a:pt x="68707" y="0"/>
                    <a:pt x="153416" y="0"/>
                  </a:cubicBezTo>
                  <a:lnTo>
                    <a:pt x="3770884" y="0"/>
                  </a:lnTo>
                  <a:cubicBezTo>
                    <a:pt x="3855593" y="0"/>
                    <a:pt x="3924300" y="68707"/>
                    <a:pt x="3924300" y="153416"/>
                  </a:cubicBezTo>
                  <a:lnTo>
                    <a:pt x="3924300" y="1764284"/>
                  </a:lnTo>
                  <a:cubicBezTo>
                    <a:pt x="3924300" y="1848993"/>
                    <a:pt x="3855593" y="1917700"/>
                    <a:pt x="3770884" y="1917700"/>
                  </a:cubicBezTo>
                  <a:lnTo>
                    <a:pt x="153416" y="1917700"/>
                  </a:lnTo>
                  <a:cubicBezTo>
                    <a:pt x="68707" y="1917700"/>
                    <a:pt x="0" y="1848993"/>
                    <a:pt x="0" y="1764284"/>
                  </a:cubicBezTo>
                  <a:close/>
                </a:path>
              </a:pathLst>
            </a:custGeom>
            <a:solidFill>
              <a:srgbClr val="132B3B"/>
            </a:solidFill>
            <a:ln w="9525" cap="sq">
              <a:solidFill>
                <a:srgbClr val="294757"/>
              </a:solidFill>
              <a:prstDash val="solid"/>
              <a:miter/>
            </a:ln>
          </p:spPr>
        </p:sp>
      </p:grpSp>
      <p:sp>
        <p:nvSpPr>
          <p:cNvPr name="TextBox 32" id="32"/>
          <p:cNvSpPr txBox="true"/>
          <p:nvPr/>
        </p:nvSpPr>
        <p:spPr>
          <a:xfrm rot="0">
            <a:off x="14363700" y="3552825"/>
            <a:ext cx="2571750" cy="476250"/>
          </a:xfrm>
          <a:prstGeom prst="rect">
            <a:avLst/>
          </a:prstGeom>
        </p:spPr>
        <p:txBody>
          <a:bodyPr anchor="t" rtlCol="false" tIns="0" lIns="0" bIns="0" rIns="0">
            <a:spAutoFit/>
          </a:bodyPr>
          <a:lstStyle/>
          <a:p>
            <a:pPr algn="l">
              <a:lnSpc>
                <a:spcPts val="2790"/>
              </a:lnSpc>
            </a:pPr>
            <a:r>
              <a:rPr lang="en-US" sz="2325" b="true">
                <a:solidFill>
                  <a:srgbClr val="56DBD6"/>
                </a:solidFill>
                <a:latin typeface="Calibri (MS) Bold"/>
                <a:ea typeface="Calibri (MS) Bold"/>
                <a:cs typeface="Calibri (MS) Bold"/>
                <a:sym typeface="Calibri (MS) Bold"/>
              </a:rPr>
              <a:t>QA</a:t>
            </a:r>
          </a:p>
        </p:txBody>
      </p:sp>
      <p:sp>
        <p:nvSpPr>
          <p:cNvPr name="TextBox 33" id="33"/>
          <p:cNvSpPr txBox="true"/>
          <p:nvPr/>
        </p:nvSpPr>
        <p:spPr>
          <a:xfrm rot="0">
            <a:off x="14363700" y="4105275"/>
            <a:ext cx="2571750" cy="476250"/>
          </a:xfrm>
          <a:prstGeom prst="rect">
            <a:avLst/>
          </a:prstGeom>
        </p:spPr>
        <p:txBody>
          <a:bodyPr anchor="t" rtlCol="false" tIns="0" lIns="0" bIns="0" rIns="0">
            <a:spAutoFit/>
          </a:bodyPr>
          <a:lstStyle/>
          <a:p>
            <a:pPr algn="l">
              <a:lnSpc>
                <a:spcPts val="2520"/>
              </a:lnSpc>
            </a:pPr>
            <a:r>
              <a:rPr lang="en-US" sz="2100">
                <a:solidFill>
                  <a:srgbClr val="DFE9F0"/>
                </a:solidFill>
                <a:latin typeface="Calibri (MS)"/>
                <a:ea typeface="Calibri (MS)"/>
                <a:cs typeface="Calibri (MS)"/>
                <a:sym typeface="Calibri (MS)"/>
              </a:rPr>
              <a:t>Dictamen</a:t>
            </a:r>
          </a:p>
        </p:txBody>
      </p:sp>
      <p:sp>
        <p:nvSpPr>
          <p:cNvPr name="TextBox 34" id="34"/>
          <p:cNvSpPr txBox="true"/>
          <p:nvPr/>
        </p:nvSpPr>
        <p:spPr>
          <a:xfrm rot="0">
            <a:off x="914400" y="5191125"/>
            <a:ext cx="16192500" cy="571500"/>
          </a:xfrm>
          <a:prstGeom prst="rect">
            <a:avLst/>
          </a:prstGeom>
        </p:spPr>
        <p:txBody>
          <a:bodyPr anchor="t" rtlCol="false" tIns="0" lIns="0" bIns="0" rIns="0">
            <a:spAutoFit/>
          </a:bodyPr>
          <a:lstStyle/>
          <a:p>
            <a:pPr algn="l">
              <a:lnSpc>
                <a:spcPts val="3060"/>
              </a:lnSpc>
            </a:pPr>
            <a:r>
              <a:rPr lang="en-US" sz="2550" b="true">
                <a:solidFill>
                  <a:srgbClr val="DFE9F0"/>
                </a:solidFill>
                <a:latin typeface="Calibri (MS) Bold"/>
                <a:ea typeface="Calibri (MS) Bold"/>
                <a:cs typeface="Calibri (MS) Bold"/>
                <a:sym typeface="Calibri (MS) Bold"/>
              </a:rPr>
              <a:t>El dictamen de QA determina la siguiente etapa</a:t>
            </a:r>
          </a:p>
        </p:txBody>
      </p:sp>
      <p:grpSp>
        <p:nvGrpSpPr>
          <p:cNvPr name="Group 35" id="35"/>
          <p:cNvGrpSpPr/>
          <p:nvPr/>
        </p:nvGrpSpPr>
        <p:grpSpPr>
          <a:xfrm rot="0">
            <a:off x="909638" y="6043612"/>
            <a:ext cx="8010525" cy="2247900"/>
            <a:chOff x="0" y="0"/>
            <a:chExt cx="10680700" cy="2997200"/>
          </a:xfrm>
        </p:grpSpPr>
        <p:sp>
          <p:nvSpPr>
            <p:cNvPr name="Freeform 36" id="36"/>
            <p:cNvSpPr/>
            <p:nvPr/>
          </p:nvSpPr>
          <p:spPr>
            <a:xfrm flipH="false" flipV="false" rot="0">
              <a:off x="0" y="0"/>
              <a:ext cx="10680700" cy="2997200"/>
            </a:xfrm>
            <a:custGeom>
              <a:avLst/>
              <a:gdLst/>
              <a:ahLst/>
              <a:cxnLst/>
              <a:rect r="r" b="b" t="t" l="l"/>
              <a:pathLst>
                <a:path h="2997200" w="10680700">
                  <a:moveTo>
                    <a:pt x="0" y="153035"/>
                  </a:moveTo>
                  <a:cubicBezTo>
                    <a:pt x="0" y="68580"/>
                    <a:pt x="68580" y="0"/>
                    <a:pt x="153035" y="0"/>
                  </a:cubicBezTo>
                  <a:lnTo>
                    <a:pt x="10527665" y="0"/>
                  </a:lnTo>
                  <a:cubicBezTo>
                    <a:pt x="10612120" y="0"/>
                    <a:pt x="10680700" y="68580"/>
                    <a:pt x="10680700" y="153035"/>
                  </a:cubicBezTo>
                  <a:lnTo>
                    <a:pt x="10680700" y="2844165"/>
                  </a:lnTo>
                  <a:cubicBezTo>
                    <a:pt x="10680700" y="2928747"/>
                    <a:pt x="10612120" y="2997200"/>
                    <a:pt x="10527665" y="2997200"/>
                  </a:cubicBezTo>
                  <a:lnTo>
                    <a:pt x="153035" y="2997200"/>
                  </a:lnTo>
                  <a:cubicBezTo>
                    <a:pt x="68580" y="2997200"/>
                    <a:pt x="0" y="2928620"/>
                    <a:pt x="0" y="2844165"/>
                  </a:cubicBezTo>
                  <a:close/>
                </a:path>
              </a:pathLst>
            </a:custGeom>
            <a:solidFill>
              <a:srgbClr val="132B3B"/>
            </a:solidFill>
            <a:ln w="9525" cap="sq">
              <a:solidFill>
                <a:srgbClr val="294757"/>
              </a:solidFill>
              <a:prstDash val="solid"/>
              <a:miter/>
            </a:ln>
          </p:spPr>
        </p:sp>
      </p:grpSp>
      <p:sp>
        <p:nvSpPr>
          <p:cNvPr name="TextBox 37" id="37"/>
          <p:cNvSpPr txBox="true"/>
          <p:nvPr/>
        </p:nvSpPr>
        <p:spPr>
          <a:xfrm rot="0">
            <a:off x="1200150" y="6238875"/>
            <a:ext cx="7334250" cy="476250"/>
          </a:xfrm>
          <a:prstGeom prst="rect">
            <a:avLst/>
          </a:prstGeom>
        </p:spPr>
        <p:txBody>
          <a:bodyPr anchor="t" rtlCol="false" tIns="0" lIns="0" bIns="0" rIns="0">
            <a:spAutoFit/>
          </a:bodyPr>
          <a:lstStyle/>
          <a:p>
            <a:pPr algn="l">
              <a:lnSpc>
                <a:spcPts val="3060"/>
              </a:lnSpc>
            </a:pPr>
            <a:r>
              <a:rPr lang="en-US" sz="2550" b="true">
                <a:solidFill>
                  <a:srgbClr val="56DBD6"/>
                </a:solidFill>
                <a:latin typeface="Calibri (MS) Bold"/>
                <a:ea typeface="Calibri (MS) Bold"/>
                <a:cs typeface="Calibri (MS) Bold"/>
                <a:sym typeface="Calibri (MS) Bold"/>
              </a:rPr>
              <a:t>QA aprobado</a:t>
            </a:r>
          </a:p>
        </p:txBody>
      </p:sp>
      <p:sp>
        <p:nvSpPr>
          <p:cNvPr name="TextBox 38" id="38"/>
          <p:cNvSpPr txBox="true"/>
          <p:nvPr/>
        </p:nvSpPr>
        <p:spPr>
          <a:xfrm rot="0">
            <a:off x="1200150" y="6886575"/>
            <a:ext cx="7334250" cy="990600"/>
          </a:xfrm>
          <a:prstGeom prst="rect">
            <a:avLst/>
          </a:prstGeom>
        </p:spPr>
        <p:txBody>
          <a:bodyPr anchor="t" rtlCol="false" tIns="0" lIns="0" bIns="0" rIns="0">
            <a:spAutoFit/>
          </a:bodyPr>
          <a:lstStyle/>
          <a:p>
            <a:pPr algn="l">
              <a:lnSpc>
                <a:spcPts val="2879"/>
              </a:lnSpc>
            </a:pPr>
            <a:r>
              <a:rPr lang="en-US" sz="2400">
                <a:solidFill>
                  <a:srgbClr val="DFE9F0"/>
                </a:solidFill>
                <a:latin typeface="Calibri (MS)"/>
                <a:ea typeface="Calibri (MS)"/>
                <a:cs typeface="Calibri (MS)"/>
                <a:sym typeface="Calibri (MS)"/>
              </a:rPr>
              <a:t>Bodega: recepción física</a:t>
            </a:r>
          </a:p>
          <a:p>
            <a:pPr algn="l">
              <a:lnSpc>
                <a:spcPts val="2879"/>
              </a:lnSpc>
            </a:pPr>
            <a:r>
              <a:rPr lang="en-US" sz="2400">
                <a:solidFill>
                  <a:srgbClr val="DFE9F0"/>
                </a:solidFill>
                <a:latin typeface="Calibri (MS)"/>
                <a:ea typeface="Calibri (MS)"/>
                <a:cs typeface="Calibri (MS)"/>
                <a:sym typeface="Calibri (MS)"/>
              </a:rPr>
              <a:t>Terreno: instalación</a:t>
            </a:r>
          </a:p>
        </p:txBody>
      </p:sp>
      <p:grpSp>
        <p:nvGrpSpPr>
          <p:cNvPr name="Group 39" id="39"/>
          <p:cNvGrpSpPr/>
          <p:nvPr/>
        </p:nvGrpSpPr>
        <p:grpSpPr>
          <a:xfrm rot="0">
            <a:off x="9386888" y="6043612"/>
            <a:ext cx="8010525" cy="2247900"/>
            <a:chOff x="0" y="0"/>
            <a:chExt cx="10680700" cy="2997200"/>
          </a:xfrm>
        </p:grpSpPr>
        <p:sp>
          <p:nvSpPr>
            <p:cNvPr name="Freeform 40" id="40"/>
            <p:cNvSpPr/>
            <p:nvPr/>
          </p:nvSpPr>
          <p:spPr>
            <a:xfrm flipH="false" flipV="false" rot="0">
              <a:off x="0" y="0"/>
              <a:ext cx="10680700" cy="2997200"/>
            </a:xfrm>
            <a:custGeom>
              <a:avLst/>
              <a:gdLst/>
              <a:ahLst/>
              <a:cxnLst/>
              <a:rect r="r" b="b" t="t" l="l"/>
              <a:pathLst>
                <a:path h="2997200" w="10680700">
                  <a:moveTo>
                    <a:pt x="0" y="153035"/>
                  </a:moveTo>
                  <a:cubicBezTo>
                    <a:pt x="0" y="68580"/>
                    <a:pt x="68580" y="0"/>
                    <a:pt x="153035" y="0"/>
                  </a:cubicBezTo>
                  <a:lnTo>
                    <a:pt x="10527665" y="0"/>
                  </a:lnTo>
                  <a:cubicBezTo>
                    <a:pt x="10612120" y="0"/>
                    <a:pt x="10680700" y="68580"/>
                    <a:pt x="10680700" y="153035"/>
                  </a:cubicBezTo>
                  <a:lnTo>
                    <a:pt x="10680700" y="2844165"/>
                  </a:lnTo>
                  <a:cubicBezTo>
                    <a:pt x="10680700" y="2928747"/>
                    <a:pt x="10612120" y="2997200"/>
                    <a:pt x="10527665" y="2997200"/>
                  </a:cubicBezTo>
                  <a:lnTo>
                    <a:pt x="153035" y="2997200"/>
                  </a:lnTo>
                  <a:cubicBezTo>
                    <a:pt x="68580" y="2997200"/>
                    <a:pt x="0" y="2928620"/>
                    <a:pt x="0" y="2844165"/>
                  </a:cubicBezTo>
                  <a:close/>
                </a:path>
              </a:pathLst>
            </a:custGeom>
            <a:solidFill>
              <a:srgbClr val="132B3B"/>
            </a:solidFill>
            <a:ln w="9525" cap="sq">
              <a:solidFill>
                <a:srgbClr val="294757"/>
              </a:solidFill>
              <a:prstDash val="solid"/>
              <a:miter/>
            </a:ln>
          </p:spPr>
        </p:sp>
      </p:grpSp>
      <p:sp>
        <p:nvSpPr>
          <p:cNvPr name="TextBox 41" id="41"/>
          <p:cNvSpPr txBox="true"/>
          <p:nvPr/>
        </p:nvSpPr>
        <p:spPr>
          <a:xfrm rot="0">
            <a:off x="9677400" y="6238875"/>
            <a:ext cx="7334250" cy="476250"/>
          </a:xfrm>
          <a:prstGeom prst="rect">
            <a:avLst/>
          </a:prstGeom>
        </p:spPr>
        <p:txBody>
          <a:bodyPr anchor="t" rtlCol="false" tIns="0" lIns="0" bIns="0" rIns="0">
            <a:spAutoFit/>
          </a:bodyPr>
          <a:lstStyle/>
          <a:p>
            <a:pPr algn="l">
              <a:lnSpc>
                <a:spcPts val="3060"/>
              </a:lnSpc>
            </a:pPr>
            <a:r>
              <a:rPr lang="en-US" sz="2550" b="true">
                <a:solidFill>
                  <a:srgbClr val="56DBD6"/>
                </a:solidFill>
                <a:latin typeface="Calibri (MS) Bold"/>
                <a:ea typeface="Calibri (MS) Bold"/>
                <a:cs typeface="Calibri (MS) Bold"/>
                <a:sym typeface="Calibri (MS) Bold"/>
              </a:rPr>
              <a:t>QA rechazado</a:t>
            </a:r>
          </a:p>
        </p:txBody>
      </p:sp>
      <p:sp>
        <p:nvSpPr>
          <p:cNvPr name="TextBox 42" id="42"/>
          <p:cNvSpPr txBox="true"/>
          <p:nvPr/>
        </p:nvSpPr>
        <p:spPr>
          <a:xfrm rot="0">
            <a:off x="9677400" y="6886575"/>
            <a:ext cx="7334250" cy="990600"/>
          </a:xfrm>
          <a:prstGeom prst="rect">
            <a:avLst/>
          </a:prstGeom>
        </p:spPr>
        <p:txBody>
          <a:bodyPr anchor="t" rtlCol="false" tIns="0" lIns="0" bIns="0" rIns="0">
            <a:spAutoFit/>
          </a:bodyPr>
          <a:lstStyle/>
          <a:p>
            <a:pPr algn="l">
              <a:lnSpc>
                <a:spcPts val="2879"/>
              </a:lnSpc>
            </a:pPr>
            <a:r>
              <a:rPr lang="en-US" sz="2400">
                <a:solidFill>
                  <a:srgbClr val="DFE9F0"/>
                </a:solidFill>
                <a:latin typeface="Calibri (MS)"/>
                <a:ea typeface="Calibri (MS)"/>
                <a:cs typeface="Calibri (MS)"/>
                <a:sym typeface="Calibri (MS)"/>
              </a:rPr>
              <a:t>Bodega: retorno del equipo</a:t>
            </a:r>
          </a:p>
          <a:p>
            <a:pPr algn="l">
              <a:lnSpc>
                <a:spcPts val="2879"/>
              </a:lnSpc>
            </a:pPr>
            <a:r>
              <a:rPr lang="en-US" sz="2400">
                <a:solidFill>
                  <a:srgbClr val="DFE9F0"/>
                </a:solidFill>
                <a:latin typeface="Calibri (MS)"/>
                <a:ea typeface="Calibri (MS)"/>
                <a:cs typeface="Calibri (MS)"/>
                <a:sym typeface="Calibri (MS)"/>
              </a:rPr>
              <a:t>Laboratorio: nueva recepción y reparación</a:t>
            </a:r>
          </a:p>
        </p:txBody>
      </p:sp>
      <p:grpSp>
        <p:nvGrpSpPr>
          <p:cNvPr name="Group 43" id="43"/>
          <p:cNvGrpSpPr/>
          <p:nvPr/>
        </p:nvGrpSpPr>
        <p:grpSpPr>
          <a:xfrm rot="0">
            <a:off x="15270480" y="182880"/>
            <a:ext cx="2103120" cy="583311"/>
            <a:chOff x="0" y="0"/>
            <a:chExt cx="2804160" cy="777748"/>
          </a:xfrm>
        </p:grpSpPr>
        <p:sp>
          <p:nvSpPr>
            <p:cNvPr name="Freeform 44" id="44"/>
            <p:cNvSpPr/>
            <p:nvPr/>
          </p:nvSpPr>
          <p:spPr>
            <a:xfrm flipH="false" flipV="false" rot="0">
              <a:off x="0" y="0"/>
              <a:ext cx="2804160" cy="777748"/>
            </a:xfrm>
            <a:custGeom>
              <a:avLst/>
              <a:gdLst/>
              <a:ahLst/>
              <a:cxnLst/>
              <a:rect r="r" b="b" t="t" l="l"/>
              <a:pathLst>
                <a:path h="777748" w="2804160">
                  <a:moveTo>
                    <a:pt x="0" y="0"/>
                  </a:moveTo>
                  <a:lnTo>
                    <a:pt x="2804160" y="0"/>
                  </a:lnTo>
                  <a:lnTo>
                    <a:pt x="2804160" y="777748"/>
                  </a:lnTo>
                  <a:lnTo>
                    <a:pt x="0" y="777748"/>
                  </a:lnTo>
                  <a:lnTo>
                    <a:pt x="0" y="0"/>
                  </a:lnTo>
                  <a:close/>
                </a:path>
              </a:pathLst>
            </a:custGeom>
            <a:blipFill>
              <a:blip r:embed="rId4"/>
              <a:stretch>
                <a:fillRect l="0" t="-581" r="0" b="-579"/>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DAHYafPY9vg</dc:identifier>
  <dcterms:modified xsi:type="dcterms:W3CDTF">2011-08-01T06:04:30Z</dcterms:modified>
  <cp:revision>1</cp:revision>
  <dc:title>PMP_Suite_Fase_2</dc:title>
</cp:coreProperties>
</file>